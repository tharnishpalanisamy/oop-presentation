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 Before jumping to syntax, motivate the problem: as related data (name, age, department) multiplies across many students, plain variables become unmanageable.
- Point at the three loose "cards" on the left — this is what code looks like without any grouping. Every student needs three separate variables, and nothing ties them together.
INTUITION:
- OOP's core idea is bundling STATE (data) and BEHAVIOR (functions that act on that data) into a single unit called an object.
VERBAL EXAMPLE:
- "Imagine tracking 50 students with separate variables like student1_name, student1_age... that's 150 variables with no relationship between them. A class lets us say: give me a Student, and it already knows how to hold a name, age, and department together."
TRANSITION:
- "So what exactly is this structure that groups state and behavior? That's a class — let's define it."
POSSIBLE QUESTIONS:
- "Couldn't we just use a dictionary or a list of tuples?" — Yes, but a class also attaches behavior (methods), not just data, and gives a named, reusable blueprint.
- "Is this specific to Python?" — No, this is a general OOP concept; Python's syntax for it is what we'll see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 Define a class formally: it's a blueprint that specifies what attributes and methods its objects will have — it does not itself hold student data.
- Walk through the code: "class Student:" declares a new type named Student; "pass" is a no-op placeholder meaning "no body yet."
INTUITION:
- A class is a template. No object exists yet just because the class exists.
CODE WALKTHROUGH:
- Line 1: class keyword + class name (PascalCase by convention) + colon.
- Line 2: pass — Python requires an indented block after ':', so pass is used when there's nothing to put yet.
VERBAL EXAMPLE:
- "Right now, Student is just a definition — like a form template with blank fields. Nobody's filled it in yet. That happens when we create an object, next."
IMPORTANT DETAIL (mention if asked, don't dwell):
- In Python, a class is itself an object — of type 'type'. You can print(type(Student)) and see &lt;class 'type'&gt;. This shows Python treats almost everything, including classes, uniformly as objects. Don't over-explain this — it's a side note for the curious.
TRANSITION:
- "A blueprint alone doesn't build a house. Let's actually construct one — that's an object."
POSSIBLE QUESTIONS:
- "Why 'pass' instead of leaving it empty?" — Python enforces indentation for blocks; an empty block is a syntax error.
- "Is 'class' a special Python-only keyword?" — Yes, it's a reserved keyword that starts a class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 An object (a.k.a. "instance") is a concrete thing created from a class. The class is the plan; the object is the built result.
- Calling Student() invokes the class like a function, which triggers object creation and returns a new instance.
INTUITION:
- One blueprint, many independent houses. Each house built from the same blueprint is still a separate physical building.
CODE WALKTHROUGH:
- student1 = Student() — creates a new, empty Student object and binds it to the name student1.
- student2 = Student() — creates a second, completely separate Student object.
VERBAL EXAMPLE:
- "If I change something on student1 later, student2 is untouched — they're two different houses built from the same blueprint, not the same house with two names."
KEY POINT TO SAY OUT LOUD:
- student1 is not student2 — you can verify this with student1 is student2, which evaluates to False, and id(student1) != id(student2).
TRANSITION:
- "Right now both objects are empty — they don't hold any data yet. Let's give them their own state."
POSSIBLE QUESTIONS:
- "Do student1 and student2 share memory?" — No, each is a distinct object with its own memory address, even though the class code is shared.
- "What if I did student2 = student1?" — Then both names would point to the SAME object, not two separate ones — an important but separate topic (aliasing).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 Instance attributes are variables attached to a specific object using dot notation (object.attribute = value). They represent that object's individual state.
- Distinguish three related terms clearly: the OBJECT (student1), the ATTRIBUTE (name), and the VALUE (the actual data, "Arun").
INTUITION:
- Two objects from the same class can hold completely different data — the class only defines that a "name" and "age" slot can exist, not what they contain.
CODE WALKTHROUGH:
- student1.name = "Arun" — creates/sets an attribute called name directly on the student1 object.
- student2.name = "Rahul" — sets a same-named attribute on a DIFFERENT object; the two do not clash or overwrite each other.
VERBAL EXAMPLE:
- "Think of student1 and student2 as two identical filing folders. Writing a name on one folder's label doesn't change the other folder's label."
TRANSITION:
- "Setting attributes manually after creation works, but it's repetitive and easy to forget. Python gives us a proper way to set initial state at creation time — the constructor."
POSSIBLE QUESTIONS:
- "What if I never set student1.age?" — Then accessing student1.age raises an AttributeError; the attribute simply doesn't exist until assigned.
- "Can attributes be added at any time, from anywhere?" — Yes, in plain Python, attributes can be added dynamically like this, though it's better practice to set them in __init__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 __init__() is a special method Python calls automatically right after an object is created, used to set up its initial state (instance attributes) in one place instead of assigning them line by line afterward.
- Walk the flow diagram: Student("Arun", 20) triggers object creation, then __init__ runs with self bound to that new object, and name/age get attached.
CODE WALKTHROUGH:
- def __init__(self, name, age): — a method definition; self is always first, followed by the data we want to pass in.
- self.name = name — takes the incoming parameter "name" and stores it as an attribute ON the object referred to by self.
- self.age = age — same idea for age.
- student1 = Student("Arun", 20) — this single line now creates the object AND sets its state, replacing multiple .attribute = value lines from the previous slide.
VERBAL EXAMPLE:
- "Instead of building an empty Student and then bolting on .name and .age afterward, __init__ lets us hand over the name and age right at construction time — like filling in a form as you create it, not after."
IMPORTANT TECHNICAL NOTE (say this precisely):
- Strictly speaking, __new__() is what creates the instance; __init__() only initializes it after creation. Everyday Python code almost always works with __init__() only — we'll look at __new__() properly in a later slide, so don't go deep here.
TRANSITION:
- "Notice self appearing everywhere inside the class. What exactly is self referring to? That deserves its own close look."
POSSIBLE QUESTIONS:
- "Do we have to name the parameters name and age exactly?" — No, those are just chosen parameter names; only self's position (first) and the ':'/indentation are required.
- "Is __init__ required in every class?" — No; without one, Python uses a default no-argument __init__ inherited from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(this is the most important slide — slow down here):
- self is the conventional name for a method's first parameter; it automatically refers to "the object the method was called on."
- self is NOT a reserved keyword — it's just a strong convention every Python developer follows. You could technically name it anything, but never do.
INTUITION:
- When you write student1.introduce(), Python internally treats it as Student.introduce(student1) — the object before the dot is silently passed in as the first argument, which we've named self.
CODE WALKTHROUGH / VERBAL EXAMPLE:
- Say out loud: "student1.introduce() is conceptually the same as Student.introduce(student1). Python passes student1 in automatically as self — we don't write it ourselves in the call."
- Then: "So inside the method, self IS student1. self.name means 'the name attribute on student1', specifically."
THE name vs self.name DISTINCTION (say this clearly):
- 'name' without self is just the local parameter passed into __init__ — it disappears once the method finishes.
- 'self.name' is the attribute permanently attached to the object — it's what lets student1.name still work later, long after __init__ has returned.
TRANSITION:
- "Now that we understand self is how an object refers to itself inside its own methods, let's write a full method that uses it — an instance method."
POSSIBLE QUESTIONS:
- "What happens if I forget self as the first parameter?" — Python will raise a TypeError, because the object is passed automatically and there is no parameter to receive it.
- "Can self be named something else?" — Technically yes, but it will confuse every other Python developer reading your code; 'self' is the universal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 An instance method is a function defined inside a class that always takes self first, and therefore can read or change that specific object's attributes.
- display_details prints self.name — whichever object called it. has_passed compares self.marks to a threshold and returns True/False.
CODE WALKTHROUGH:
- def display_details(self): print(self.name) — self gives access to the calling object's own name attribute.
- def has_passed(self): return self.marks &gt;= 40 — a boolean expression evaluated against THAT object's marks.
INTUITION:
- The method's code is written once, but self makes it apply correctly to whichever object it's called on.
VERBAL EXAMPLE:
- "student1.has_passed() checks student1's marks; student2.has_passed() checks student2's marks — same one line of code in the class, but self silently swaps which object's data gets used."
TRANSITION:
- "So far every attribute has belonged to one specific object. But some data should be shared across ALL objects of a class — that's a class attribute."
POSSIBLE QUESTIONS:
- "Can an instance method call another instance method on the same object?" — Yes, via self.other_method(), still passing self along implicitly.
- "What if marks isn't set on the object?" — has_passed() would raise an AttributeError, same as any missing instance attribute.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 Class attributes are defined directly inside the class body (not inside __init__) and are shared by every object of that class, rather than duplicated per object.
- Instance attributes (self.name) are set per object inside __init__ and differ from object to object; class attributes (college) are set once and shared.
CODE WALKTHROUGH:
- college = "PSG College" — written directly in the class body; this single value exists once, on the class itself.
- self.name = name — this still creates a per-object attribute, as before.
- Student.college = "ABC College" — reassigns the class attribute itself, affecting every object that does not have its own private "college" attribute.
INTUITION:
- Think of college as a notice board shared by the whole class, while name is written on each individual object's own nameplate.
VERBAL EXAMPLE:
- "If PSG College changes its name to ABC College, we update it once on the class — Student.college = 'ABC College' — and every student object automatically reflects the new name, because they were all reading from the same shared spot."
IMPORTANT NUANCE TO MENTION:
- If an object DOES set its own college attribute (e.g., self.college = "Other"), that object's own value takes priority — it no longer looks up the class attribute for that name. This is called shadowing; briefly mention it if time allows.
TRANSITION:
- "Since class attributes belong to the class, it makes sense that we'd want methods that operate on the CLASS itself, not just on individual objects. That's what class methods are for."
POSSIBLE QUESTIONS:
- "What happens if I do student1.college = 'XYZ'?" — That creates a NEW instance attribute on student1 only; it does not change Student.college for other objects.
- "Is Student.college the same as self.college when no instance attribute exists?" — Yes, Python looks up the class attribute when no instance-level one is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 Class methods are marked with @classmethod and receive the class itself (conventionally named cls) as their first parameter, instead of an object (self).
- Use the side-by-side table to contrast: instance method → no decorator, self, works on one object; class method → @classmethod, cls, works on the class.
CODE WALKTHROUGH:
- @classmethod — a decorator that changes how the method is called; Python passes in the class automatically instead of an instance.
- def change_college(cls, new_name): — cls refers to the Student class itself; new_name is the new value we want to set.
- Student.change_college("ABC College") — called on the CLASS, not on an object, and updates the shared class attribute we saw on the previous slide.
INTUITION:
- If self answers "which object am I working with," cls answers "which class am I working with." Class methods exist for operations that logically belong to the whole class rather than to one instance.
VERBAL EXAMPLE:
- "Changing the college for the entire Student class is not really about any one student — it's a class-wide change. change_college() is written as a classmethod because its job is to update Student.college directly, using cls.college = new_name inside."
TRANSITION:
- "Class methods still receive something automatically — cls. What about operations that need neither self nor cls at all? That's where static methods come in."
POSSIBLE QUESTIONS:
- "Can I call a classmethod through an instance too, like student1.change_college(...)?" — Yes, Python still resolves cls to the class either way, but calling via the class name is clearer intent.
- "Is @classmethod the only way to write alternative constructors?" — It's a common use, but we won't go into alternative constructors in this session — the syntax and mechanics are what matter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 A static method is marked @staticmethod and takes no automatic first argument at all — not self, not cls. It behaves exactly like a plain function, just namespaced inside the class for organizational reasons.
- Use the three-row comparison to cement the full picture: instance method (self → object), class method (cls → class), static method (nothing → independent logic).
CODE WALKTHROUGH:
- @staticmethod — tells Python not to pass in self or cls automatically.
- def is_valid_age(age): return 16 &lt;= age &lt;= 60 — a straightforward validation check; it doesn't need to read or write any instance or class data.
- Student.is_valid_age(20) — called through the class (or an instance), but note no object or class reference is passed implicitly — "age" is the only real argument.
INTUITION:
- Ask: "does this logic need to know about a specific object (self) or the class as a whole (cls)?" If the answer is no to both, it's a strong candidate for @staticmethod — it's grouped with Student purely because it's conceptually related, e.g. validating a student's age.
VERBAL EXAMPLE:
- "is_valid_age doesn't care which student we're talking about, or even that a Student class exists at all — it's just a rule about age. We keep it inside Student because it's used specifically for validating student data, but it could just as easily be a free-standing function."
TRANSITION:
- "We've now covered how objects get their data — through __init__(). But there's a more fundamental question we've glossed over: what actually creates the object before __init__ even runs? That's __new__()."
POSSIBLE QUESTIONS:
- "Why not just write is_valid_age as a normal function outside the class?" — You could; @staticmethod is a style choice to keep tightly related utility logic namespaced under Student.is_valid_age(...) instead of a loose global function.
- "Can a static method access class attributes?" — Only by referring to the class by name explicitly (e.g., Student.college) — not automatically, since it has no cls.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 Object construction is actually a two-step process: __new__() runs first and is responsible for creating and returning a new (empty) instance; __init__() then runs on that instance to set up its initial attributes.
- Walk the printed output top to bottom — it proves the order: "__new__ called" appears before "__init__ called" every time.
CODE WALKTHROUGH:
- def __new__(cls, name): — takes cls (the class) as its first argument, similar to a classmethod, since no instance exists yet to pass as self.
- return super().__new__(cls) — delegates to the base 'object' class's __new__ to actually allocate the instance, then returns it.
- def __init__(self, name): — runs afterward, receiving the instance __new__ returned (now called self), and sets self.name = name.
INTUITION:
- __new__ answers "how do we get an object to exist at all?" __init__ answers "now that it exists, how do we set it up?" In everyday development we almost always only touch __init__ — __new__ has sensible defaults we rarely override.
VERBAL EXAMPLE:
- "It's like manufacturing a phone: __new__ is the factory assembling the physical device; __init__ is you setting it up afterward — logging in, restoring your contacts. The phone (instance) must physically exist before you can configure it."
IMPORTANT CORRECTION TO MAKE OUT LOUD:
- Avoid saying "__init__ creates the object" — technically it does not; it initializes an object that already exists. This is a precise distinction interviewers and reviewers often check for.
TRANSITION:
- "We've now covered every core building block — classes, objects, attributes, constructors, self, methods of all three kinds, and construction internals. Let's see how they all fit together in one mental model."
POSSIBLE QUESTIONS:
- "When would I ever override __new__ myself?" — Rare in everyday code; typical uses are singleton patterns or controlling immutable types — out of scope for this session, so just note it exists.
- "Does every class need to define __new__?" — No — if omitted, Python uses object.__new__ by default, which is why most code never mentions it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 This slide has no new syntax — its job is to show how everything fits together as one coherent mental model, using either Student or a BankAccount-style example if useful for variety.
- Trace the whole chain out loud: a class defines structure → creating it produces an object → the object carries state (instance attributes) and exposes behavior (instance methods) → class-level concerns (shared data, class-wide operations, unrelated utilities) are handled by class attributes, class methods, and static methods respectively → construction (__new__ then __init__) is what wires an object into existence with its initial state.
INTUITION:
- Treat this as your "one-slide summary" you could sketch on a whiteboard from memory: Class → Object → (State + Behavior); separately, Class Attribute / Class Method / Static Method sit at the class level; Constructor and self are the mechanics that connect the class to each new object.
VERBAL EXAMPLE:
- "If someone asks me to explain Python OOP basics in sixty seconds, this is the diagram I'd draw: a class producing objects, each object holding its own state and offering behavior through self, with __init__ setting that state up front, and classmethod/staticmethod as the two ways of writing class-related logic that isn't tied to one specific object."
TRANSITION:
- "Let's close with a quick recap of every term in one list, and then open it up for questions."
POSSIBLE QUESTIONS:
- "Which of these do we use most in everyday code?" — By far: classes, __init__, self, and instance methods. Class methods and static methods are used more occasionally, for specific shared or utility logic. __new__ is rarely touched directly.
- "What comes after this topic?" — Deliberately out of scope today: inheritance, polymorphism, encapsulation, and other OOP topics build on exactly this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 Walk through the recap grid briskly, term by term, treating it as a memory check rather than re-teaching: class, object, attributes, methods, __init__, self, cls, __new__.
- This is a good moment to pause and ask the room if anything from the eight terms feels shaky before opening to questions.
INTUITION:
- Each term maps to one clear question: CLASS = "what can this be?", OBJECT = "an actual instance", ATTRIBUTES = "what does it hold?", METHODS = "what can it do?", __init__ = "how is it set up?", self = "who am I?", cls = "which class am I?", __new__ = "how do I come to exist?"
VERBAL EXAMPLE:
- "If you can explain student1 = Student('Arun', 20) end-to-end — that __new__ creates the instance, __init__ runs with self bound to it and sets self.name — you've genuinely understood today's session."
TRANSITION / CLOSING:
- Invite questions directly: "What would you like me to go deeper on — self, class vs static methods, or the __new__/__init__ split?"
POSSIBLE QUESTIONS TO BE READY FOR:
- "Why didn't we cover inheritance today?" — It builds directly on these fundamentals and deserves its own dedicated session; today was scoped to construction and the self/cls/static distinction.
- "Where can I practice this?" — Point to the ten demo files (01 through 10) as hands-on practice material covering every concept in order.
- "What's the most common mistake beginners make?" — Forgetting self as the first parameter, or confusing a local parameter (name) with the instance attribute (self.name).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9692640" y="548640"/>
            <a:ext cx="45720" cy="45720"/>
          </a:xfrm>
          <a:prstGeom prst="ellipse">
            <a:avLst/>
          </a:prstGeom>
          <a:solidFill>
            <a:srgbClr val="30363D"/>
          </a:solidFill>
          <a:ln/>
        </p:spPr>
      </p:sp>
      <p:sp>
        <p:nvSpPr>
          <p:cNvPr id="3" name="Shape 1"/>
          <p:cNvSpPr/>
          <p:nvPr/>
        </p:nvSpPr>
        <p:spPr>
          <a:xfrm>
            <a:off x="9692640" y="841248"/>
            <a:ext cx="45720" cy="45720"/>
          </a:xfrm>
          <a:prstGeom prst="ellipse">
            <a:avLst/>
          </a:prstGeom>
          <a:solidFill>
            <a:srgbClr val="30363D"/>
          </a:solidFill>
          <a:ln/>
        </p:spPr>
      </p:sp>
      <p:sp>
        <p:nvSpPr>
          <p:cNvPr id="4" name="Shape 2"/>
          <p:cNvSpPr/>
          <p:nvPr/>
        </p:nvSpPr>
        <p:spPr>
          <a:xfrm>
            <a:off x="9692640" y="1133856"/>
            <a:ext cx="45720" cy="45720"/>
          </a:xfrm>
          <a:prstGeom prst="ellipse">
            <a:avLst/>
          </a:prstGeom>
          <a:solidFill>
            <a:srgbClr val="30363D"/>
          </a:solidFill>
          <a:ln/>
        </p:spPr>
      </p:sp>
      <p:sp>
        <p:nvSpPr>
          <p:cNvPr id="5" name="Shape 3"/>
          <p:cNvSpPr/>
          <p:nvPr/>
        </p:nvSpPr>
        <p:spPr>
          <a:xfrm>
            <a:off x="9985248" y="548640"/>
            <a:ext cx="45720" cy="45720"/>
          </a:xfrm>
          <a:prstGeom prst="ellipse">
            <a:avLst/>
          </a:prstGeom>
          <a:solidFill>
            <a:srgbClr val="30363D"/>
          </a:solidFill>
          <a:ln/>
        </p:spPr>
      </p:sp>
      <p:sp>
        <p:nvSpPr>
          <p:cNvPr id="6" name="Shape 4"/>
          <p:cNvSpPr/>
          <p:nvPr/>
        </p:nvSpPr>
        <p:spPr>
          <a:xfrm>
            <a:off x="9985248" y="841248"/>
            <a:ext cx="45720" cy="45720"/>
          </a:xfrm>
          <a:prstGeom prst="ellipse">
            <a:avLst/>
          </a:prstGeom>
          <a:solidFill>
            <a:srgbClr val="30363D"/>
          </a:solidFill>
          <a:ln/>
        </p:spPr>
      </p:sp>
      <p:sp>
        <p:nvSpPr>
          <p:cNvPr id="7" name="Shape 5"/>
          <p:cNvSpPr/>
          <p:nvPr/>
        </p:nvSpPr>
        <p:spPr>
          <a:xfrm>
            <a:off x="9985248" y="1133856"/>
            <a:ext cx="45720" cy="45720"/>
          </a:xfrm>
          <a:prstGeom prst="ellipse">
            <a:avLst/>
          </a:prstGeom>
          <a:solidFill>
            <a:srgbClr val="30363D"/>
          </a:solidFill>
          <a:ln/>
        </p:spPr>
      </p:sp>
      <p:sp>
        <p:nvSpPr>
          <p:cNvPr id="8" name="Shape 6"/>
          <p:cNvSpPr/>
          <p:nvPr/>
        </p:nvSpPr>
        <p:spPr>
          <a:xfrm>
            <a:off x="10277856" y="548640"/>
            <a:ext cx="45720" cy="45720"/>
          </a:xfrm>
          <a:prstGeom prst="ellipse">
            <a:avLst/>
          </a:prstGeom>
          <a:solidFill>
            <a:srgbClr val="30363D"/>
          </a:solidFill>
          <a:ln/>
        </p:spPr>
      </p:sp>
      <p:sp>
        <p:nvSpPr>
          <p:cNvPr id="9" name="Shape 7"/>
          <p:cNvSpPr/>
          <p:nvPr/>
        </p:nvSpPr>
        <p:spPr>
          <a:xfrm>
            <a:off x="10277856" y="841248"/>
            <a:ext cx="45720" cy="45720"/>
          </a:xfrm>
          <a:prstGeom prst="ellipse">
            <a:avLst/>
          </a:prstGeom>
          <a:solidFill>
            <a:srgbClr val="30363D"/>
          </a:solidFill>
          <a:ln/>
        </p:spPr>
      </p:sp>
      <p:sp>
        <p:nvSpPr>
          <p:cNvPr id="10" name="Shape 8"/>
          <p:cNvSpPr/>
          <p:nvPr/>
        </p:nvSpPr>
        <p:spPr>
          <a:xfrm>
            <a:off x="10277856" y="1133856"/>
            <a:ext cx="45720" cy="45720"/>
          </a:xfrm>
          <a:prstGeom prst="ellipse">
            <a:avLst/>
          </a:prstGeom>
          <a:solidFill>
            <a:srgbClr val="30363D"/>
          </a:solidFill>
          <a:ln/>
        </p:spPr>
      </p:sp>
      <p:sp>
        <p:nvSpPr>
          <p:cNvPr id="11" name="Shape 9"/>
          <p:cNvSpPr/>
          <p:nvPr/>
        </p:nvSpPr>
        <p:spPr>
          <a:xfrm>
            <a:off x="10570464" y="548640"/>
            <a:ext cx="45720" cy="45720"/>
          </a:xfrm>
          <a:prstGeom prst="ellipse">
            <a:avLst/>
          </a:prstGeom>
          <a:solidFill>
            <a:srgbClr val="30363D"/>
          </a:solidFill>
          <a:ln/>
        </p:spPr>
      </p:sp>
      <p:sp>
        <p:nvSpPr>
          <p:cNvPr id="12" name="Shape 10"/>
          <p:cNvSpPr/>
          <p:nvPr/>
        </p:nvSpPr>
        <p:spPr>
          <a:xfrm>
            <a:off x="10570464" y="841248"/>
            <a:ext cx="45720" cy="45720"/>
          </a:xfrm>
          <a:prstGeom prst="ellipse">
            <a:avLst/>
          </a:prstGeom>
          <a:solidFill>
            <a:srgbClr val="30363D"/>
          </a:solidFill>
          <a:ln/>
        </p:spPr>
      </p:sp>
      <p:sp>
        <p:nvSpPr>
          <p:cNvPr id="13" name="Shape 11"/>
          <p:cNvSpPr/>
          <p:nvPr/>
        </p:nvSpPr>
        <p:spPr>
          <a:xfrm>
            <a:off x="10570464" y="1133856"/>
            <a:ext cx="45720" cy="45720"/>
          </a:xfrm>
          <a:prstGeom prst="ellipse">
            <a:avLst/>
          </a:prstGeom>
          <a:solidFill>
            <a:srgbClr val="30363D"/>
          </a:solidFill>
          <a:ln/>
        </p:spPr>
      </p:sp>
      <p:sp>
        <p:nvSpPr>
          <p:cNvPr id="14" name="Shape 12"/>
          <p:cNvSpPr/>
          <p:nvPr/>
        </p:nvSpPr>
        <p:spPr>
          <a:xfrm>
            <a:off x="10863072" y="548640"/>
            <a:ext cx="45720" cy="45720"/>
          </a:xfrm>
          <a:prstGeom prst="ellipse">
            <a:avLst/>
          </a:prstGeom>
          <a:solidFill>
            <a:srgbClr val="30363D"/>
          </a:solidFill>
          <a:ln/>
        </p:spPr>
      </p:sp>
      <p:sp>
        <p:nvSpPr>
          <p:cNvPr id="15" name="Shape 13"/>
          <p:cNvSpPr/>
          <p:nvPr/>
        </p:nvSpPr>
        <p:spPr>
          <a:xfrm>
            <a:off x="10863072" y="841248"/>
            <a:ext cx="45720" cy="45720"/>
          </a:xfrm>
          <a:prstGeom prst="ellipse">
            <a:avLst/>
          </a:prstGeom>
          <a:solidFill>
            <a:srgbClr val="30363D"/>
          </a:solidFill>
          <a:ln/>
        </p:spPr>
      </p:sp>
      <p:sp>
        <p:nvSpPr>
          <p:cNvPr id="16" name="Shape 14"/>
          <p:cNvSpPr/>
          <p:nvPr/>
        </p:nvSpPr>
        <p:spPr>
          <a:xfrm>
            <a:off x="10863072" y="1133856"/>
            <a:ext cx="45720" cy="45720"/>
          </a:xfrm>
          <a:prstGeom prst="ellipse">
            <a:avLst/>
          </a:prstGeom>
          <a:solidFill>
            <a:srgbClr val="30363D"/>
          </a:solidFill>
          <a:ln/>
        </p:spPr>
      </p:sp>
      <p:sp>
        <p:nvSpPr>
          <p:cNvPr id="17" name="Shape 15"/>
          <p:cNvSpPr/>
          <p:nvPr/>
        </p:nvSpPr>
        <p:spPr>
          <a:xfrm>
            <a:off x="11155680" y="548640"/>
            <a:ext cx="45720" cy="45720"/>
          </a:xfrm>
          <a:prstGeom prst="ellipse">
            <a:avLst/>
          </a:prstGeom>
          <a:solidFill>
            <a:srgbClr val="30363D"/>
          </a:solidFill>
          <a:ln/>
        </p:spPr>
      </p:sp>
      <p:sp>
        <p:nvSpPr>
          <p:cNvPr id="18" name="Shape 16"/>
          <p:cNvSpPr/>
          <p:nvPr/>
        </p:nvSpPr>
        <p:spPr>
          <a:xfrm>
            <a:off x="11155680" y="841248"/>
            <a:ext cx="45720" cy="45720"/>
          </a:xfrm>
          <a:prstGeom prst="ellipse">
            <a:avLst/>
          </a:prstGeom>
          <a:solidFill>
            <a:srgbClr val="30363D"/>
          </a:solidFill>
          <a:ln/>
        </p:spPr>
      </p:sp>
      <p:sp>
        <p:nvSpPr>
          <p:cNvPr id="19" name="Shape 17"/>
          <p:cNvSpPr/>
          <p:nvPr/>
        </p:nvSpPr>
        <p:spPr>
          <a:xfrm>
            <a:off x="11155680" y="1133856"/>
            <a:ext cx="45720" cy="45720"/>
          </a:xfrm>
          <a:prstGeom prst="ellipse">
            <a:avLst/>
          </a:prstGeom>
          <a:solidFill>
            <a:srgbClr val="30363D"/>
          </a:solidFill>
          <a:ln/>
        </p:spPr>
      </p:sp>
      <p:sp>
        <p:nvSpPr>
          <p:cNvPr id="20" name="Text 18"/>
          <p:cNvSpPr txBox="1"/>
          <p:nvPr/>
        </p:nvSpPr>
        <p:spPr>
          <a:xfrm>
            <a:off x="548640" y="1417320"/>
            <a:ext cx="7315200" cy="457200"/>
          </a:xfrm>
          <a:prstGeom prst="rect">
            <a:avLst/>
          </a:prstGeom>
          <a:noFill/>
          <a:ln/>
        </p:spPr>
        <p:txBody>
          <a:bodyPr wrap="square" lIns="0" tIns="0" rIns="0" bIns="0" rtlCol="0" anchor="ctr"/>
          <a:lstStyle/>
          <a:p>
            <a:pPr indent="0" marL="0">
              <a:buNone/>
            </a:pPr>
            <a:r>
              <a:rPr lang="en-US" sz="1600" b="1" dirty="0">
                <a:solidFill>
                  <a:srgbClr val="4B8BBE"/>
                </a:solidFill>
                <a:latin typeface="Courier New" pitchFamily="34" charset="0"/>
                <a:ea typeface="Courier New" pitchFamily="34" charset="-122"/>
                <a:cs typeface="Courier New" pitchFamily="34" charset="-120"/>
              </a:rPr>
              <a:t>class </a:t>
            </a:r>
            <a:pPr indent="0" marL="0">
              <a:buNone/>
            </a:pPr>
            <a:r>
              <a:rPr lang="en-US" sz="1600" b="1" dirty="0">
                <a:solidFill>
                  <a:srgbClr val="E6EDF3"/>
                </a:solidFill>
                <a:latin typeface="Courier New" pitchFamily="34" charset="0"/>
                <a:ea typeface="Courier New" pitchFamily="34" charset="-122"/>
                <a:cs typeface="Courier New" pitchFamily="34" charset="-120"/>
              </a:rPr>
              <a:t>Presentation</a:t>
            </a:r>
            <a:pPr indent="0" marL="0">
              <a:buNone/>
            </a:pPr>
            <a:r>
              <a:rPr lang="en-US" sz="1600" b="1" dirty="0">
                <a:solidFill>
                  <a:srgbClr val="E6EDF3"/>
                </a:solidFill>
                <a:latin typeface="Courier New" pitchFamily="34" charset="0"/>
                <a:ea typeface="Courier New" pitchFamily="34" charset="-122"/>
                <a:cs typeface="Courier New" pitchFamily="34" charset="-120"/>
              </a:rPr>
              <a:t>:</a:t>
            </a:r>
            <a:endParaRPr lang="en-US" sz="1600" dirty="0"/>
          </a:p>
        </p:txBody>
      </p:sp>
      <p:sp>
        <p:nvSpPr>
          <p:cNvPr id="21" name="Text 19"/>
          <p:cNvSpPr txBox="1"/>
          <p:nvPr/>
        </p:nvSpPr>
        <p:spPr>
          <a:xfrm>
            <a:off x="548640" y="1965960"/>
            <a:ext cx="8686800" cy="2011680"/>
          </a:xfrm>
          <a:prstGeom prst="rect">
            <a:avLst/>
          </a:prstGeom>
          <a:noFill/>
          <a:ln/>
        </p:spPr>
        <p:txBody>
          <a:bodyPr wrap="square" lIns="0" tIns="0" rIns="0" bIns="0" rtlCol="0" anchor="ctr"/>
          <a:lstStyle/>
          <a:p>
            <a:pPr indent="0" marL="0">
              <a:lnSpc>
                <a:spcPts val="5200"/>
              </a:lnSpc>
              <a:buNone/>
            </a:pPr>
            <a:r>
              <a:rPr lang="en-US" sz="4800" b="1" dirty="0">
                <a:solidFill>
                  <a:srgbClr val="E6EDF3"/>
                </a:solidFill>
                <a:latin typeface="Consolas" pitchFamily="34" charset="0"/>
                <a:ea typeface="Consolas" pitchFamily="34" charset="-122"/>
                <a:cs typeface="Consolas" pitchFamily="34" charset="-120"/>
              </a:rPr>
              <a:t>Classes, Objects
</a:t>
            </a:r>
            <a:pPr indent="0" marL="0">
              <a:lnSpc>
                <a:spcPts val="5200"/>
              </a:lnSpc>
              <a:buNone/>
            </a:pPr>
            <a:r>
              <a:rPr lang="en-US" sz="4800" b="1" dirty="0">
                <a:solidFill>
                  <a:srgbClr val="FFD43B"/>
                </a:solidFill>
                <a:latin typeface="Consolas" pitchFamily="34" charset="0"/>
                <a:ea typeface="Consolas" pitchFamily="34" charset="-122"/>
                <a:cs typeface="Consolas" pitchFamily="34" charset="-120"/>
              </a:rPr>
              <a:t>&amp; Constructors</a:t>
            </a:r>
            <a:endParaRPr lang="en-US" sz="4800" dirty="0"/>
          </a:p>
        </p:txBody>
      </p:sp>
      <p:sp>
        <p:nvSpPr>
          <p:cNvPr id="22" name="Text 20"/>
          <p:cNvSpPr txBox="1"/>
          <p:nvPr/>
        </p:nvSpPr>
        <p:spPr>
          <a:xfrm>
            <a:off x="548640" y="3611880"/>
            <a:ext cx="7315200" cy="548640"/>
          </a:xfrm>
          <a:prstGeom prst="rect">
            <a:avLst/>
          </a:prstGeom>
          <a:noFill/>
          <a:ln/>
        </p:spPr>
        <p:txBody>
          <a:bodyPr wrap="square" lIns="0" tIns="0" rIns="0" bIns="0" rtlCol="0" anchor="ctr"/>
          <a:lstStyle/>
          <a:p>
            <a:pPr indent="0" marL="0">
              <a:buNone/>
            </a:pPr>
            <a:r>
              <a:rPr lang="en-US" sz="3000" b="1" dirty="0">
                <a:solidFill>
                  <a:srgbClr val="4B8BBE"/>
                </a:solidFill>
                <a:latin typeface="Consolas" pitchFamily="34" charset="0"/>
                <a:ea typeface="Consolas" pitchFamily="34" charset="-122"/>
                <a:cs typeface="Consolas" pitchFamily="34" charset="-120"/>
              </a:rPr>
              <a:t>in Python</a:t>
            </a:r>
            <a:endParaRPr lang="en-US" sz="3000" dirty="0"/>
          </a:p>
        </p:txBody>
      </p:sp>
      <p:sp>
        <p:nvSpPr>
          <p:cNvPr id="23" name="Shape 21"/>
          <p:cNvSpPr/>
          <p:nvPr/>
        </p:nvSpPr>
        <p:spPr>
          <a:xfrm>
            <a:off x="548640" y="4343400"/>
            <a:ext cx="457200" cy="32004"/>
          </a:xfrm>
          <a:prstGeom prst="rect">
            <a:avLst/>
          </a:prstGeom>
          <a:solidFill>
            <a:srgbClr val="30363D"/>
          </a:solidFill>
          <a:ln/>
        </p:spPr>
      </p:sp>
      <p:sp>
        <p:nvSpPr>
          <p:cNvPr id="24" name="Text 22"/>
          <p:cNvSpPr txBox="1"/>
          <p:nvPr/>
        </p:nvSpPr>
        <p:spPr>
          <a:xfrm>
            <a:off x="548640" y="4572000"/>
            <a:ext cx="6949440" cy="548640"/>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Understanding object-oriented programming through practical, code-first examples.</a:t>
            </a:r>
            <a:endParaRPr lang="en-US" sz="1600" dirty="0"/>
          </a:p>
        </p:txBody>
      </p:sp>
      <p:sp>
        <p:nvSpPr>
          <p:cNvPr id="25" name="Shape 23"/>
          <p:cNvSpPr/>
          <p:nvPr/>
        </p:nvSpPr>
        <p:spPr>
          <a:xfrm>
            <a:off x="7619695" y="3931920"/>
            <a:ext cx="3749040" cy="2011680"/>
          </a:xfrm>
          <a:prstGeom prst="roundRect">
            <a:avLst>
              <a:gd name="adj" fmla="val 3636"/>
            </a:avLst>
          </a:prstGeom>
          <a:solidFill>
            <a:srgbClr val="161B22"/>
          </a:solidFill>
          <a:ln w="12700">
            <a:solidFill>
              <a:srgbClr val="30363D"/>
            </a:solidFill>
            <a:prstDash val="solid"/>
          </a:ln>
        </p:spPr>
      </p:sp>
      <p:sp>
        <p:nvSpPr>
          <p:cNvPr id="26" name="Shape 24"/>
          <p:cNvSpPr/>
          <p:nvPr/>
        </p:nvSpPr>
        <p:spPr>
          <a:xfrm>
            <a:off x="7820863" y="4096512"/>
            <a:ext cx="100584" cy="100584"/>
          </a:xfrm>
          <a:prstGeom prst="ellipse">
            <a:avLst/>
          </a:prstGeom>
          <a:solidFill>
            <a:srgbClr val="F85149"/>
          </a:solidFill>
          <a:ln/>
        </p:spPr>
      </p:sp>
      <p:sp>
        <p:nvSpPr>
          <p:cNvPr id="27" name="Shape 25"/>
          <p:cNvSpPr/>
          <p:nvPr/>
        </p:nvSpPr>
        <p:spPr>
          <a:xfrm>
            <a:off x="8022031" y="4096512"/>
            <a:ext cx="100584" cy="100584"/>
          </a:xfrm>
          <a:prstGeom prst="ellipse">
            <a:avLst/>
          </a:prstGeom>
          <a:solidFill>
            <a:srgbClr val="FFD43B"/>
          </a:solidFill>
          <a:ln/>
        </p:spPr>
      </p:sp>
      <p:sp>
        <p:nvSpPr>
          <p:cNvPr id="28" name="Shape 26"/>
          <p:cNvSpPr/>
          <p:nvPr/>
        </p:nvSpPr>
        <p:spPr>
          <a:xfrm>
            <a:off x="8223199" y="4096512"/>
            <a:ext cx="100584" cy="100584"/>
          </a:xfrm>
          <a:prstGeom prst="ellipse">
            <a:avLst/>
          </a:prstGeom>
          <a:solidFill>
            <a:srgbClr val="3FB950"/>
          </a:solidFill>
          <a:ln/>
        </p:spPr>
      </p:sp>
      <p:sp>
        <p:nvSpPr>
          <p:cNvPr id="29" name="Text 27"/>
          <p:cNvSpPr txBox="1"/>
          <p:nvPr/>
        </p:nvSpPr>
        <p:spPr>
          <a:xfrm>
            <a:off x="7939735" y="4315968"/>
            <a:ext cx="3200400" cy="255905"/>
          </a:xfrm>
          <a:prstGeom prst="rect">
            <a:avLst/>
          </a:prstGeom>
          <a:noFill/>
          <a:ln/>
        </p:spPr>
        <p:txBody>
          <a:bodyPr wrap="square" lIns="0" tIns="0" rIns="0" bIns="0" rtlCol="0" anchor="t"/>
          <a:lstStyle/>
          <a:p>
            <a:pPr indent="0" marL="0">
              <a:buNone/>
            </a:pPr>
            <a:r>
              <a:rPr lang="en-US" sz="1300" b="1" dirty="0">
                <a:solidFill>
                  <a:srgbClr val="4B8BBE"/>
                </a:solidFill>
                <a:latin typeface="Courier New" pitchFamily="34" charset="0"/>
                <a:ea typeface="Courier New" pitchFamily="34" charset="-122"/>
                <a:cs typeface="Courier New" pitchFamily="34" charset="-120"/>
              </a:rPr>
              <a:t>class</a:t>
            </a:r>
            <a:pPr indent="0" marL="0">
              <a:buNone/>
            </a:pPr>
            <a:r>
              <a:rPr lang="en-US" sz="1300" dirty="0">
                <a:solidFill>
                  <a:srgbClr val="E6EDF3"/>
                </a:solidFill>
                <a:latin typeface="Courier New" pitchFamily="34" charset="0"/>
                <a:ea typeface="Courier New" pitchFamily="34" charset="-122"/>
                <a:cs typeface="Courier New" pitchFamily="34" charset="-120"/>
              </a:rPr>
              <a:t> </a:t>
            </a:r>
            <a:pPr indent="0" marL="0">
              <a:buNone/>
            </a:pPr>
            <a:r>
              <a:rPr lang="en-US" sz="1300" dirty="0">
                <a:solidFill>
                  <a:srgbClr val="58A6FF"/>
                </a:solidFill>
                <a:latin typeface="Courier New" pitchFamily="34" charset="0"/>
                <a:ea typeface="Courier New" pitchFamily="34" charset="-122"/>
                <a:cs typeface="Courier New" pitchFamily="34" charset="-120"/>
              </a:rPr>
              <a:t>Student</a:t>
            </a:r>
            <a:pPr indent="0" marL="0">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p:txBody>
      </p:sp>
      <p:sp>
        <p:nvSpPr>
          <p:cNvPr id="30" name="Text 28"/>
          <p:cNvSpPr txBox="1"/>
          <p:nvPr/>
        </p:nvSpPr>
        <p:spPr>
          <a:xfrm>
            <a:off x="7939735" y="4571873"/>
            <a:ext cx="3200400" cy="255905"/>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    def </a:t>
            </a:r>
            <a:pPr indent="0" marL="0">
              <a:buNone/>
            </a:pPr>
            <a:r>
              <a:rPr lang="en-US" sz="1300" dirty="0">
                <a:solidFill>
                  <a:srgbClr val="58A6FF"/>
                </a:solidFill>
                <a:latin typeface="Courier New" pitchFamily="34" charset="0"/>
                <a:ea typeface="Courier New" pitchFamily="34" charset="-122"/>
                <a:cs typeface="Courier New" pitchFamily="34" charset="-120"/>
              </a:rPr>
              <a:t>__init__</a:t>
            </a:r>
            <a:pPr indent="0" marL="0">
              <a:buNone/>
            </a:pPr>
            <a:r>
              <a:rPr lang="en-US" sz="1300" dirty="0">
                <a:solidFill>
                  <a:srgbClr val="E6EDF3"/>
                </a:solidFill>
                <a:latin typeface="Courier New" pitchFamily="34" charset="0"/>
                <a:ea typeface="Courier New" pitchFamily="34" charset="-122"/>
                <a:cs typeface="Courier New" pitchFamily="34" charset="-120"/>
              </a:rPr>
              <a:t>(self, name):</a:t>
            </a:r>
            <a:endParaRPr lang="en-US" sz="1300" dirty="0"/>
          </a:p>
        </p:txBody>
      </p:sp>
      <p:sp>
        <p:nvSpPr>
          <p:cNvPr id="31" name="Text 29"/>
          <p:cNvSpPr txBox="1"/>
          <p:nvPr/>
        </p:nvSpPr>
        <p:spPr>
          <a:xfrm>
            <a:off x="7939735" y="4827778"/>
            <a:ext cx="3200400" cy="255905"/>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        self.name = name</a:t>
            </a:r>
            <a:endParaRPr lang="en-US" sz="1300" dirty="0"/>
          </a:p>
        </p:txBody>
      </p:sp>
      <p:sp>
        <p:nvSpPr>
          <p:cNvPr id="32" name="Text 30"/>
          <p:cNvSpPr txBox="1"/>
          <p:nvPr/>
        </p:nvSpPr>
        <p:spPr>
          <a:xfrm>
            <a:off x="7939735" y="5083683"/>
            <a:ext cx="3200400" cy="255905"/>
          </a:xfrm>
          <a:prstGeom prst="rect">
            <a:avLst/>
          </a:prstGeom>
          <a:noFill/>
          <a:ln/>
        </p:spPr>
        <p:txBody>
          <a:bodyPr wrap="square" lIns="0" tIns="0" rIns="0" bIns="0" rtlCol="0" anchor="t"/>
          <a:lstStyle/>
          <a:p>
            <a:pPr indent="0" marL="0">
              <a:buNone/>
            </a:pPr>
            <a:endParaRPr lang="en-US" sz="1300" dirty="0"/>
          </a:p>
        </p:txBody>
      </p:sp>
      <p:sp>
        <p:nvSpPr>
          <p:cNvPr id="33" name="Text 31"/>
          <p:cNvSpPr txBox="1"/>
          <p:nvPr/>
        </p:nvSpPr>
        <p:spPr>
          <a:xfrm>
            <a:off x="7939735" y="5339588"/>
            <a:ext cx="3200400" cy="255905"/>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s1 = </a:t>
            </a:r>
            <a:pPr indent="0" marL="0">
              <a:buNone/>
            </a:pPr>
            <a:r>
              <a:rPr lang="en-US" sz="1300" dirty="0">
                <a:solidFill>
                  <a:srgbClr val="58A6FF"/>
                </a:solidFill>
                <a:latin typeface="Courier New" pitchFamily="34" charset="0"/>
                <a:ea typeface="Courier New" pitchFamily="34" charset="-122"/>
                <a:cs typeface="Courier New" pitchFamily="34" charset="-120"/>
              </a:rPr>
              <a:t>Student</a:t>
            </a:r>
            <a:pPr indent="0" marL="0">
              <a:buNone/>
            </a:pPr>
            <a:r>
              <a:rPr lang="en-US" sz="1300" dirty="0">
                <a:solidFill>
                  <a:srgbClr val="E6EDF3"/>
                </a:solidFill>
                <a:latin typeface="Courier New" pitchFamily="34" charset="0"/>
                <a:ea typeface="Courier New" pitchFamily="34" charset="-122"/>
                <a:cs typeface="Courier New" pitchFamily="34" charset="-120"/>
              </a:rPr>
              <a:t>(</a:t>
            </a:r>
            <a:pPr indent="0" marL="0">
              <a:buNone/>
            </a:pPr>
            <a:r>
              <a:rPr lang="en-US" sz="1300" dirty="0">
                <a:solidFill>
                  <a:srgbClr val="3FB950"/>
                </a:solidFill>
                <a:latin typeface="Courier New" pitchFamily="34" charset="0"/>
                <a:ea typeface="Courier New" pitchFamily="34" charset="-122"/>
                <a:cs typeface="Courier New" pitchFamily="34" charset="-120"/>
              </a:rPr>
              <a:t>"Arun"</a:t>
            </a:r>
            <a:pPr indent="0" marL="0">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p:txBody>
      </p:sp>
      <p:sp>
        <p:nvSpPr>
          <p:cNvPr id="34" name="Text 32"/>
          <p:cNvSpPr txBox="1"/>
          <p:nvPr/>
        </p:nvSpPr>
        <p:spPr>
          <a:xfrm>
            <a:off x="548640" y="6309360"/>
            <a:ext cx="4572000" cy="274320"/>
          </a:xfrm>
          <a:prstGeom prst="rect">
            <a:avLst/>
          </a:prstGeom>
          <a:noFill/>
          <a:ln/>
        </p:spPr>
        <p:txBody>
          <a:bodyPr wrap="square" lIns="0" tIns="0" rIns="0" bIns="0" rtlCol="0" anchor="ctr"/>
          <a:lstStyle/>
          <a:p>
            <a:pPr indent="0" marL="0">
              <a:buNone/>
            </a:pPr>
            <a:r>
              <a:rPr lang="en-US" sz="1100" dirty="0">
                <a:solidFill>
                  <a:srgbClr val="6E7681"/>
                </a:solidFill>
                <a:latin typeface="Courier New" pitchFamily="34" charset="0"/>
                <a:ea typeface="Courier New" pitchFamily="34" charset="-122"/>
                <a:cs typeface="Courier New" pitchFamily="34" charset="-120"/>
              </a:rPr>
              <a:t>Trainee Developer Session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B8BBE"/>
                </a:solidFill>
                <a:latin typeface="Courier New" pitchFamily="34" charset="0"/>
                <a:ea typeface="Courier New" pitchFamily="34" charset="-122"/>
                <a:cs typeface="Courier New" pitchFamily="34" charset="-120"/>
              </a:rPr>
              <a:t>01 · MOTIVATION</a:t>
            </a:r>
            <a:endParaRPr lang="en-US" sz="1200" dirty="0"/>
          </a:p>
        </p:txBody>
      </p:sp>
      <p:sp>
        <p:nvSpPr>
          <p:cNvPr id="3" name="Text 1"/>
          <p:cNvSpPr txBox="1"/>
          <p:nvPr/>
        </p:nvSpPr>
        <p:spPr>
          <a:xfrm>
            <a:off x="548640" y="777240"/>
            <a:ext cx="11094415" cy="822960"/>
          </a:xfrm>
          <a:prstGeom prst="rect">
            <a:avLst/>
          </a:prstGeom>
          <a:noFill/>
          <a:ln/>
        </p:spPr>
        <p:txBody>
          <a:bodyPr wrap="square" lIns="0" tIns="0" rIns="0" bIns="0" rtlCol="0" anchor="ctr"/>
          <a:lstStyle/>
          <a:p>
            <a:pPr indent="0" marL="0">
              <a:buNone/>
            </a:pPr>
            <a:r>
              <a:rPr lang="en-US" sz="3200" b="1" dirty="0">
                <a:solidFill>
                  <a:srgbClr val="E6EDF3"/>
                </a:solidFill>
                <a:latin typeface="Consolas" pitchFamily="34" charset="0"/>
                <a:ea typeface="Consolas" pitchFamily="34" charset="-122"/>
                <a:cs typeface="Consolas" pitchFamily="34" charset="-120"/>
              </a:rPr>
              <a:t>Why Object-Oriented Programming?</a:t>
            </a:r>
            <a:endParaRPr lang="en-US" sz="3200" dirty="0"/>
          </a:p>
        </p:txBody>
      </p:sp>
      <p:sp>
        <p:nvSpPr>
          <p:cNvPr id="4" name="Text 2"/>
          <p:cNvSpPr txBox="1"/>
          <p:nvPr/>
        </p:nvSpPr>
        <p:spPr>
          <a:xfrm>
            <a:off x="548640" y="1600200"/>
            <a:ext cx="6858000" cy="365760"/>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Without structure, related data and behavior scatter across separate variables:</a:t>
            </a:r>
            <a:endParaRPr lang="en-US" sz="1400" dirty="0"/>
          </a:p>
        </p:txBody>
      </p:sp>
      <p:sp>
        <p:nvSpPr>
          <p:cNvPr id="5" name="Shape 3"/>
          <p:cNvSpPr/>
          <p:nvPr/>
        </p:nvSpPr>
        <p:spPr>
          <a:xfrm>
            <a:off x="548640" y="2103120"/>
            <a:ext cx="2331720" cy="1737360"/>
          </a:xfrm>
          <a:prstGeom prst="roundRect">
            <a:avLst>
              <a:gd name="adj" fmla="val 4211"/>
            </a:avLst>
          </a:prstGeom>
          <a:solidFill>
            <a:srgbClr val="161B22"/>
          </a:solidFill>
          <a:ln w="12700">
            <a:solidFill>
              <a:srgbClr val="30363D"/>
            </a:solidFill>
            <a:prstDash val="solid"/>
          </a:ln>
        </p:spPr>
      </p:sp>
      <p:sp>
        <p:nvSpPr>
          <p:cNvPr id="6" name="Text 4"/>
          <p:cNvSpPr txBox="1"/>
          <p:nvPr/>
        </p:nvSpPr>
        <p:spPr>
          <a:xfrm>
            <a:off x="731520" y="2240280"/>
            <a:ext cx="1965960" cy="274320"/>
          </a:xfrm>
          <a:prstGeom prst="rect">
            <a:avLst/>
          </a:prstGeom>
          <a:noFill/>
          <a:ln/>
        </p:spPr>
        <p:txBody>
          <a:bodyPr wrap="square" lIns="0" tIns="0" rIns="0" bIns="0" rtlCol="0" anchor="ctr"/>
          <a:lstStyle/>
          <a:p>
            <a:pPr indent="0" marL="0">
              <a:buNone/>
            </a:pPr>
            <a:r>
              <a:rPr lang="en-US" sz="1300" b="1" dirty="0">
                <a:solidFill>
                  <a:srgbClr val="FFD43B"/>
                </a:solidFill>
                <a:latin typeface="Courier New" pitchFamily="34" charset="0"/>
                <a:ea typeface="Courier New" pitchFamily="34" charset="-122"/>
                <a:cs typeface="Courier New" pitchFamily="34" charset="-120"/>
              </a:rPr>
              <a:t>Student 1</a:t>
            </a:r>
            <a:endParaRPr lang="en-US" sz="1300" dirty="0"/>
          </a:p>
        </p:txBody>
      </p:sp>
      <p:sp>
        <p:nvSpPr>
          <p:cNvPr id="7" name="Text 5"/>
          <p:cNvSpPr txBox="1"/>
          <p:nvPr/>
        </p:nvSpPr>
        <p:spPr>
          <a:xfrm>
            <a:off x="731520" y="2578608"/>
            <a:ext cx="1965960" cy="274320"/>
          </a:xfrm>
          <a:prstGeom prst="rect">
            <a:avLst/>
          </a:prstGeom>
          <a:noFill/>
          <a:ln/>
        </p:spPr>
        <p:txBody>
          <a:bodyPr wrap="square" lIns="0" tIns="0" rIns="0" bIns="0" rtlCol="0" anchor="ctr"/>
          <a:lstStyle/>
          <a:p>
            <a:pPr indent="0" marL="0">
              <a:buNone/>
            </a:pPr>
            <a:r>
              <a:rPr lang="en-US" sz="1150" dirty="0">
                <a:solidFill>
                  <a:srgbClr val="8B949E"/>
                </a:solidFill>
                <a:latin typeface="Courier New" pitchFamily="34" charset="0"/>
                <a:ea typeface="Courier New" pitchFamily="34" charset="-122"/>
                <a:cs typeface="Courier New" pitchFamily="34" charset="-120"/>
              </a:rPr>
              <a:t>student1_name</a:t>
            </a:r>
            <a:endParaRPr lang="en-US" sz="1150" dirty="0"/>
          </a:p>
        </p:txBody>
      </p:sp>
      <p:sp>
        <p:nvSpPr>
          <p:cNvPr id="8" name="Text 6"/>
          <p:cNvSpPr txBox="1"/>
          <p:nvPr/>
        </p:nvSpPr>
        <p:spPr>
          <a:xfrm>
            <a:off x="731520" y="2962656"/>
            <a:ext cx="1965960" cy="274320"/>
          </a:xfrm>
          <a:prstGeom prst="rect">
            <a:avLst/>
          </a:prstGeom>
          <a:noFill/>
          <a:ln/>
        </p:spPr>
        <p:txBody>
          <a:bodyPr wrap="square" lIns="0" tIns="0" rIns="0" bIns="0" rtlCol="0" anchor="ctr"/>
          <a:lstStyle/>
          <a:p>
            <a:pPr indent="0" marL="0">
              <a:buNone/>
            </a:pPr>
            <a:r>
              <a:rPr lang="en-US" sz="1150" dirty="0">
                <a:solidFill>
                  <a:srgbClr val="8B949E"/>
                </a:solidFill>
                <a:latin typeface="Courier New" pitchFamily="34" charset="0"/>
                <a:ea typeface="Courier New" pitchFamily="34" charset="-122"/>
                <a:cs typeface="Courier New" pitchFamily="34" charset="-120"/>
              </a:rPr>
              <a:t>student1_age</a:t>
            </a:r>
            <a:endParaRPr lang="en-US" sz="1150" dirty="0"/>
          </a:p>
        </p:txBody>
      </p:sp>
      <p:sp>
        <p:nvSpPr>
          <p:cNvPr id="9" name="Text 7"/>
          <p:cNvSpPr txBox="1"/>
          <p:nvPr/>
        </p:nvSpPr>
        <p:spPr>
          <a:xfrm>
            <a:off x="731520" y="3346704"/>
            <a:ext cx="1965960" cy="274320"/>
          </a:xfrm>
          <a:prstGeom prst="rect">
            <a:avLst/>
          </a:prstGeom>
          <a:noFill/>
          <a:ln/>
        </p:spPr>
        <p:txBody>
          <a:bodyPr wrap="square" lIns="0" tIns="0" rIns="0" bIns="0" rtlCol="0" anchor="ctr"/>
          <a:lstStyle/>
          <a:p>
            <a:pPr indent="0" marL="0">
              <a:buNone/>
            </a:pPr>
            <a:r>
              <a:rPr lang="en-US" sz="1150" dirty="0">
                <a:solidFill>
                  <a:srgbClr val="8B949E"/>
                </a:solidFill>
                <a:latin typeface="Courier New" pitchFamily="34" charset="0"/>
                <a:ea typeface="Courier New" pitchFamily="34" charset="-122"/>
                <a:cs typeface="Courier New" pitchFamily="34" charset="-120"/>
              </a:rPr>
              <a:t>student1_dept</a:t>
            </a:r>
            <a:endParaRPr lang="en-US" sz="1150" dirty="0"/>
          </a:p>
        </p:txBody>
      </p:sp>
      <p:sp>
        <p:nvSpPr>
          <p:cNvPr id="10" name="Shape 8"/>
          <p:cNvSpPr/>
          <p:nvPr/>
        </p:nvSpPr>
        <p:spPr>
          <a:xfrm>
            <a:off x="3200400" y="2103120"/>
            <a:ext cx="2331720" cy="1737360"/>
          </a:xfrm>
          <a:prstGeom prst="roundRect">
            <a:avLst>
              <a:gd name="adj" fmla="val 4211"/>
            </a:avLst>
          </a:prstGeom>
          <a:solidFill>
            <a:srgbClr val="161B22"/>
          </a:solidFill>
          <a:ln w="12700">
            <a:solidFill>
              <a:srgbClr val="30363D"/>
            </a:solidFill>
            <a:prstDash val="solid"/>
          </a:ln>
        </p:spPr>
      </p:sp>
      <p:sp>
        <p:nvSpPr>
          <p:cNvPr id="11" name="Text 9"/>
          <p:cNvSpPr txBox="1"/>
          <p:nvPr/>
        </p:nvSpPr>
        <p:spPr>
          <a:xfrm>
            <a:off x="3383280" y="2240280"/>
            <a:ext cx="1965960" cy="274320"/>
          </a:xfrm>
          <a:prstGeom prst="rect">
            <a:avLst/>
          </a:prstGeom>
          <a:noFill/>
          <a:ln/>
        </p:spPr>
        <p:txBody>
          <a:bodyPr wrap="square" lIns="0" tIns="0" rIns="0" bIns="0" rtlCol="0" anchor="ctr"/>
          <a:lstStyle/>
          <a:p>
            <a:pPr indent="0" marL="0">
              <a:buNone/>
            </a:pPr>
            <a:r>
              <a:rPr lang="en-US" sz="1300" b="1" dirty="0">
                <a:solidFill>
                  <a:srgbClr val="FFD43B"/>
                </a:solidFill>
                <a:latin typeface="Courier New" pitchFamily="34" charset="0"/>
                <a:ea typeface="Courier New" pitchFamily="34" charset="-122"/>
                <a:cs typeface="Courier New" pitchFamily="34" charset="-120"/>
              </a:rPr>
              <a:t>Student 2</a:t>
            </a:r>
            <a:endParaRPr lang="en-US" sz="1300" dirty="0"/>
          </a:p>
        </p:txBody>
      </p:sp>
      <p:sp>
        <p:nvSpPr>
          <p:cNvPr id="12" name="Text 10"/>
          <p:cNvSpPr txBox="1"/>
          <p:nvPr/>
        </p:nvSpPr>
        <p:spPr>
          <a:xfrm>
            <a:off x="3383280" y="2578608"/>
            <a:ext cx="1965960" cy="274320"/>
          </a:xfrm>
          <a:prstGeom prst="rect">
            <a:avLst/>
          </a:prstGeom>
          <a:noFill/>
          <a:ln/>
        </p:spPr>
        <p:txBody>
          <a:bodyPr wrap="square" lIns="0" tIns="0" rIns="0" bIns="0" rtlCol="0" anchor="ctr"/>
          <a:lstStyle/>
          <a:p>
            <a:pPr indent="0" marL="0">
              <a:buNone/>
            </a:pPr>
            <a:r>
              <a:rPr lang="en-US" sz="1150" dirty="0">
                <a:solidFill>
                  <a:srgbClr val="8B949E"/>
                </a:solidFill>
                <a:latin typeface="Courier New" pitchFamily="34" charset="0"/>
                <a:ea typeface="Courier New" pitchFamily="34" charset="-122"/>
                <a:cs typeface="Courier New" pitchFamily="34" charset="-120"/>
              </a:rPr>
              <a:t>student2_name</a:t>
            </a:r>
            <a:endParaRPr lang="en-US" sz="1150" dirty="0"/>
          </a:p>
        </p:txBody>
      </p:sp>
      <p:sp>
        <p:nvSpPr>
          <p:cNvPr id="13" name="Text 11"/>
          <p:cNvSpPr txBox="1"/>
          <p:nvPr/>
        </p:nvSpPr>
        <p:spPr>
          <a:xfrm>
            <a:off x="3383280" y="2962656"/>
            <a:ext cx="1965960" cy="274320"/>
          </a:xfrm>
          <a:prstGeom prst="rect">
            <a:avLst/>
          </a:prstGeom>
          <a:noFill/>
          <a:ln/>
        </p:spPr>
        <p:txBody>
          <a:bodyPr wrap="square" lIns="0" tIns="0" rIns="0" bIns="0" rtlCol="0" anchor="ctr"/>
          <a:lstStyle/>
          <a:p>
            <a:pPr indent="0" marL="0">
              <a:buNone/>
            </a:pPr>
            <a:r>
              <a:rPr lang="en-US" sz="1150" dirty="0">
                <a:solidFill>
                  <a:srgbClr val="8B949E"/>
                </a:solidFill>
                <a:latin typeface="Courier New" pitchFamily="34" charset="0"/>
                <a:ea typeface="Courier New" pitchFamily="34" charset="-122"/>
                <a:cs typeface="Courier New" pitchFamily="34" charset="-120"/>
              </a:rPr>
              <a:t>student2_age</a:t>
            </a:r>
            <a:endParaRPr lang="en-US" sz="1150" dirty="0"/>
          </a:p>
        </p:txBody>
      </p:sp>
      <p:sp>
        <p:nvSpPr>
          <p:cNvPr id="14" name="Text 12"/>
          <p:cNvSpPr txBox="1"/>
          <p:nvPr/>
        </p:nvSpPr>
        <p:spPr>
          <a:xfrm>
            <a:off x="3383280" y="3346704"/>
            <a:ext cx="1965960" cy="274320"/>
          </a:xfrm>
          <a:prstGeom prst="rect">
            <a:avLst/>
          </a:prstGeom>
          <a:noFill/>
          <a:ln/>
        </p:spPr>
        <p:txBody>
          <a:bodyPr wrap="square" lIns="0" tIns="0" rIns="0" bIns="0" rtlCol="0" anchor="ctr"/>
          <a:lstStyle/>
          <a:p>
            <a:pPr indent="0" marL="0">
              <a:buNone/>
            </a:pPr>
            <a:r>
              <a:rPr lang="en-US" sz="1150" dirty="0">
                <a:solidFill>
                  <a:srgbClr val="8B949E"/>
                </a:solidFill>
                <a:latin typeface="Courier New" pitchFamily="34" charset="0"/>
                <a:ea typeface="Courier New" pitchFamily="34" charset="-122"/>
                <a:cs typeface="Courier New" pitchFamily="34" charset="-120"/>
              </a:rPr>
              <a:t>student2_dept</a:t>
            </a:r>
            <a:endParaRPr lang="en-US" sz="1150" dirty="0"/>
          </a:p>
        </p:txBody>
      </p:sp>
      <p:sp>
        <p:nvSpPr>
          <p:cNvPr id="15" name="Shape 13"/>
          <p:cNvSpPr/>
          <p:nvPr/>
        </p:nvSpPr>
        <p:spPr>
          <a:xfrm>
            <a:off x="5852160" y="2103120"/>
            <a:ext cx="2331720" cy="1737360"/>
          </a:xfrm>
          <a:prstGeom prst="roundRect">
            <a:avLst>
              <a:gd name="adj" fmla="val 4211"/>
            </a:avLst>
          </a:prstGeom>
          <a:solidFill>
            <a:srgbClr val="161B22"/>
          </a:solidFill>
          <a:ln w="12700">
            <a:solidFill>
              <a:srgbClr val="30363D"/>
            </a:solidFill>
            <a:prstDash val="solid"/>
          </a:ln>
        </p:spPr>
      </p:sp>
      <p:sp>
        <p:nvSpPr>
          <p:cNvPr id="16" name="Text 14"/>
          <p:cNvSpPr txBox="1"/>
          <p:nvPr/>
        </p:nvSpPr>
        <p:spPr>
          <a:xfrm>
            <a:off x="6035040" y="2240280"/>
            <a:ext cx="1965960" cy="274320"/>
          </a:xfrm>
          <a:prstGeom prst="rect">
            <a:avLst/>
          </a:prstGeom>
          <a:noFill/>
          <a:ln/>
        </p:spPr>
        <p:txBody>
          <a:bodyPr wrap="square" lIns="0" tIns="0" rIns="0" bIns="0" rtlCol="0" anchor="ctr"/>
          <a:lstStyle/>
          <a:p>
            <a:pPr indent="0" marL="0">
              <a:buNone/>
            </a:pPr>
            <a:r>
              <a:rPr lang="en-US" sz="1300" b="1" dirty="0">
                <a:solidFill>
                  <a:srgbClr val="FFD43B"/>
                </a:solidFill>
                <a:latin typeface="Courier New" pitchFamily="34" charset="0"/>
                <a:ea typeface="Courier New" pitchFamily="34" charset="-122"/>
                <a:cs typeface="Courier New" pitchFamily="34" charset="-120"/>
              </a:rPr>
              <a:t>Student 3</a:t>
            </a:r>
            <a:endParaRPr lang="en-US" sz="1300" dirty="0"/>
          </a:p>
        </p:txBody>
      </p:sp>
      <p:sp>
        <p:nvSpPr>
          <p:cNvPr id="17" name="Text 15"/>
          <p:cNvSpPr txBox="1"/>
          <p:nvPr/>
        </p:nvSpPr>
        <p:spPr>
          <a:xfrm>
            <a:off x="6035040" y="2578608"/>
            <a:ext cx="1965960" cy="274320"/>
          </a:xfrm>
          <a:prstGeom prst="rect">
            <a:avLst/>
          </a:prstGeom>
          <a:noFill/>
          <a:ln/>
        </p:spPr>
        <p:txBody>
          <a:bodyPr wrap="square" lIns="0" tIns="0" rIns="0" bIns="0" rtlCol="0" anchor="ctr"/>
          <a:lstStyle/>
          <a:p>
            <a:pPr indent="0" marL="0">
              <a:buNone/>
            </a:pPr>
            <a:r>
              <a:rPr lang="en-US" sz="1150" dirty="0">
                <a:solidFill>
                  <a:srgbClr val="8B949E"/>
                </a:solidFill>
                <a:latin typeface="Courier New" pitchFamily="34" charset="0"/>
                <a:ea typeface="Courier New" pitchFamily="34" charset="-122"/>
                <a:cs typeface="Courier New" pitchFamily="34" charset="-120"/>
              </a:rPr>
              <a:t>student3_name</a:t>
            </a:r>
            <a:endParaRPr lang="en-US" sz="1150" dirty="0"/>
          </a:p>
        </p:txBody>
      </p:sp>
      <p:sp>
        <p:nvSpPr>
          <p:cNvPr id="18" name="Text 16"/>
          <p:cNvSpPr txBox="1"/>
          <p:nvPr/>
        </p:nvSpPr>
        <p:spPr>
          <a:xfrm>
            <a:off x="6035040" y="2962656"/>
            <a:ext cx="1965960" cy="274320"/>
          </a:xfrm>
          <a:prstGeom prst="rect">
            <a:avLst/>
          </a:prstGeom>
          <a:noFill/>
          <a:ln/>
        </p:spPr>
        <p:txBody>
          <a:bodyPr wrap="square" lIns="0" tIns="0" rIns="0" bIns="0" rtlCol="0" anchor="ctr"/>
          <a:lstStyle/>
          <a:p>
            <a:pPr indent="0" marL="0">
              <a:buNone/>
            </a:pPr>
            <a:r>
              <a:rPr lang="en-US" sz="1150" dirty="0">
                <a:solidFill>
                  <a:srgbClr val="8B949E"/>
                </a:solidFill>
                <a:latin typeface="Courier New" pitchFamily="34" charset="0"/>
                <a:ea typeface="Courier New" pitchFamily="34" charset="-122"/>
                <a:cs typeface="Courier New" pitchFamily="34" charset="-120"/>
              </a:rPr>
              <a:t>student3_age</a:t>
            </a:r>
            <a:endParaRPr lang="en-US" sz="1150" dirty="0"/>
          </a:p>
        </p:txBody>
      </p:sp>
      <p:sp>
        <p:nvSpPr>
          <p:cNvPr id="19" name="Text 17"/>
          <p:cNvSpPr txBox="1"/>
          <p:nvPr/>
        </p:nvSpPr>
        <p:spPr>
          <a:xfrm>
            <a:off x="6035040" y="3346704"/>
            <a:ext cx="1965960" cy="274320"/>
          </a:xfrm>
          <a:prstGeom prst="rect">
            <a:avLst/>
          </a:prstGeom>
          <a:noFill/>
          <a:ln/>
        </p:spPr>
        <p:txBody>
          <a:bodyPr wrap="square" lIns="0" tIns="0" rIns="0" bIns="0" rtlCol="0" anchor="ctr"/>
          <a:lstStyle/>
          <a:p>
            <a:pPr indent="0" marL="0">
              <a:buNone/>
            </a:pPr>
            <a:r>
              <a:rPr lang="en-US" sz="1150" dirty="0">
                <a:solidFill>
                  <a:srgbClr val="8B949E"/>
                </a:solidFill>
                <a:latin typeface="Courier New" pitchFamily="34" charset="0"/>
                <a:ea typeface="Courier New" pitchFamily="34" charset="-122"/>
                <a:cs typeface="Courier New" pitchFamily="34" charset="-120"/>
              </a:rPr>
              <a:t>student3_dept</a:t>
            </a:r>
            <a:endParaRPr lang="en-US" sz="1150" dirty="0"/>
          </a:p>
        </p:txBody>
      </p:sp>
      <p:sp>
        <p:nvSpPr>
          <p:cNvPr id="20" name="Text 18"/>
          <p:cNvSpPr txBox="1"/>
          <p:nvPr/>
        </p:nvSpPr>
        <p:spPr>
          <a:xfrm>
            <a:off x="548640" y="3977640"/>
            <a:ext cx="7132320" cy="320040"/>
          </a:xfrm>
          <a:prstGeom prst="rect">
            <a:avLst/>
          </a:prstGeom>
          <a:noFill/>
          <a:ln/>
        </p:spPr>
        <p:txBody>
          <a:bodyPr wrap="square" lIns="0" tIns="0" rIns="0" bIns="0" rtlCol="0" anchor="ctr"/>
          <a:lstStyle/>
          <a:p>
            <a:pPr indent="0" marL="0">
              <a:buNone/>
            </a:pPr>
            <a:r>
              <a:rPr lang="en-US" sz="1250" i="1" dirty="0">
                <a:solidFill>
                  <a:srgbClr val="6E7681"/>
                </a:solidFill>
                <a:latin typeface="Calibri" pitchFamily="34" charset="0"/>
                <a:ea typeface="Calibri" pitchFamily="34" charset="-122"/>
                <a:cs typeface="Calibri" pitchFamily="34" charset="-120"/>
              </a:rPr>
              <a:t>…and this repeats for every single student.</a:t>
            </a:r>
            <a:endParaRPr lang="en-US" sz="1250" dirty="0"/>
          </a:p>
        </p:txBody>
      </p:sp>
      <p:sp>
        <p:nvSpPr>
          <p:cNvPr id="21" name="Shape 19"/>
          <p:cNvSpPr/>
          <p:nvPr/>
        </p:nvSpPr>
        <p:spPr>
          <a:xfrm>
            <a:off x="8275320" y="1600200"/>
            <a:ext cx="3383280" cy="4572000"/>
          </a:xfrm>
          <a:prstGeom prst="roundRect">
            <a:avLst>
              <a:gd name="adj" fmla="val 2162"/>
            </a:avLst>
          </a:prstGeom>
          <a:solidFill>
            <a:srgbClr val="1C2129"/>
          </a:solidFill>
          <a:ln w="12700">
            <a:solidFill>
              <a:srgbClr val="30363D"/>
            </a:solidFill>
            <a:prstDash val="solid"/>
          </a:ln>
        </p:spPr>
      </p:sp>
      <p:sp>
        <p:nvSpPr>
          <p:cNvPr id="22" name="Text 20"/>
          <p:cNvSpPr txBox="1"/>
          <p:nvPr/>
        </p:nvSpPr>
        <p:spPr>
          <a:xfrm>
            <a:off x="8549640" y="1783080"/>
            <a:ext cx="2880360" cy="548640"/>
          </a:xfrm>
          <a:prstGeom prst="rect">
            <a:avLst/>
          </a:prstGeom>
          <a:noFill/>
          <a:ln/>
        </p:spPr>
        <p:txBody>
          <a:bodyPr wrap="square" lIns="0" tIns="0" rIns="0" bIns="0" rtlCol="0" anchor="ctr"/>
          <a:lstStyle/>
          <a:p>
            <a:pPr indent="0" marL="0">
              <a:buNone/>
            </a:pPr>
            <a:r>
              <a:rPr lang="en-US" sz="1250" b="1" dirty="0">
                <a:solidFill>
                  <a:srgbClr val="58A6FF"/>
                </a:solidFill>
                <a:latin typeface="Courier New" pitchFamily="34" charset="0"/>
                <a:ea typeface="Courier New" pitchFamily="34" charset="-122"/>
                <a:cs typeface="Courier New" pitchFamily="34" charset="-120"/>
              </a:rPr>
              <a:t>OOP GROUPS RELATED DATA</a:t>
            </a:r>
            <a:endParaRPr lang="en-US" sz="1250" dirty="0"/>
          </a:p>
          <a:p>
            <a:pPr indent="0" marL="0">
              <a:buNone/>
            </a:pPr>
            <a:r>
              <a:rPr lang="en-US" sz="1250" b="1" dirty="0">
                <a:solidFill>
                  <a:srgbClr val="58A6FF"/>
                </a:solidFill>
                <a:latin typeface="Courier New" pitchFamily="34" charset="0"/>
                <a:ea typeface="Courier New" pitchFamily="34" charset="-122"/>
                <a:cs typeface="Courier New" pitchFamily="34" charset="-120"/>
              </a:rPr>
              <a:t>INTO ONE UNIT</a:t>
            </a:r>
            <a:endParaRPr lang="en-US" sz="1250" dirty="0"/>
          </a:p>
        </p:txBody>
      </p:sp>
      <p:sp>
        <p:nvSpPr>
          <p:cNvPr id="23" name="Shape 21"/>
          <p:cNvSpPr/>
          <p:nvPr/>
        </p:nvSpPr>
        <p:spPr>
          <a:xfrm>
            <a:off x="8549640" y="2468880"/>
            <a:ext cx="2834640" cy="777240"/>
          </a:xfrm>
          <a:prstGeom prst="roundRect">
            <a:avLst>
              <a:gd name="adj" fmla="val 9412"/>
            </a:avLst>
          </a:prstGeom>
          <a:solidFill>
            <a:srgbClr val="161B22"/>
          </a:solidFill>
          <a:ln w="12700">
            <a:solidFill>
              <a:srgbClr val="4B8BBE"/>
            </a:solidFill>
            <a:prstDash val="solid"/>
          </a:ln>
        </p:spPr>
      </p:sp>
      <p:sp>
        <p:nvSpPr>
          <p:cNvPr id="24" name="Text 22"/>
          <p:cNvSpPr txBox="1"/>
          <p:nvPr/>
        </p:nvSpPr>
        <p:spPr>
          <a:xfrm>
            <a:off x="8732520" y="2560320"/>
            <a:ext cx="2468880" cy="274320"/>
          </a:xfrm>
          <a:prstGeom prst="rect">
            <a:avLst/>
          </a:prstGeom>
          <a:noFill/>
          <a:ln/>
        </p:spPr>
        <p:txBody>
          <a:bodyPr wrap="square" lIns="0" tIns="0" rIns="0" bIns="0" rtlCol="0" anchor="ctr"/>
          <a:lstStyle/>
          <a:p>
            <a:pPr indent="0" marL="0">
              <a:buNone/>
            </a:pPr>
            <a:r>
              <a:rPr lang="en-US" sz="1400" b="1" dirty="0">
                <a:solidFill>
                  <a:srgbClr val="E6EDF3"/>
                </a:solidFill>
                <a:latin typeface="Courier New" pitchFamily="34" charset="0"/>
                <a:ea typeface="Courier New" pitchFamily="34" charset="-122"/>
                <a:cs typeface="Courier New" pitchFamily="34" charset="-120"/>
              </a:rPr>
              <a:t>Object</a:t>
            </a:r>
            <a:endParaRPr lang="en-US" sz="1400" dirty="0"/>
          </a:p>
        </p:txBody>
      </p:sp>
      <p:sp>
        <p:nvSpPr>
          <p:cNvPr id="25" name="Shape 23"/>
          <p:cNvSpPr/>
          <p:nvPr/>
        </p:nvSpPr>
        <p:spPr>
          <a:xfrm>
            <a:off x="9966960" y="3246120"/>
            <a:ext cx="0" cy="320040"/>
          </a:xfrm>
          <a:prstGeom prst="line">
            <a:avLst/>
          </a:prstGeom>
          <a:noFill/>
          <a:ln w="19050">
            <a:solidFill>
              <a:srgbClr val="6E7681"/>
            </a:solidFill>
            <a:prstDash val="solid"/>
            <a:tailEnd type="triangle"/>
          </a:ln>
        </p:spPr>
      </p:sp>
      <p:sp>
        <p:nvSpPr>
          <p:cNvPr id="26" name="Shape 24"/>
          <p:cNvSpPr/>
          <p:nvPr/>
        </p:nvSpPr>
        <p:spPr>
          <a:xfrm>
            <a:off x="8549640" y="3611880"/>
            <a:ext cx="1325880" cy="822960"/>
          </a:xfrm>
          <a:prstGeom prst="roundRect">
            <a:avLst>
              <a:gd name="adj" fmla="val 8889"/>
            </a:avLst>
          </a:prstGeom>
          <a:solidFill>
            <a:srgbClr val="161B22"/>
          </a:solidFill>
          <a:ln w="12700">
            <a:solidFill>
              <a:srgbClr val="30363D"/>
            </a:solidFill>
            <a:prstDash val="solid"/>
          </a:ln>
        </p:spPr>
      </p:sp>
      <p:sp>
        <p:nvSpPr>
          <p:cNvPr id="27" name="Text 25"/>
          <p:cNvSpPr txBox="1"/>
          <p:nvPr/>
        </p:nvSpPr>
        <p:spPr>
          <a:xfrm>
            <a:off x="8686800" y="3703320"/>
            <a:ext cx="1051560" cy="274320"/>
          </a:xfrm>
          <a:prstGeom prst="rect">
            <a:avLst/>
          </a:prstGeom>
          <a:noFill/>
          <a:ln/>
        </p:spPr>
        <p:txBody>
          <a:bodyPr wrap="square" lIns="0" tIns="0" rIns="0" bIns="0" rtlCol="0" anchor="ctr"/>
          <a:lstStyle/>
          <a:p>
            <a:pPr indent="0" marL="0">
              <a:buNone/>
            </a:pPr>
            <a:r>
              <a:rPr lang="en-US" sz="1100" b="1" dirty="0">
                <a:solidFill>
                  <a:srgbClr val="FFD43B"/>
                </a:solidFill>
                <a:latin typeface="Courier New" pitchFamily="34" charset="0"/>
                <a:ea typeface="Courier New" pitchFamily="34" charset="-122"/>
                <a:cs typeface="Courier New" pitchFamily="34" charset="-120"/>
              </a:rPr>
              <a:t>STATE</a:t>
            </a:r>
            <a:endParaRPr lang="en-US" sz="1100" dirty="0"/>
          </a:p>
        </p:txBody>
      </p:sp>
      <p:sp>
        <p:nvSpPr>
          <p:cNvPr id="28" name="Text 26"/>
          <p:cNvSpPr txBox="1"/>
          <p:nvPr/>
        </p:nvSpPr>
        <p:spPr>
          <a:xfrm>
            <a:off x="8686800" y="3977640"/>
            <a:ext cx="1097280" cy="41148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attributes /</a:t>
            </a:r>
            <a:endParaRPr lang="en-US" sz="1050" dirty="0"/>
          </a:p>
          <a:p>
            <a:pPr indent="0" marL="0">
              <a:buNone/>
            </a:pPr>
            <a:r>
              <a:rPr lang="en-US" sz="1050" dirty="0">
                <a:solidFill>
                  <a:srgbClr val="8B949E"/>
                </a:solidFill>
                <a:latin typeface="Calibri" pitchFamily="34" charset="0"/>
                <a:ea typeface="Calibri" pitchFamily="34" charset="-122"/>
                <a:cs typeface="Calibri" pitchFamily="34" charset="-120"/>
              </a:rPr>
              <a:t>data</a:t>
            </a:r>
            <a:endParaRPr lang="en-US" sz="1050" dirty="0"/>
          </a:p>
        </p:txBody>
      </p:sp>
      <p:sp>
        <p:nvSpPr>
          <p:cNvPr id="29" name="Shape 27"/>
          <p:cNvSpPr/>
          <p:nvPr/>
        </p:nvSpPr>
        <p:spPr>
          <a:xfrm>
            <a:off x="10058400" y="3611880"/>
            <a:ext cx="1325880" cy="822960"/>
          </a:xfrm>
          <a:prstGeom prst="roundRect">
            <a:avLst>
              <a:gd name="adj" fmla="val 8889"/>
            </a:avLst>
          </a:prstGeom>
          <a:solidFill>
            <a:srgbClr val="161B22"/>
          </a:solidFill>
          <a:ln w="12700">
            <a:solidFill>
              <a:srgbClr val="30363D"/>
            </a:solidFill>
            <a:prstDash val="solid"/>
          </a:ln>
        </p:spPr>
      </p:sp>
      <p:sp>
        <p:nvSpPr>
          <p:cNvPr id="30" name="Text 28"/>
          <p:cNvSpPr txBox="1"/>
          <p:nvPr/>
        </p:nvSpPr>
        <p:spPr>
          <a:xfrm>
            <a:off x="10195560" y="3703320"/>
            <a:ext cx="1097280" cy="274320"/>
          </a:xfrm>
          <a:prstGeom prst="rect">
            <a:avLst/>
          </a:prstGeom>
          <a:noFill/>
          <a:ln/>
        </p:spPr>
        <p:txBody>
          <a:bodyPr wrap="square" lIns="0" tIns="0" rIns="0" bIns="0" rtlCol="0" anchor="ctr"/>
          <a:lstStyle/>
          <a:p>
            <a:pPr indent="0" marL="0">
              <a:buNone/>
            </a:pPr>
            <a:r>
              <a:rPr lang="en-US" sz="1100" b="1" dirty="0">
                <a:solidFill>
                  <a:srgbClr val="3FB950"/>
                </a:solidFill>
                <a:latin typeface="Courier New" pitchFamily="34" charset="0"/>
                <a:ea typeface="Courier New" pitchFamily="34" charset="-122"/>
                <a:cs typeface="Courier New" pitchFamily="34" charset="-120"/>
              </a:rPr>
              <a:t>BEHAVIOR</a:t>
            </a:r>
            <a:endParaRPr lang="en-US" sz="1100" dirty="0"/>
          </a:p>
        </p:txBody>
      </p:sp>
      <p:sp>
        <p:nvSpPr>
          <p:cNvPr id="31" name="Text 29"/>
          <p:cNvSpPr txBox="1"/>
          <p:nvPr/>
        </p:nvSpPr>
        <p:spPr>
          <a:xfrm>
            <a:off x="10195560" y="3977640"/>
            <a:ext cx="1097280" cy="41148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methods /</a:t>
            </a:r>
            <a:endParaRPr lang="en-US" sz="1050" dirty="0"/>
          </a:p>
          <a:p>
            <a:pPr indent="0" marL="0">
              <a:buNone/>
            </a:pPr>
            <a:r>
              <a:rPr lang="en-US" sz="1050" dirty="0">
                <a:solidFill>
                  <a:srgbClr val="8B949E"/>
                </a:solidFill>
                <a:latin typeface="Calibri" pitchFamily="34" charset="0"/>
                <a:ea typeface="Calibri" pitchFamily="34" charset="-122"/>
                <a:cs typeface="Calibri" pitchFamily="34" charset="-120"/>
              </a:rPr>
              <a:t>actions</a:t>
            </a:r>
            <a:endParaRPr lang="en-US" sz="1050" dirty="0"/>
          </a:p>
        </p:txBody>
      </p:sp>
      <p:sp>
        <p:nvSpPr>
          <p:cNvPr id="32" name="Text 30"/>
          <p:cNvSpPr txBox="1"/>
          <p:nvPr/>
        </p:nvSpPr>
        <p:spPr>
          <a:xfrm>
            <a:off x="8549640" y="4663440"/>
            <a:ext cx="2834640" cy="1188720"/>
          </a:xfrm>
          <a:prstGeom prst="rect">
            <a:avLst/>
          </a:prstGeom>
          <a:noFill/>
          <a:ln/>
        </p:spPr>
        <p:txBody>
          <a:bodyPr wrap="square" lIns="0" tIns="0" rIns="0" bIns="0" rtlCol="0" anchor="ctr"/>
          <a:lstStyle/>
          <a:p>
            <a:pPr indent="0" marL="0">
              <a:buNone/>
            </a:pPr>
            <a:r>
              <a:rPr lang="en-US" sz="1200" i="1" dirty="0">
                <a:solidFill>
                  <a:srgbClr val="8B949E"/>
                </a:solidFill>
                <a:latin typeface="Calibri" pitchFamily="34" charset="0"/>
                <a:ea typeface="Calibri" pitchFamily="34" charset="-122"/>
                <a:cs typeface="Calibri" pitchFamily="34" charset="-120"/>
              </a:rPr>
              <a:t>A class gives us a repeatable, structured way to create such objects.</a:t>
            </a:r>
            <a:endParaRPr lang="en-US" sz="1200" dirty="0"/>
          </a:p>
        </p:txBody>
      </p:sp>
      <p:sp>
        <p:nvSpPr>
          <p:cNvPr id="33" name="Text 31"/>
          <p:cNvSpPr txBox="1"/>
          <p:nvPr/>
        </p:nvSpPr>
        <p:spPr>
          <a:xfrm>
            <a:off x="10728655" y="502920"/>
            <a:ext cx="914400" cy="274320"/>
          </a:xfrm>
          <a:prstGeom prst="rect">
            <a:avLst/>
          </a:prstGeom>
          <a:noFill/>
          <a:ln/>
        </p:spPr>
        <p:txBody>
          <a:bodyPr wrap="square" lIns="0" tIns="0" rIns="0" bIns="0" rtlCol="0" anchor="ctr"/>
          <a:lstStyle/>
          <a:p>
            <a:pPr algn="r" indent="0" marL="0">
              <a:buNone/>
            </a:pPr>
            <a:r>
              <a:rPr lang="en-US" sz="900" dirty="0">
                <a:solidFill>
                  <a:srgbClr val="6E7681"/>
                </a:solidFill>
                <a:latin typeface="Courier New" pitchFamily="34" charset="0"/>
                <a:ea typeface="Courier New" pitchFamily="34" charset="-122"/>
                <a:cs typeface="Courier New" pitchFamily="34" charset="-120"/>
              </a:rPr>
              <a:t>02 / 14</a:t>
            </a:r>
            <a:endParaRPr lang="en-US" sz="900" dirty="0"/>
          </a:p>
        </p:txBody>
      </p:sp>
      <p:sp>
        <p:nvSpPr>
          <p:cNvPr id="34" name="Shape 32"/>
          <p:cNvSpPr/>
          <p:nvPr/>
        </p:nvSpPr>
        <p:spPr>
          <a:xfrm>
            <a:off x="9357055" y="6291072"/>
            <a:ext cx="2286000" cy="365760"/>
          </a:xfrm>
          <a:prstGeom prst="roundRect">
            <a:avLst>
              <a:gd name="adj" fmla="val 15000"/>
            </a:avLst>
          </a:prstGeom>
          <a:solidFill>
            <a:srgbClr val="1C2129"/>
          </a:solidFill>
          <a:ln w="9525">
            <a:solidFill>
              <a:srgbClr val="30363D"/>
            </a:solidFill>
            <a:prstDash val="solid"/>
          </a:ln>
        </p:spPr>
      </p:sp>
      <p:sp>
        <p:nvSpPr>
          <p:cNvPr id="35" name="Text 33"/>
          <p:cNvSpPr txBox="1"/>
          <p:nvPr/>
        </p:nvSpPr>
        <p:spPr>
          <a:xfrm>
            <a:off x="9357055" y="6291072"/>
            <a:ext cx="2286000" cy="365760"/>
          </a:xfrm>
          <a:prstGeom prst="rect">
            <a:avLst/>
          </a:prstGeom>
          <a:noFill/>
          <a:ln/>
        </p:spPr>
        <p:txBody>
          <a:bodyPr wrap="square" lIns="0" tIns="0" rIns="0" bIns="0" rtlCol="0" anchor="ctr"/>
          <a:lstStyle/>
          <a:p>
            <a:pPr algn="ctr" indent="0" marL="0">
              <a:buNone/>
            </a:pPr>
            <a:r>
              <a:rPr lang="en-US" sz="1000" dirty="0">
                <a:solidFill>
                  <a:srgbClr val="3FB950"/>
                </a:solidFill>
                <a:latin typeface="Courier New" pitchFamily="34" charset="0"/>
                <a:ea typeface="Courier New" pitchFamily="34" charset="-122"/>
                <a:cs typeface="Courier New" pitchFamily="34" charset="-120"/>
              </a:rPr>
              <a:t>▶ </a:t>
            </a:r>
            <a:pPr algn="ctr" indent="0" marL="0">
              <a:buNone/>
            </a:pPr>
            <a:r>
              <a:rPr lang="en-US" sz="1000" dirty="0">
                <a:solidFill>
                  <a:srgbClr val="8B949E"/>
                </a:solidFill>
                <a:latin typeface="Courier New" pitchFamily="34" charset="0"/>
                <a:ea typeface="Courier New" pitchFamily="34" charset="-122"/>
                <a:cs typeface="Courier New" pitchFamily="34" charset="-120"/>
              </a:rPr>
              <a:t>concept only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B8BBE"/>
                </a:solidFill>
                <a:latin typeface="Courier New" pitchFamily="34" charset="0"/>
                <a:ea typeface="Courier New" pitchFamily="34" charset="-122"/>
                <a:cs typeface="Courier New" pitchFamily="34" charset="-120"/>
              </a:rPr>
              <a:t>02 · FOUNDATIONS</a:t>
            </a:r>
            <a:endParaRPr lang="en-US" sz="1200" dirty="0"/>
          </a:p>
        </p:txBody>
      </p:sp>
      <p:sp>
        <p:nvSpPr>
          <p:cNvPr id="3" name="Text 1"/>
          <p:cNvSpPr txBox="1"/>
          <p:nvPr/>
        </p:nvSpPr>
        <p:spPr>
          <a:xfrm>
            <a:off x="548640" y="777240"/>
            <a:ext cx="11094415" cy="822960"/>
          </a:xfrm>
          <a:prstGeom prst="rect">
            <a:avLst/>
          </a:prstGeom>
          <a:noFill/>
          <a:ln/>
        </p:spPr>
        <p:txBody>
          <a:bodyPr wrap="square" lIns="0" tIns="0" rIns="0" bIns="0" rtlCol="0" anchor="ctr"/>
          <a:lstStyle/>
          <a:p>
            <a:pPr indent="0" marL="0">
              <a:buNone/>
            </a:pPr>
            <a:r>
              <a:rPr lang="en-US" sz="3200" b="1" dirty="0">
                <a:solidFill>
                  <a:srgbClr val="E6EDF3"/>
                </a:solidFill>
                <a:latin typeface="Consolas" pitchFamily="34" charset="0"/>
                <a:ea typeface="Consolas" pitchFamily="34" charset="-122"/>
                <a:cs typeface="Consolas" pitchFamily="34" charset="-120"/>
              </a:rPr>
              <a:t>What Is a Class?</a:t>
            </a:r>
            <a:endParaRPr lang="en-US" sz="3200" dirty="0"/>
          </a:p>
        </p:txBody>
      </p:sp>
      <p:sp>
        <p:nvSpPr>
          <p:cNvPr id="4" name="Text 2"/>
          <p:cNvSpPr txBox="1"/>
          <p:nvPr/>
        </p:nvSpPr>
        <p:spPr>
          <a:xfrm>
            <a:off x="548640" y="1600200"/>
            <a:ext cx="6949440" cy="548640"/>
          </a:xfrm>
          <a:prstGeom prst="rect">
            <a:avLst/>
          </a:prstGeom>
          <a:noFill/>
          <a:ln/>
        </p:spPr>
        <p:txBody>
          <a:bodyPr wrap="square" lIns="0" tIns="0" rIns="0" bIns="0" rtlCol="0" anchor="ctr"/>
          <a:lstStyle/>
          <a:p>
            <a:pPr indent="0" marL="0">
              <a:buNone/>
            </a:pPr>
            <a:r>
              <a:rPr lang="en-US" sz="1700" i="1" dirty="0">
                <a:solidFill>
                  <a:srgbClr val="E6EDF3"/>
                </a:solidFill>
                <a:latin typeface="Calibri" pitchFamily="34" charset="0"/>
                <a:ea typeface="Calibri" pitchFamily="34" charset="-122"/>
                <a:cs typeface="Calibri" pitchFamily="34" charset="-120"/>
              </a:rPr>
              <a:t>A class defines the structure and behavior that its objects can have.</a:t>
            </a:r>
            <a:endParaRPr lang="en-US" sz="1700" dirty="0"/>
          </a:p>
        </p:txBody>
      </p:sp>
      <p:sp>
        <p:nvSpPr>
          <p:cNvPr id="5" name="Shape 3"/>
          <p:cNvSpPr/>
          <p:nvPr/>
        </p:nvSpPr>
        <p:spPr>
          <a:xfrm>
            <a:off x="548640" y="2331720"/>
            <a:ext cx="5120640" cy="1417320"/>
          </a:xfrm>
          <a:prstGeom prst="roundRect">
            <a:avLst>
              <a:gd name="adj" fmla="val 5161"/>
            </a:avLst>
          </a:prstGeom>
          <a:solidFill>
            <a:srgbClr val="161B22"/>
          </a:solidFill>
          <a:ln w="12700">
            <a:solidFill>
              <a:srgbClr val="30363D"/>
            </a:solidFill>
            <a:prstDash val="solid"/>
          </a:ln>
        </p:spPr>
      </p:sp>
      <p:sp>
        <p:nvSpPr>
          <p:cNvPr id="6" name="Shape 4"/>
          <p:cNvSpPr/>
          <p:nvPr/>
        </p:nvSpPr>
        <p:spPr>
          <a:xfrm>
            <a:off x="749808" y="2496312"/>
            <a:ext cx="100584" cy="100584"/>
          </a:xfrm>
          <a:prstGeom prst="ellipse">
            <a:avLst/>
          </a:prstGeom>
          <a:solidFill>
            <a:srgbClr val="F85149"/>
          </a:solidFill>
          <a:ln/>
        </p:spPr>
      </p:sp>
      <p:sp>
        <p:nvSpPr>
          <p:cNvPr id="7" name="Shape 5"/>
          <p:cNvSpPr/>
          <p:nvPr/>
        </p:nvSpPr>
        <p:spPr>
          <a:xfrm>
            <a:off x="950976" y="2496312"/>
            <a:ext cx="100584" cy="100584"/>
          </a:xfrm>
          <a:prstGeom prst="ellipse">
            <a:avLst/>
          </a:prstGeom>
          <a:solidFill>
            <a:srgbClr val="FFD43B"/>
          </a:solidFill>
          <a:ln/>
        </p:spPr>
      </p:sp>
      <p:sp>
        <p:nvSpPr>
          <p:cNvPr id="8" name="Shape 6"/>
          <p:cNvSpPr/>
          <p:nvPr/>
        </p:nvSpPr>
        <p:spPr>
          <a:xfrm>
            <a:off x="1152144" y="2496312"/>
            <a:ext cx="100584" cy="100584"/>
          </a:xfrm>
          <a:prstGeom prst="ellipse">
            <a:avLst/>
          </a:prstGeom>
          <a:solidFill>
            <a:srgbClr val="3FB950"/>
          </a:solidFill>
          <a:ln/>
        </p:spPr>
      </p:sp>
      <p:sp>
        <p:nvSpPr>
          <p:cNvPr id="9" name="Text 7"/>
          <p:cNvSpPr txBox="1"/>
          <p:nvPr/>
        </p:nvSpPr>
        <p:spPr>
          <a:xfrm>
            <a:off x="868680" y="2715768"/>
            <a:ext cx="4572000" cy="354330"/>
          </a:xfrm>
          <a:prstGeom prst="rect">
            <a:avLst/>
          </a:prstGeom>
          <a:noFill/>
          <a:ln/>
        </p:spPr>
        <p:txBody>
          <a:bodyPr wrap="square" lIns="0" tIns="0" rIns="0" bIns="0" rtlCol="0" anchor="t"/>
          <a:lstStyle/>
          <a:p>
            <a:pPr indent="0" marL="0">
              <a:buNone/>
            </a:pPr>
            <a:r>
              <a:rPr lang="en-US" sz="1800" b="1" dirty="0">
                <a:solidFill>
                  <a:srgbClr val="4B8BBE"/>
                </a:solidFill>
                <a:latin typeface="Courier New" pitchFamily="34" charset="0"/>
                <a:ea typeface="Courier New" pitchFamily="34" charset="-122"/>
                <a:cs typeface="Courier New" pitchFamily="34" charset="-120"/>
              </a:rPr>
              <a:t>class</a:t>
            </a:r>
            <a:pPr indent="0" marL="0">
              <a:buNone/>
            </a:pPr>
            <a:r>
              <a:rPr lang="en-US" sz="1800" dirty="0">
                <a:solidFill>
                  <a:srgbClr val="E6EDF3"/>
                </a:solidFill>
                <a:latin typeface="Courier New" pitchFamily="34" charset="0"/>
                <a:ea typeface="Courier New" pitchFamily="34" charset="-122"/>
                <a:cs typeface="Courier New" pitchFamily="34" charset="-120"/>
              </a:rPr>
              <a:t> </a:t>
            </a:r>
            <a:pPr indent="0" marL="0">
              <a:buNone/>
            </a:pPr>
            <a:r>
              <a:rPr lang="en-US" sz="1800" dirty="0">
                <a:solidFill>
                  <a:srgbClr val="58A6FF"/>
                </a:solidFill>
                <a:latin typeface="Courier New" pitchFamily="34" charset="0"/>
                <a:ea typeface="Courier New" pitchFamily="34" charset="-122"/>
                <a:cs typeface="Courier New" pitchFamily="34" charset="-120"/>
              </a:rPr>
              <a:t>Student</a:t>
            </a:r>
            <a:pPr indent="0" marL="0">
              <a:buNone/>
            </a:pPr>
            <a:r>
              <a:rPr lang="en-US" sz="1800" dirty="0">
                <a:solidFill>
                  <a:srgbClr val="E6EDF3"/>
                </a:solidFill>
                <a:latin typeface="Courier New" pitchFamily="34" charset="0"/>
                <a:ea typeface="Courier New" pitchFamily="34" charset="-122"/>
                <a:cs typeface="Courier New" pitchFamily="34" charset="-120"/>
              </a:rPr>
              <a:t>:</a:t>
            </a:r>
            <a:endParaRPr lang="en-US" sz="1800" dirty="0"/>
          </a:p>
        </p:txBody>
      </p:sp>
      <p:sp>
        <p:nvSpPr>
          <p:cNvPr id="10" name="Text 8"/>
          <p:cNvSpPr txBox="1"/>
          <p:nvPr/>
        </p:nvSpPr>
        <p:spPr>
          <a:xfrm>
            <a:off x="868680" y="3070098"/>
            <a:ext cx="4572000" cy="354330"/>
          </a:xfrm>
          <a:prstGeom prst="rect">
            <a:avLst/>
          </a:prstGeom>
          <a:noFill/>
          <a:ln/>
        </p:spPr>
        <p:txBody>
          <a:bodyPr wrap="square" lIns="0" tIns="0" rIns="0" bIns="0" rtlCol="0" anchor="t"/>
          <a:lstStyle/>
          <a:p>
            <a:pPr indent="0" marL="0">
              <a:buNone/>
            </a:pPr>
            <a:r>
              <a:rPr lang="en-US" sz="1800" dirty="0">
                <a:solidFill>
                  <a:srgbClr val="E6EDF3"/>
                </a:solidFill>
                <a:latin typeface="Courier New" pitchFamily="34" charset="0"/>
                <a:ea typeface="Courier New" pitchFamily="34" charset="-122"/>
                <a:cs typeface="Courier New" pitchFamily="34" charset="-120"/>
              </a:rPr>
              <a:t>    </a:t>
            </a:r>
            <a:pPr indent="0" marL="0">
              <a:buNone/>
            </a:pPr>
            <a:r>
              <a:rPr lang="en-US" sz="1800" b="1" dirty="0">
                <a:solidFill>
                  <a:srgbClr val="4B8BBE"/>
                </a:solidFill>
                <a:latin typeface="Courier New" pitchFamily="34" charset="0"/>
                <a:ea typeface="Courier New" pitchFamily="34" charset="-122"/>
                <a:cs typeface="Courier New" pitchFamily="34" charset="-120"/>
              </a:rPr>
              <a:t>pass</a:t>
            </a:r>
            <a:endParaRPr lang="en-US" sz="1800" dirty="0"/>
          </a:p>
        </p:txBody>
      </p:sp>
      <p:sp>
        <p:nvSpPr>
          <p:cNvPr id="11" name="Text 9"/>
          <p:cNvSpPr txBox="1"/>
          <p:nvPr/>
        </p:nvSpPr>
        <p:spPr>
          <a:xfrm>
            <a:off x="548640" y="3931920"/>
            <a:ext cx="5120640" cy="822960"/>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A class body with `pass` is still a complete, valid class — it simply</a:t>
            </a:r>
            <a:endParaRPr lang="en-US" sz="1300" dirty="0"/>
          </a:p>
          <a:p>
            <a:pPr indent="0" marL="0">
              <a:buNone/>
            </a:pPr>
            <a:r>
              <a:rPr lang="en-US" sz="1300" dirty="0">
                <a:solidFill>
                  <a:srgbClr val="8B949E"/>
                </a:solidFill>
                <a:latin typeface="Calibri" pitchFamily="34" charset="0"/>
                <a:ea typeface="Calibri" pitchFamily="34" charset="-122"/>
                <a:cs typeface="Calibri" pitchFamily="34" charset="-120"/>
              </a:rPr>
              <a:t>adds no attributes or methods yet.</a:t>
            </a:r>
            <a:endParaRPr lang="en-US" sz="1300" dirty="0"/>
          </a:p>
        </p:txBody>
      </p:sp>
      <p:sp>
        <p:nvSpPr>
          <p:cNvPr id="12" name="Shape 10"/>
          <p:cNvSpPr/>
          <p:nvPr/>
        </p:nvSpPr>
        <p:spPr>
          <a:xfrm>
            <a:off x="6675120" y="1600200"/>
            <a:ext cx="4937760" cy="685800"/>
          </a:xfrm>
          <a:prstGeom prst="roundRect">
            <a:avLst>
              <a:gd name="adj" fmla="val 10667"/>
            </a:avLst>
          </a:prstGeom>
          <a:solidFill>
            <a:srgbClr val="161B22"/>
          </a:solidFill>
          <a:ln w="12700">
            <a:solidFill>
              <a:srgbClr val="4B8BBE"/>
            </a:solidFill>
            <a:prstDash val="solid"/>
          </a:ln>
        </p:spPr>
      </p:sp>
      <p:sp>
        <p:nvSpPr>
          <p:cNvPr id="13" name="Text 11"/>
          <p:cNvSpPr txBox="1"/>
          <p:nvPr/>
        </p:nvSpPr>
        <p:spPr>
          <a:xfrm>
            <a:off x="6675120" y="1600200"/>
            <a:ext cx="4937760" cy="685800"/>
          </a:xfrm>
          <a:prstGeom prst="rect">
            <a:avLst/>
          </a:prstGeom>
          <a:noFill/>
          <a:ln/>
        </p:spPr>
        <p:txBody>
          <a:bodyPr wrap="square" lIns="0" tIns="0" rIns="0" bIns="0" rtlCol="0" anchor="ctr"/>
          <a:lstStyle/>
          <a:p>
            <a:pPr algn="ctr" indent="0" marL="0">
              <a:buNone/>
            </a:pPr>
            <a:r>
              <a:rPr lang="en-US" sz="1600" b="1" dirty="0">
                <a:solidFill>
                  <a:srgbClr val="4B8BBE"/>
                </a:solidFill>
                <a:latin typeface="Courier New" pitchFamily="34" charset="0"/>
                <a:ea typeface="Courier New" pitchFamily="34" charset="-122"/>
                <a:cs typeface="Courier New" pitchFamily="34" charset="-120"/>
              </a:rPr>
              <a:t>CLASS</a:t>
            </a:r>
            <a:endParaRPr lang="en-US" sz="1600" dirty="0"/>
          </a:p>
        </p:txBody>
      </p:sp>
      <p:sp>
        <p:nvSpPr>
          <p:cNvPr id="14" name="Shape 12"/>
          <p:cNvSpPr/>
          <p:nvPr/>
        </p:nvSpPr>
        <p:spPr>
          <a:xfrm>
            <a:off x="9144000" y="2331720"/>
            <a:ext cx="0" cy="365760"/>
          </a:xfrm>
          <a:prstGeom prst="line">
            <a:avLst/>
          </a:prstGeom>
          <a:noFill/>
          <a:ln w="19050">
            <a:solidFill>
              <a:srgbClr val="6E7681"/>
            </a:solidFill>
            <a:prstDash val="solid"/>
            <a:tailEnd type="triangle"/>
          </a:ln>
        </p:spPr>
      </p:sp>
      <p:sp>
        <p:nvSpPr>
          <p:cNvPr id="15" name="Shape 13"/>
          <p:cNvSpPr/>
          <p:nvPr/>
        </p:nvSpPr>
        <p:spPr>
          <a:xfrm>
            <a:off x="6675120" y="2743200"/>
            <a:ext cx="4937760" cy="685800"/>
          </a:xfrm>
          <a:prstGeom prst="roundRect">
            <a:avLst>
              <a:gd name="adj" fmla="val 10667"/>
            </a:avLst>
          </a:prstGeom>
          <a:solidFill>
            <a:srgbClr val="1C2129"/>
          </a:solidFill>
          <a:ln w="12700">
            <a:solidFill>
              <a:srgbClr val="30363D"/>
            </a:solidFill>
            <a:prstDash val="solid"/>
          </a:ln>
        </p:spPr>
      </p:sp>
      <p:sp>
        <p:nvSpPr>
          <p:cNvPr id="16" name="Text 14"/>
          <p:cNvSpPr txBox="1"/>
          <p:nvPr/>
        </p:nvSpPr>
        <p:spPr>
          <a:xfrm>
            <a:off x="6675120" y="2743200"/>
            <a:ext cx="4937760" cy="685800"/>
          </a:xfrm>
          <a:prstGeom prst="rect">
            <a:avLst/>
          </a:prstGeom>
          <a:noFill/>
          <a:ln/>
        </p:spPr>
        <p:txBody>
          <a:bodyPr wrap="square" lIns="0" tIns="0" rIns="0" bIns="0" rtlCol="0" anchor="ctr"/>
          <a:lstStyle/>
          <a:p>
            <a:pPr algn="ctr" indent="0" marL="0">
              <a:buNone/>
            </a:pPr>
            <a:r>
              <a:rPr lang="en-US" sz="1350" dirty="0">
                <a:solidFill>
                  <a:srgbClr val="E6EDF3"/>
                </a:solidFill>
                <a:latin typeface="Calibri" pitchFamily="34" charset="0"/>
                <a:ea typeface="Calibri" pitchFamily="34" charset="-122"/>
                <a:cs typeface="Calibri" pitchFamily="34" charset="-120"/>
              </a:rPr>
              <a:t>defines structure + behavior</a:t>
            </a:r>
            <a:endParaRPr lang="en-US" sz="1350" dirty="0"/>
          </a:p>
        </p:txBody>
      </p:sp>
      <p:sp>
        <p:nvSpPr>
          <p:cNvPr id="17" name="Shape 15"/>
          <p:cNvSpPr/>
          <p:nvPr/>
        </p:nvSpPr>
        <p:spPr>
          <a:xfrm>
            <a:off x="9144000" y="3474720"/>
            <a:ext cx="0" cy="365760"/>
          </a:xfrm>
          <a:prstGeom prst="line">
            <a:avLst/>
          </a:prstGeom>
          <a:noFill/>
          <a:ln w="19050">
            <a:solidFill>
              <a:srgbClr val="6E7681"/>
            </a:solidFill>
            <a:prstDash val="solid"/>
            <a:tailEnd type="triangle"/>
          </a:ln>
        </p:spPr>
      </p:sp>
      <p:sp>
        <p:nvSpPr>
          <p:cNvPr id="18" name="Shape 16"/>
          <p:cNvSpPr/>
          <p:nvPr/>
        </p:nvSpPr>
        <p:spPr>
          <a:xfrm>
            <a:off x="6675120" y="3886200"/>
            <a:ext cx="4937760" cy="685800"/>
          </a:xfrm>
          <a:prstGeom prst="roundRect">
            <a:avLst>
              <a:gd name="adj" fmla="val 10667"/>
            </a:avLst>
          </a:prstGeom>
          <a:solidFill>
            <a:srgbClr val="1C2129"/>
          </a:solidFill>
          <a:ln w="12700">
            <a:solidFill>
              <a:srgbClr val="30363D"/>
            </a:solidFill>
            <a:prstDash val="solid"/>
          </a:ln>
        </p:spPr>
      </p:sp>
      <p:sp>
        <p:nvSpPr>
          <p:cNvPr id="19" name="Text 17"/>
          <p:cNvSpPr txBox="1"/>
          <p:nvPr/>
        </p:nvSpPr>
        <p:spPr>
          <a:xfrm>
            <a:off x="6675120" y="3886200"/>
            <a:ext cx="4937760" cy="685800"/>
          </a:xfrm>
          <a:prstGeom prst="rect">
            <a:avLst/>
          </a:prstGeom>
          <a:noFill/>
          <a:ln/>
        </p:spPr>
        <p:txBody>
          <a:bodyPr wrap="square" lIns="0" tIns="0" rIns="0" bIns="0" rtlCol="0" anchor="ctr"/>
          <a:lstStyle/>
          <a:p>
            <a:pPr algn="ctr" indent="0" marL="0">
              <a:buNone/>
            </a:pPr>
            <a:r>
              <a:rPr lang="en-US" sz="1350" dirty="0">
                <a:solidFill>
                  <a:srgbClr val="E6EDF3"/>
                </a:solidFill>
                <a:latin typeface="Calibri" pitchFamily="34" charset="0"/>
                <a:ea typeface="Calibri" pitchFamily="34" charset="-122"/>
                <a:cs typeface="Calibri" pitchFamily="34" charset="-120"/>
              </a:rPr>
              <a:t>can create objects</a:t>
            </a:r>
            <a:endParaRPr lang="en-US" sz="1350" dirty="0"/>
          </a:p>
        </p:txBody>
      </p:sp>
      <p:sp>
        <p:nvSpPr>
          <p:cNvPr id="20" name="Text 18"/>
          <p:cNvSpPr txBox="1"/>
          <p:nvPr/>
        </p:nvSpPr>
        <p:spPr>
          <a:xfrm>
            <a:off x="6675120" y="4800600"/>
            <a:ext cx="4937760" cy="822960"/>
          </a:xfrm>
          <a:prstGeom prst="rect">
            <a:avLst/>
          </a:prstGeom>
          <a:noFill/>
          <a:ln/>
        </p:spPr>
        <p:txBody>
          <a:bodyPr wrap="square" lIns="0" tIns="0" rIns="0" bIns="0" rtlCol="0" anchor="ctr"/>
          <a:lstStyle/>
          <a:p>
            <a:pPr indent="0" marL="0">
              <a:buNone/>
            </a:pPr>
            <a:r>
              <a:rPr lang="en-US" sz="1250" i="1" dirty="0">
                <a:solidFill>
                  <a:srgbClr val="8B949E"/>
                </a:solidFill>
                <a:latin typeface="Calibri" pitchFamily="34" charset="0"/>
                <a:ea typeface="Calibri" pitchFamily="34" charset="-122"/>
                <a:cs typeface="Calibri" pitchFamily="34" charset="-120"/>
              </a:rPr>
              <a:t>Blueprint analogy: a class is like a blueprint — it describes what every</a:t>
            </a:r>
            <a:endParaRPr lang="en-US" sz="1250" dirty="0"/>
          </a:p>
          <a:p>
            <a:pPr indent="0" marL="0">
              <a:buNone/>
            </a:pPr>
            <a:r>
              <a:rPr lang="en-US" sz="1250" i="1" dirty="0">
                <a:solidFill>
                  <a:srgbClr val="8B949E"/>
                </a:solidFill>
                <a:latin typeface="Calibri" pitchFamily="34" charset="0"/>
                <a:ea typeface="Calibri" pitchFamily="34" charset="-122"/>
                <a:cs typeface="Calibri" pitchFamily="34" charset="-120"/>
              </a:rPr>
              <a:t>house built from it will have, without being a house itself.</a:t>
            </a:r>
            <a:endParaRPr lang="en-US" sz="1250" dirty="0"/>
          </a:p>
        </p:txBody>
      </p:sp>
      <p:sp>
        <p:nvSpPr>
          <p:cNvPr id="21" name="Text 19"/>
          <p:cNvSpPr txBox="1"/>
          <p:nvPr/>
        </p:nvSpPr>
        <p:spPr>
          <a:xfrm>
            <a:off x="10728655" y="502920"/>
            <a:ext cx="914400" cy="274320"/>
          </a:xfrm>
          <a:prstGeom prst="rect">
            <a:avLst/>
          </a:prstGeom>
          <a:noFill/>
          <a:ln/>
        </p:spPr>
        <p:txBody>
          <a:bodyPr wrap="square" lIns="0" tIns="0" rIns="0" bIns="0" rtlCol="0" anchor="ctr"/>
          <a:lstStyle/>
          <a:p>
            <a:pPr algn="r" indent="0" marL="0">
              <a:buNone/>
            </a:pPr>
            <a:r>
              <a:rPr lang="en-US" sz="900" dirty="0">
                <a:solidFill>
                  <a:srgbClr val="6E7681"/>
                </a:solidFill>
                <a:latin typeface="Courier New" pitchFamily="34" charset="0"/>
                <a:ea typeface="Courier New" pitchFamily="34" charset="-122"/>
                <a:cs typeface="Courier New" pitchFamily="34" charset="-120"/>
              </a:rPr>
              <a:t>03 / 14</a:t>
            </a:r>
            <a:endParaRPr lang="en-US" sz="900" dirty="0"/>
          </a:p>
        </p:txBody>
      </p:sp>
      <p:sp>
        <p:nvSpPr>
          <p:cNvPr id="22" name="Shape 20"/>
          <p:cNvSpPr/>
          <p:nvPr/>
        </p:nvSpPr>
        <p:spPr>
          <a:xfrm>
            <a:off x="9357055" y="6291072"/>
            <a:ext cx="2286000" cy="365760"/>
          </a:xfrm>
          <a:prstGeom prst="roundRect">
            <a:avLst>
              <a:gd name="adj" fmla="val 15000"/>
            </a:avLst>
          </a:prstGeom>
          <a:solidFill>
            <a:srgbClr val="1C2129"/>
          </a:solidFill>
          <a:ln w="9525">
            <a:solidFill>
              <a:srgbClr val="30363D"/>
            </a:solidFill>
            <a:prstDash val="solid"/>
          </a:ln>
        </p:spPr>
      </p:sp>
      <p:sp>
        <p:nvSpPr>
          <p:cNvPr id="23" name="Text 21"/>
          <p:cNvSpPr txBox="1"/>
          <p:nvPr/>
        </p:nvSpPr>
        <p:spPr>
          <a:xfrm>
            <a:off x="9357055" y="6291072"/>
            <a:ext cx="2286000" cy="365760"/>
          </a:xfrm>
          <a:prstGeom prst="rect">
            <a:avLst/>
          </a:prstGeom>
          <a:noFill/>
          <a:ln/>
        </p:spPr>
        <p:txBody>
          <a:bodyPr wrap="square" lIns="0" tIns="0" rIns="0" bIns="0" rtlCol="0" anchor="ctr"/>
          <a:lstStyle/>
          <a:p>
            <a:pPr algn="ctr" indent="0" marL="0">
              <a:buNone/>
            </a:pPr>
            <a:r>
              <a:rPr lang="en-US" sz="1000" dirty="0">
                <a:solidFill>
                  <a:srgbClr val="3FB950"/>
                </a:solidFill>
                <a:latin typeface="Courier New" pitchFamily="34" charset="0"/>
                <a:ea typeface="Courier New" pitchFamily="34" charset="-122"/>
                <a:cs typeface="Courier New" pitchFamily="34" charset="-120"/>
              </a:rPr>
              <a:t>▶ </a:t>
            </a:r>
            <a:pPr algn="ctr" indent="0" marL="0">
              <a:buNone/>
            </a:pPr>
            <a:r>
              <a:rPr lang="en-US" sz="1000" dirty="0">
                <a:solidFill>
                  <a:srgbClr val="8B949E"/>
                </a:solidFill>
                <a:latin typeface="Courier New" pitchFamily="34" charset="0"/>
                <a:ea typeface="Courier New" pitchFamily="34" charset="-122"/>
                <a:cs typeface="Courier New" pitchFamily="34" charset="-120"/>
              </a:rPr>
              <a:t>01_basic_class.py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B8BBE"/>
                </a:solidFill>
                <a:latin typeface="Courier New" pitchFamily="34" charset="0"/>
                <a:ea typeface="Courier New" pitchFamily="34" charset="-122"/>
                <a:cs typeface="Courier New" pitchFamily="34" charset="-120"/>
              </a:rPr>
              <a:t>03 · FOUNDATIONS</a:t>
            </a:r>
            <a:endParaRPr lang="en-US" sz="1200" dirty="0"/>
          </a:p>
        </p:txBody>
      </p:sp>
      <p:sp>
        <p:nvSpPr>
          <p:cNvPr id="3" name="Text 1"/>
          <p:cNvSpPr txBox="1"/>
          <p:nvPr/>
        </p:nvSpPr>
        <p:spPr>
          <a:xfrm>
            <a:off x="548640" y="777240"/>
            <a:ext cx="11094415" cy="822960"/>
          </a:xfrm>
          <a:prstGeom prst="rect">
            <a:avLst/>
          </a:prstGeom>
          <a:noFill/>
          <a:ln/>
        </p:spPr>
        <p:txBody>
          <a:bodyPr wrap="square" lIns="0" tIns="0" rIns="0" bIns="0" rtlCol="0" anchor="ctr"/>
          <a:lstStyle/>
          <a:p>
            <a:pPr indent="0" marL="0">
              <a:buNone/>
            </a:pPr>
            <a:r>
              <a:rPr lang="en-US" sz="3200" b="1" dirty="0">
                <a:solidFill>
                  <a:srgbClr val="E6EDF3"/>
                </a:solidFill>
                <a:latin typeface="Consolas" pitchFamily="34" charset="0"/>
                <a:ea typeface="Consolas" pitchFamily="34" charset="-122"/>
                <a:cs typeface="Consolas" pitchFamily="34" charset="-120"/>
              </a:rPr>
              <a:t>What Is an Object?</a:t>
            </a:r>
            <a:endParaRPr lang="en-US" sz="3200" dirty="0"/>
          </a:p>
        </p:txBody>
      </p:sp>
      <p:sp>
        <p:nvSpPr>
          <p:cNvPr id="4" name="Text 2"/>
          <p:cNvSpPr txBox="1"/>
          <p:nvPr/>
        </p:nvSpPr>
        <p:spPr>
          <a:xfrm>
            <a:off x="548640" y="1600200"/>
            <a:ext cx="6949440" cy="457200"/>
          </a:xfrm>
          <a:prstGeom prst="rect">
            <a:avLst/>
          </a:prstGeom>
          <a:noFill/>
          <a:ln/>
        </p:spPr>
        <p:txBody>
          <a:bodyPr wrap="square" lIns="0" tIns="0" rIns="0" bIns="0" rtlCol="0" anchor="ctr"/>
          <a:lstStyle/>
          <a:p>
            <a:pPr indent="0" marL="0">
              <a:buNone/>
            </a:pPr>
            <a:r>
              <a:rPr lang="en-US" sz="1700" i="1" dirty="0">
                <a:solidFill>
                  <a:srgbClr val="E6EDF3"/>
                </a:solidFill>
                <a:latin typeface="Calibri" pitchFamily="34" charset="0"/>
                <a:ea typeface="Calibri" pitchFamily="34" charset="-122"/>
                <a:cs typeface="Calibri" pitchFamily="34" charset="-120"/>
              </a:rPr>
              <a:t>An object is an instance of a class.</a:t>
            </a:r>
            <a:endParaRPr lang="en-US" sz="1700" dirty="0"/>
          </a:p>
        </p:txBody>
      </p:sp>
      <p:sp>
        <p:nvSpPr>
          <p:cNvPr id="5" name="Shape 3"/>
          <p:cNvSpPr/>
          <p:nvPr/>
        </p:nvSpPr>
        <p:spPr>
          <a:xfrm>
            <a:off x="548640" y="2148840"/>
            <a:ext cx="5029200" cy="1554480"/>
          </a:xfrm>
          <a:prstGeom prst="roundRect">
            <a:avLst>
              <a:gd name="adj" fmla="val 4706"/>
            </a:avLst>
          </a:prstGeom>
          <a:solidFill>
            <a:srgbClr val="161B22"/>
          </a:solidFill>
          <a:ln w="12700">
            <a:solidFill>
              <a:srgbClr val="30363D"/>
            </a:solidFill>
            <a:prstDash val="solid"/>
          </a:ln>
        </p:spPr>
      </p:sp>
      <p:sp>
        <p:nvSpPr>
          <p:cNvPr id="6" name="Shape 4"/>
          <p:cNvSpPr/>
          <p:nvPr/>
        </p:nvSpPr>
        <p:spPr>
          <a:xfrm>
            <a:off x="749808" y="2313432"/>
            <a:ext cx="100584" cy="100584"/>
          </a:xfrm>
          <a:prstGeom prst="ellipse">
            <a:avLst/>
          </a:prstGeom>
          <a:solidFill>
            <a:srgbClr val="F85149"/>
          </a:solidFill>
          <a:ln/>
        </p:spPr>
      </p:sp>
      <p:sp>
        <p:nvSpPr>
          <p:cNvPr id="7" name="Shape 5"/>
          <p:cNvSpPr/>
          <p:nvPr/>
        </p:nvSpPr>
        <p:spPr>
          <a:xfrm>
            <a:off x="950976" y="2313432"/>
            <a:ext cx="100584" cy="100584"/>
          </a:xfrm>
          <a:prstGeom prst="ellipse">
            <a:avLst/>
          </a:prstGeom>
          <a:solidFill>
            <a:srgbClr val="FFD43B"/>
          </a:solidFill>
          <a:ln/>
        </p:spPr>
      </p:sp>
      <p:sp>
        <p:nvSpPr>
          <p:cNvPr id="8" name="Shape 6"/>
          <p:cNvSpPr/>
          <p:nvPr/>
        </p:nvSpPr>
        <p:spPr>
          <a:xfrm>
            <a:off x="1152144" y="2313432"/>
            <a:ext cx="100584" cy="100584"/>
          </a:xfrm>
          <a:prstGeom prst="ellipse">
            <a:avLst/>
          </a:prstGeom>
          <a:solidFill>
            <a:srgbClr val="3FB950"/>
          </a:solidFill>
          <a:ln/>
        </p:spPr>
      </p:sp>
      <p:sp>
        <p:nvSpPr>
          <p:cNvPr id="9" name="Text 7"/>
          <p:cNvSpPr txBox="1"/>
          <p:nvPr/>
        </p:nvSpPr>
        <p:spPr>
          <a:xfrm>
            <a:off x="868680" y="2532888"/>
            <a:ext cx="4480560" cy="354330"/>
          </a:xfrm>
          <a:prstGeom prst="rect">
            <a:avLst/>
          </a:prstGeom>
          <a:noFill/>
          <a:ln/>
        </p:spPr>
        <p:txBody>
          <a:bodyPr wrap="square" lIns="0" tIns="0" rIns="0" bIns="0" rtlCol="0" anchor="t"/>
          <a:lstStyle/>
          <a:p>
            <a:pPr indent="0" marL="0">
              <a:buNone/>
            </a:pPr>
            <a:r>
              <a:rPr lang="en-US" sz="1800" dirty="0">
                <a:solidFill>
                  <a:srgbClr val="58A6FF"/>
                </a:solidFill>
                <a:latin typeface="Courier New" pitchFamily="34" charset="0"/>
                <a:ea typeface="Courier New" pitchFamily="34" charset="-122"/>
                <a:cs typeface="Courier New" pitchFamily="34" charset="-120"/>
              </a:rPr>
              <a:t>student1</a:t>
            </a:r>
            <a:pPr indent="0" marL="0">
              <a:buNone/>
            </a:pPr>
            <a:r>
              <a:rPr lang="en-US" sz="1800" dirty="0">
                <a:solidFill>
                  <a:srgbClr val="E6EDF3"/>
                </a:solidFill>
                <a:latin typeface="Courier New" pitchFamily="34" charset="0"/>
                <a:ea typeface="Courier New" pitchFamily="34" charset="-122"/>
                <a:cs typeface="Courier New" pitchFamily="34" charset="-120"/>
              </a:rPr>
              <a:t> = </a:t>
            </a:r>
            <a:pPr indent="0" marL="0">
              <a:buNone/>
            </a:pPr>
            <a:r>
              <a:rPr lang="en-US" sz="1800" dirty="0">
                <a:solidFill>
                  <a:srgbClr val="58A6FF"/>
                </a:solidFill>
                <a:latin typeface="Courier New" pitchFamily="34" charset="0"/>
                <a:ea typeface="Courier New" pitchFamily="34" charset="-122"/>
                <a:cs typeface="Courier New" pitchFamily="34" charset="-120"/>
              </a:rPr>
              <a:t>Student</a:t>
            </a:r>
            <a:pPr indent="0" marL="0">
              <a:buNone/>
            </a:pPr>
            <a:r>
              <a:rPr lang="en-US" sz="1800" dirty="0">
                <a:solidFill>
                  <a:srgbClr val="E6EDF3"/>
                </a:solidFill>
                <a:latin typeface="Courier New" pitchFamily="34" charset="0"/>
                <a:ea typeface="Courier New" pitchFamily="34" charset="-122"/>
                <a:cs typeface="Courier New" pitchFamily="34" charset="-120"/>
              </a:rPr>
              <a:t>()</a:t>
            </a:r>
            <a:endParaRPr lang="en-US" sz="1800" dirty="0"/>
          </a:p>
        </p:txBody>
      </p:sp>
      <p:sp>
        <p:nvSpPr>
          <p:cNvPr id="10" name="Text 8"/>
          <p:cNvSpPr txBox="1"/>
          <p:nvPr/>
        </p:nvSpPr>
        <p:spPr>
          <a:xfrm>
            <a:off x="868680" y="2887218"/>
            <a:ext cx="4480560" cy="354330"/>
          </a:xfrm>
          <a:prstGeom prst="rect">
            <a:avLst/>
          </a:prstGeom>
          <a:noFill/>
          <a:ln/>
        </p:spPr>
        <p:txBody>
          <a:bodyPr wrap="square" lIns="0" tIns="0" rIns="0" bIns="0" rtlCol="0" anchor="t"/>
          <a:lstStyle/>
          <a:p>
            <a:pPr indent="0" marL="0">
              <a:buNone/>
            </a:pPr>
            <a:r>
              <a:rPr lang="en-US" sz="1800" dirty="0">
                <a:solidFill>
                  <a:srgbClr val="58A6FF"/>
                </a:solidFill>
                <a:latin typeface="Courier New" pitchFamily="34" charset="0"/>
                <a:ea typeface="Courier New" pitchFamily="34" charset="-122"/>
                <a:cs typeface="Courier New" pitchFamily="34" charset="-120"/>
              </a:rPr>
              <a:t>student2</a:t>
            </a:r>
            <a:pPr indent="0" marL="0">
              <a:buNone/>
            </a:pPr>
            <a:r>
              <a:rPr lang="en-US" sz="1800" dirty="0">
                <a:solidFill>
                  <a:srgbClr val="E6EDF3"/>
                </a:solidFill>
                <a:latin typeface="Courier New" pitchFamily="34" charset="0"/>
                <a:ea typeface="Courier New" pitchFamily="34" charset="-122"/>
                <a:cs typeface="Courier New" pitchFamily="34" charset="-120"/>
              </a:rPr>
              <a:t> = </a:t>
            </a:r>
            <a:pPr indent="0" marL="0">
              <a:buNone/>
            </a:pPr>
            <a:r>
              <a:rPr lang="en-US" sz="1800" dirty="0">
                <a:solidFill>
                  <a:srgbClr val="58A6FF"/>
                </a:solidFill>
                <a:latin typeface="Courier New" pitchFamily="34" charset="0"/>
                <a:ea typeface="Courier New" pitchFamily="34" charset="-122"/>
                <a:cs typeface="Courier New" pitchFamily="34" charset="-120"/>
              </a:rPr>
              <a:t>Student</a:t>
            </a:r>
            <a:pPr indent="0" marL="0">
              <a:buNone/>
            </a:pPr>
            <a:r>
              <a:rPr lang="en-US" sz="1800" dirty="0">
                <a:solidFill>
                  <a:srgbClr val="E6EDF3"/>
                </a:solidFill>
                <a:latin typeface="Courier New" pitchFamily="34" charset="0"/>
                <a:ea typeface="Courier New" pitchFamily="34" charset="-122"/>
                <a:cs typeface="Courier New" pitchFamily="34" charset="-120"/>
              </a:rPr>
              <a:t>()</a:t>
            </a:r>
            <a:endParaRPr lang="en-US" sz="1800" dirty="0"/>
          </a:p>
        </p:txBody>
      </p:sp>
      <p:sp>
        <p:nvSpPr>
          <p:cNvPr id="11" name="Text 9"/>
          <p:cNvSpPr txBox="1"/>
          <p:nvPr/>
        </p:nvSpPr>
        <p:spPr>
          <a:xfrm>
            <a:off x="548640" y="3931920"/>
            <a:ext cx="5029200" cy="822960"/>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Each call to Student() produces a distinct object in memory —</a:t>
            </a:r>
            <a:endParaRPr lang="en-US" sz="1300" dirty="0"/>
          </a:p>
          <a:p>
            <a:pPr indent="0" marL="0">
              <a:buNone/>
            </a:pPr>
            <a:r>
              <a:rPr lang="en-US" sz="1300" dirty="0">
                <a:solidFill>
                  <a:srgbClr val="8B949E"/>
                </a:solidFill>
                <a:latin typeface="Calibri" pitchFamily="34" charset="0"/>
                <a:ea typeface="Calibri" pitchFamily="34" charset="-122"/>
                <a:cs typeface="Calibri" pitchFamily="34" charset="-120"/>
              </a:rPr>
              <a:t>student1 is not student2, even though both share the same class.</a:t>
            </a:r>
            <a:endParaRPr lang="en-US" sz="1300" dirty="0"/>
          </a:p>
        </p:txBody>
      </p:sp>
      <p:sp>
        <p:nvSpPr>
          <p:cNvPr id="12" name="Shape 10"/>
          <p:cNvSpPr/>
          <p:nvPr/>
        </p:nvSpPr>
        <p:spPr>
          <a:xfrm>
            <a:off x="8092440" y="1600200"/>
            <a:ext cx="2103120" cy="731520"/>
          </a:xfrm>
          <a:prstGeom prst="roundRect">
            <a:avLst>
              <a:gd name="adj" fmla="val 10000"/>
            </a:avLst>
          </a:prstGeom>
          <a:solidFill>
            <a:srgbClr val="161B22"/>
          </a:solidFill>
          <a:ln w="15875">
            <a:solidFill>
              <a:srgbClr val="4B8BBE"/>
            </a:solidFill>
            <a:prstDash val="solid"/>
          </a:ln>
        </p:spPr>
      </p:sp>
      <p:sp>
        <p:nvSpPr>
          <p:cNvPr id="13" name="Text 11"/>
          <p:cNvSpPr txBox="1"/>
          <p:nvPr/>
        </p:nvSpPr>
        <p:spPr>
          <a:xfrm>
            <a:off x="8092440" y="1645920"/>
            <a:ext cx="2103120" cy="320040"/>
          </a:xfrm>
          <a:prstGeom prst="rect">
            <a:avLst/>
          </a:prstGeom>
          <a:noFill/>
          <a:ln/>
        </p:spPr>
        <p:txBody>
          <a:bodyPr wrap="square" lIns="0" tIns="0" rIns="0" bIns="0" rtlCol="0" anchor="ctr"/>
          <a:lstStyle/>
          <a:p>
            <a:pPr algn="ctr" indent="0" marL="0">
              <a:buNone/>
            </a:pPr>
            <a:r>
              <a:rPr lang="en-US" sz="1450" b="1" dirty="0">
                <a:solidFill>
                  <a:srgbClr val="E6EDF3"/>
                </a:solidFill>
                <a:latin typeface="Courier New" pitchFamily="34" charset="0"/>
                <a:ea typeface="Courier New" pitchFamily="34" charset="-122"/>
                <a:cs typeface="Courier New" pitchFamily="34" charset="-120"/>
              </a:rPr>
              <a:t>Student</a:t>
            </a:r>
            <a:endParaRPr lang="en-US" sz="1450" dirty="0"/>
          </a:p>
        </p:txBody>
      </p:sp>
      <p:sp>
        <p:nvSpPr>
          <p:cNvPr id="14" name="Text 12"/>
          <p:cNvSpPr txBox="1"/>
          <p:nvPr/>
        </p:nvSpPr>
        <p:spPr>
          <a:xfrm>
            <a:off x="8092440" y="1938528"/>
            <a:ext cx="2103120" cy="274320"/>
          </a:xfrm>
          <a:prstGeom prst="rect">
            <a:avLst/>
          </a:prstGeom>
          <a:noFill/>
          <a:ln/>
        </p:spPr>
        <p:txBody>
          <a:bodyPr wrap="square" lIns="0" tIns="0" rIns="0" bIns="0" rtlCol="0" anchor="ctr"/>
          <a:lstStyle/>
          <a:p>
            <a:pPr algn="ctr" indent="0" marL="0">
              <a:buNone/>
            </a:pPr>
            <a:r>
              <a:rPr lang="en-US" sz="1050" dirty="0">
                <a:solidFill>
                  <a:srgbClr val="4B8BBE"/>
                </a:solidFill>
                <a:latin typeface="Courier New" pitchFamily="34" charset="0"/>
                <a:ea typeface="Courier New" pitchFamily="34" charset="-122"/>
                <a:cs typeface="Courier New" pitchFamily="34" charset="-120"/>
              </a:rPr>
              <a:t>CLASS</a:t>
            </a:r>
            <a:endParaRPr lang="en-US" sz="1050" dirty="0"/>
          </a:p>
        </p:txBody>
      </p:sp>
      <p:sp>
        <p:nvSpPr>
          <p:cNvPr id="15" name="Shape 13"/>
          <p:cNvSpPr/>
          <p:nvPr/>
        </p:nvSpPr>
        <p:spPr>
          <a:xfrm>
            <a:off x="8183880" y="2331720"/>
            <a:ext cx="-1005840" cy="685800"/>
          </a:xfrm>
          <a:prstGeom prst="line">
            <a:avLst/>
          </a:prstGeom>
          <a:noFill/>
          <a:ln w="15875">
            <a:solidFill>
              <a:srgbClr val="6E7681"/>
            </a:solidFill>
            <a:prstDash val="solid"/>
            <a:tailEnd type="triangle"/>
          </a:ln>
        </p:spPr>
      </p:sp>
      <p:sp>
        <p:nvSpPr>
          <p:cNvPr id="16" name="Shape 14"/>
          <p:cNvSpPr/>
          <p:nvPr/>
        </p:nvSpPr>
        <p:spPr>
          <a:xfrm>
            <a:off x="10104120" y="2331720"/>
            <a:ext cx="1005840" cy="685800"/>
          </a:xfrm>
          <a:prstGeom prst="line">
            <a:avLst/>
          </a:prstGeom>
          <a:noFill/>
          <a:ln w="15875">
            <a:solidFill>
              <a:srgbClr val="6E7681"/>
            </a:solidFill>
            <a:prstDash val="solid"/>
            <a:tailEnd type="triangle"/>
          </a:ln>
        </p:spPr>
      </p:sp>
      <p:sp>
        <p:nvSpPr>
          <p:cNvPr id="17" name="Shape 15"/>
          <p:cNvSpPr/>
          <p:nvPr/>
        </p:nvSpPr>
        <p:spPr>
          <a:xfrm>
            <a:off x="6537960" y="3063240"/>
            <a:ext cx="1965960" cy="868680"/>
          </a:xfrm>
          <a:prstGeom prst="roundRect">
            <a:avLst>
              <a:gd name="adj" fmla="val 8421"/>
            </a:avLst>
          </a:prstGeom>
          <a:solidFill>
            <a:srgbClr val="1C2129"/>
          </a:solidFill>
          <a:ln w="12700">
            <a:solidFill>
              <a:srgbClr val="30363D"/>
            </a:solidFill>
            <a:prstDash val="solid"/>
          </a:ln>
        </p:spPr>
      </p:sp>
      <p:sp>
        <p:nvSpPr>
          <p:cNvPr id="18" name="Text 16"/>
          <p:cNvSpPr txBox="1"/>
          <p:nvPr/>
        </p:nvSpPr>
        <p:spPr>
          <a:xfrm>
            <a:off x="6537960" y="3127248"/>
            <a:ext cx="1965960" cy="320040"/>
          </a:xfrm>
          <a:prstGeom prst="rect">
            <a:avLst/>
          </a:prstGeom>
          <a:noFill/>
          <a:ln/>
        </p:spPr>
        <p:txBody>
          <a:bodyPr wrap="square" lIns="0" tIns="0" rIns="0" bIns="0" rtlCol="0" anchor="ctr"/>
          <a:lstStyle/>
          <a:p>
            <a:pPr algn="ctr" indent="0" marL="0">
              <a:buNone/>
            </a:pPr>
            <a:r>
              <a:rPr lang="en-US" sz="1350" b="1" dirty="0">
                <a:solidFill>
                  <a:srgbClr val="FFD43B"/>
                </a:solidFill>
                <a:latin typeface="Courier New" pitchFamily="34" charset="0"/>
                <a:ea typeface="Courier New" pitchFamily="34" charset="-122"/>
                <a:cs typeface="Courier New" pitchFamily="34" charset="-120"/>
              </a:rPr>
              <a:t>student1</a:t>
            </a:r>
            <a:endParaRPr lang="en-US" sz="1350" dirty="0"/>
          </a:p>
        </p:txBody>
      </p:sp>
      <p:sp>
        <p:nvSpPr>
          <p:cNvPr id="19" name="Text 17"/>
          <p:cNvSpPr txBox="1"/>
          <p:nvPr/>
        </p:nvSpPr>
        <p:spPr>
          <a:xfrm>
            <a:off x="6537960" y="3429000"/>
            <a:ext cx="1965960" cy="274320"/>
          </a:xfrm>
          <a:prstGeom prst="rect">
            <a:avLst/>
          </a:prstGeom>
          <a:noFill/>
          <a:ln/>
        </p:spPr>
        <p:txBody>
          <a:bodyPr wrap="square" lIns="0" tIns="0" rIns="0" bIns="0" rtlCol="0" anchor="ctr"/>
          <a:lstStyle/>
          <a:p>
            <a:pPr algn="ctr" indent="0" marL="0">
              <a:buNone/>
            </a:pPr>
            <a:r>
              <a:rPr lang="en-US" sz="1000" dirty="0">
                <a:solidFill>
                  <a:srgbClr val="8B949E"/>
                </a:solidFill>
                <a:latin typeface="Courier New" pitchFamily="34" charset="0"/>
                <a:ea typeface="Courier New" pitchFamily="34" charset="-122"/>
                <a:cs typeface="Courier New" pitchFamily="34" charset="-120"/>
              </a:rPr>
              <a:t>OBJECT</a:t>
            </a:r>
            <a:endParaRPr lang="en-US" sz="1000" dirty="0"/>
          </a:p>
        </p:txBody>
      </p:sp>
      <p:sp>
        <p:nvSpPr>
          <p:cNvPr id="20" name="Shape 18"/>
          <p:cNvSpPr/>
          <p:nvPr/>
        </p:nvSpPr>
        <p:spPr>
          <a:xfrm>
            <a:off x="9784080" y="3063240"/>
            <a:ext cx="1965960" cy="868680"/>
          </a:xfrm>
          <a:prstGeom prst="roundRect">
            <a:avLst>
              <a:gd name="adj" fmla="val 8421"/>
            </a:avLst>
          </a:prstGeom>
          <a:solidFill>
            <a:srgbClr val="1C2129"/>
          </a:solidFill>
          <a:ln w="12700">
            <a:solidFill>
              <a:srgbClr val="30363D"/>
            </a:solidFill>
            <a:prstDash val="solid"/>
          </a:ln>
        </p:spPr>
      </p:sp>
      <p:sp>
        <p:nvSpPr>
          <p:cNvPr id="21" name="Text 19"/>
          <p:cNvSpPr txBox="1"/>
          <p:nvPr/>
        </p:nvSpPr>
        <p:spPr>
          <a:xfrm>
            <a:off x="9784080" y="3127248"/>
            <a:ext cx="1965960" cy="320040"/>
          </a:xfrm>
          <a:prstGeom prst="rect">
            <a:avLst/>
          </a:prstGeom>
          <a:noFill/>
          <a:ln/>
        </p:spPr>
        <p:txBody>
          <a:bodyPr wrap="square" lIns="0" tIns="0" rIns="0" bIns="0" rtlCol="0" anchor="ctr"/>
          <a:lstStyle/>
          <a:p>
            <a:pPr algn="ctr" indent="0" marL="0">
              <a:buNone/>
            </a:pPr>
            <a:r>
              <a:rPr lang="en-US" sz="1350" b="1" dirty="0">
                <a:solidFill>
                  <a:srgbClr val="FFD43B"/>
                </a:solidFill>
                <a:latin typeface="Courier New" pitchFamily="34" charset="0"/>
                <a:ea typeface="Courier New" pitchFamily="34" charset="-122"/>
                <a:cs typeface="Courier New" pitchFamily="34" charset="-120"/>
              </a:rPr>
              <a:t>student2</a:t>
            </a:r>
            <a:endParaRPr lang="en-US" sz="1350" dirty="0"/>
          </a:p>
        </p:txBody>
      </p:sp>
      <p:sp>
        <p:nvSpPr>
          <p:cNvPr id="22" name="Text 20"/>
          <p:cNvSpPr txBox="1"/>
          <p:nvPr/>
        </p:nvSpPr>
        <p:spPr>
          <a:xfrm>
            <a:off x="9784080" y="3429000"/>
            <a:ext cx="1965960" cy="274320"/>
          </a:xfrm>
          <a:prstGeom prst="rect">
            <a:avLst/>
          </a:prstGeom>
          <a:noFill/>
          <a:ln/>
        </p:spPr>
        <p:txBody>
          <a:bodyPr wrap="square" lIns="0" tIns="0" rIns="0" bIns="0" rtlCol="0" anchor="ctr"/>
          <a:lstStyle/>
          <a:p>
            <a:pPr algn="ctr" indent="0" marL="0">
              <a:buNone/>
            </a:pPr>
            <a:r>
              <a:rPr lang="en-US" sz="1000" dirty="0">
                <a:solidFill>
                  <a:srgbClr val="8B949E"/>
                </a:solidFill>
                <a:latin typeface="Courier New" pitchFamily="34" charset="0"/>
                <a:ea typeface="Courier New" pitchFamily="34" charset="-122"/>
                <a:cs typeface="Courier New" pitchFamily="34" charset="-120"/>
              </a:rPr>
              <a:t>OBJECT</a:t>
            </a:r>
            <a:endParaRPr lang="en-US" sz="1000" dirty="0"/>
          </a:p>
        </p:txBody>
      </p:sp>
      <p:sp>
        <p:nvSpPr>
          <p:cNvPr id="23" name="Text 21"/>
          <p:cNvSpPr txBox="1"/>
          <p:nvPr/>
        </p:nvSpPr>
        <p:spPr>
          <a:xfrm>
            <a:off x="6537960" y="4160520"/>
            <a:ext cx="5212080" cy="365760"/>
          </a:xfrm>
          <a:prstGeom prst="rect">
            <a:avLst/>
          </a:prstGeom>
          <a:noFill/>
          <a:ln/>
        </p:spPr>
        <p:txBody>
          <a:bodyPr wrap="square" lIns="0" tIns="0" rIns="0" bIns="0" rtlCol="0" anchor="ctr"/>
          <a:lstStyle/>
          <a:p>
            <a:pPr algn="ctr" indent="0" marL="0">
              <a:buNone/>
            </a:pPr>
            <a:r>
              <a:rPr lang="en-US" sz="1200" i="1" dirty="0">
                <a:solidFill>
                  <a:srgbClr val="8B949E"/>
                </a:solidFill>
                <a:latin typeface="Calibri" pitchFamily="34" charset="0"/>
                <a:ea typeface="Calibri" pitchFamily="34" charset="-122"/>
                <a:cs typeface="Calibri" pitchFamily="34" charset="-120"/>
              </a:rPr>
              <a:t>Same class → separate, independent instances.</a:t>
            </a:r>
            <a:endParaRPr lang="en-US" sz="1200" dirty="0"/>
          </a:p>
        </p:txBody>
      </p:sp>
      <p:sp>
        <p:nvSpPr>
          <p:cNvPr id="24" name="Text 22"/>
          <p:cNvSpPr txBox="1"/>
          <p:nvPr/>
        </p:nvSpPr>
        <p:spPr>
          <a:xfrm>
            <a:off x="10728655" y="502920"/>
            <a:ext cx="914400" cy="274320"/>
          </a:xfrm>
          <a:prstGeom prst="rect">
            <a:avLst/>
          </a:prstGeom>
          <a:noFill/>
          <a:ln/>
        </p:spPr>
        <p:txBody>
          <a:bodyPr wrap="square" lIns="0" tIns="0" rIns="0" bIns="0" rtlCol="0" anchor="ctr"/>
          <a:lstStyle/>
          <a:p>
            <a:pPr algn="r" indent="0" marL="0">
              <a:buNone/>
            </a:pPr>
            <a:r>
              <a:rPr lang="en-US" sz="900" dirty="0">
                <a:solidFill>
                  <a:srgbClr val="6E7681"/>
                </a:solidFill>
                <a:latin typeface="Courier New" pitchFamily="34" charset="0"/>
                <a:ea typeface="Courier New" pitchFamily="34" charset="-122"/>
                <a:cs typeface="Courier New" pitchFamily="34" charset="-120"/>
              </a:rPr>
              <a:t>04 / 14</a:t>
            </a:r>
            <a:endParaRPr lang="en-US" sz="900" dirty="0"/>
          </a:p>
        </p:txBody>
      </p:sp>
      <p:sp>
        <p:nvSpPr>
          <p:cNvPr id="25" name="Shape 23"/>
          <p:cNvSpPr/>
          <p:nvPr/>
        </p:nvSpPr>
        <p:spPr>
          <a:xfrm>
            <a:off x="9357055" y="6291072"/>
            <a:ext cx="2286000" cy="365760"/>
          </a:xfrm>
          <a:prstGeom prst="roundRect">
            <a:avLst>
              <a:gd name="adj" fmla="val 15000"/>
            </a:avLst>
          </a:prstGeom>
          <a:solidFill>
            <a:srgbClr val="1C2129"/>
          </a:solidFill>
          <a:ln w="9525">
            <a:solidFill>
              <a:srgbClr val="30363D"/>
            </a:solidFill>
            <a:prstDash val="solid"/>
          </a:ln>
        </p:spPr>
      </p:sp>
      <p:sp>
        <p:nvSpPr>
          <p:cNvPr id="26" name="Text 24"/>
          <p:cNvSpPr txBox="1"/>
          <p:nvPr/>
        </p:nvSpPr>
        <p:spPr>
          <a:xfrm>
            <a:off x="9357055" y="6291072"/>
            <a:ext cx="2286000" cy="365760"/>
          </a:xfrm>
          <a:prstGeom prst="rect">
            <a:avLst/>
          </a:prstGeom>
          <a:noFill/>
          <a:ln/>
        </p:spPr>
        <p:txBody>
          <a:bodyPr wrap="square" lIns="0" tIns="0" rIns="0" bIns="0" rtlCol="0" anchor="ctr"/>
          <a:lstStyle/>
          <a:p>
            <a:pPr algn="ctr" indent="0" marL="0">
              <a:buNone/>
            </a:pPr>
            <a:r>
              <a:rPr lang="en-US" sz="1000" dirty="0">
                <a:solidFill>
                  <a:srgbClr val="3FB950"/>
                </a:solidFill>
                <a:latin typeface="Courier New" pitchFamily="34" charset="0"/>
                <a:ea typeface="Courier New" pitchFamily="34" charset="-122"/>
                <a:cs typeface="Courier New" pitchFamily="34" charset="-120"/>
              </a:rPr>
              <a:t>▶ </a:t>
            </a:r>
            <a:pPr algn="ctr" indent="0" marL="0">
              <a:buNone/>
            </a:pPr>
            <a:r>
              <a:rPr lang="en-US" sz="1000" dirty="0">
                <a:solidFill>
                  <a:srgbClr val="8B949E"/>
                </a:solidFill>
                <a:latin typeface="Courier New" pitchFamily="34" charset="0"/>
                <a:ea typeface="Courier New" pitchFamily="34" charset="-122"/>
                <a:cs typeface="Courier New" pitchFamily="34" charset="-120"/>
              </a:rPr>
              <a:t>02_objects.py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B8BBE"/>
                </a:solidFill>
                <a:latin typeface="Courier New" pitchFamily="34" charset="0"/>
                <a:ea typeface="Courier New" pitchFamily="34" charset="-122"/>
                <a:cs typeface="Courier New" pitchFamily="34" charset="-120"/>
              </a:rPr>
              <a:t>04 · STATE</a:t>
            </a:r>
            <a:endParaRPr lang="en-US" sz="1200" dirty="0"/>
          </a:p>
        </p:txBody>
      </p:sp>
      <p:sp>
        <p:nvSpPr>
          <p:cNvPr id="3" name="Text 1"/>
          <p:cNvSpPr txBox="1"/>
          <p:nvPr/>
        </p:nvSpPr>
        <p:spPr>
          <a:xfrm>
            <a:off x="548640" y="777240"/>
            <a:ext cx="11094415" cy="822960"/>
          </a:xfrm>
          <a:prstGeom prst="rect">
            <a:avLst/>
          </a:prstGeom>
          <a:noFill/>
          <a:ln/>
        </p:spPr>
        <p:txBody>
          <a:bodyPr wrap="square" lIns="0" tIns="0" rIns="0" bIns="0" rtlCol="0" anchor="ctr"/>
          <a:lstStyle/>
          <a:p>
            <a:pPr indent="0" marL="0">
              <a:buNone/>
            </a:pPr>
            <a:r>
              <a:rPr lang="en-US" sz="3200" b="1" dirty="0">
                <a:solidFill>
                  <a:srgbClr val="E6EDF3"/>
                </a:solidFill>
                <a:latin typeface="Consolas" pitchFamily="34" charset="0"/>
                <a:ea typeface="Consolas" pitchFamily="34" charset="-122"/>
                <a:cs typeface="Consolas" pitchFamily="34" charset="-120"/>
              </a:rPr>
              <a:t>Instance Attributes — Object State</a:t>
            </a:r>
            <a:endParaRPr lang="en-US" sz="3200" dirty="0"/>
          </a:p>
        </p:txBody>
      </p:sp>
      <p:sp>
        <p:nvSpPr>
          <p:cNvPr id="4" name="Shape 2"/>
          <p:cNvSpPr/>
          <p:nvPr/>
        </p:nvSpPr>
        <p:spPr>
          <a:xfrm>
            <a:off x="548640" y="1600200"/>
            <a:ext cx="5120640" cy="2148840"/>
          </a:xfrm>
          <a:prstGeom prst="roundRect">
            <a:avLst>
              <a:gd name="adj" fmla="val 3404"/>
            </a:avLst>
          </a:prstGeom>
          <a:solidFill>
            <a:srgbClr val="161B22"/>
          </a:solidFill>
          <a:ln w="12700">
            <a:solidFill>
              <a:srgbClr val="30363D"/>
            </a:solidFill>
            <a:prstDash val="solid"/>
          </a:ln>
        </p:spPr>
      </p:sp>
      <p:sp>
        <p:nvSpPr>
          <p:cNvPr id="5" name="Shape 3"/>
          <p:cNvSpPr/>
          <p:nvPr/>
        </p:nvSpPr>
        <p:spPr>
          <a:xfrm>
            <a:off x="749808" y="1764792"/>
            <a:ext cx="100584" cy="100584"/>
          </a:xfrm>
          <a:prstGeom prst="ellipse">
            <a:avLst/>
          </a:prstGeom>
          <a:solidFill>
            <a:srgbClr val="F85149"/>
          </a:solidFill>
          <a:ln/>
        </p:spPr>
      </p:sp>
      <p:sp>
        <p:nvSpPr>
          <p:cNvPr id="6" name="Shape 4"/>
          <p:cNvSpPr/>
          <p:nvPr/>
        </p:nvSpPr>
        <p:spPr>
          <a:xfrm>
            <a:off x="950976" y="1764792"/>
            <a:ext cx="100584" cy="100584"/>
          </a:xfrm>
          <a:prstGeom prst="ellipse">
            <a:avLst/>
          </a:prstGeom>
          <a:solidFill>
            <a:srgbClr val="FFD43B"/>
          </a:solidFill>
          <a:ln/>
        </p:spPr>
      </p:sp>
      <p:sp>
        <p:nvSpPr>
          <p:cNvPr id="7" name="Shape 5"/>
          <p:cNvSpPr/>
          <p:nvPr/>
        </p:nvSpPr>
        <p:spPr>
          <a:xfrm>
            <a:off x="1152144" y="1764792"/>
            <a:ext cx="100584" cy="100584"/>
          </a:xfrm>
          <a:prstGeom prst="ellipse">
            <a:avLst/>
          </a:prstGeom>
          <a:solidFill>
            <a:srgbClr val="3FB950"/>
          </a:solidFill>
          <a:ln/>
        </p:spPr>
      </p:sp>
      <p:sp>
        <p:nvSpPr>
          <p:cNvPr id="8" name="Text 6"/>
          <p:cNvSpPr txBox="1"/>
          <p:nvPr/>
        </p:nvSpPr>
        <p:spPr>
          <a:xfrm>
            <a:off x="868680" y="1984248"/>
            <a:ext cx="4572000" cy="314960"/>
          </a:xfrm>
          <a:prstGeom prst="rect">
            <a:avLst/>
          </a:prstGeom>
          <a:noFill/>
          <a:ln/>
        </p:spPr>
        <p:txBody>
          <a:bodyPr wrap="square" lIns="0" tIns="0" rIns="0" bIns="0" rtlCol="0" anchor="t"/>
          <a:lstStyle/>
          <a:p>
            <a:pPr indent="0" marL="0">
              <a:buNone/>
            </a:pPr>
            <a:r>
              <a:rPr lang="en-US" sz="1600" dirty="0">
                <a:solidFill>
                  <a:srgbClr val="58A6FF"/>
                </a:solidFill>
                <a:latin typeface="Courier New" pitchFamily="34" charset="0"/>
                <a:ea typeface="Courier New" pitchFamily="34" charset="-122"/>
                <a:cs typeface="Courier New" pitchFamily="34" charset="-120"/>
              </a:rPr>
              <a:t>student1</a:t>
            </a:r>
            <a:pPr indent="0" marL="0">
              <a:buNone/>
            </a:pPr>
            <a:r>
              <a:rPr lang="en-US" sz="1600" dirty="0">
                <a:solidFill>
                  <a:srgbClr val="E6EDF3"/>
                </a:solidFill>
                <a:latin typeface="Courier New" pitchFamily="34" charset="0"/>
                <a:ea typeface="Courier New" pitchFamily="34" charset="-122"/>
                <a:cs typeface="Courier New" pitchFamily="34" charset="-120"/>
              </a:rPr>
              <a:t>.name = </a:t>
            </a:r>
            <a:pPr indent="0" marL="0">
              <a:buNone/>
            </a:pPr>
            <a:r>
              <a:rPr lang="en-US" sz="1600" dirty="0">
                <a:solidFill>
                  <a:srgbClr val="3FB950"/>
                </a:solidFill>
                <a:latin typeface="Courier New" pitchFamily="34" charset="0"/>
                <a:ea typeface="Courier New" pitchFamily="34" charset="-122"/>
                <a:cs typeface="Courier New" pitchFamily="34" charset="-120"/>
              </a:rPr>
              <a:t>"Arun"</a:t>
            </a:r>
            <a:endParaRPr lang="en-US" sz="1600" dirty="0"/>
          </a:p>
        </p:txBody>
      </p:sp>
      <p:sp>
        <p:nvSpPr>
          <p:cNvPr id="9" name="Text 7"/>
          <p:cNvSpPr txBox="1"/>
          <p:nvPr/>
        </p:nvSpPr>
        <p:spPr>
          <a:xfrm>
            <a:off x="868680" y="2299208"/>
            <a:ext cx="4572000" cy="314960"/>
          </a:xfrm>
          <a:prstGeom prst="rect">
            <a:avLst/>
          </a:prstGeom>
          <a:noFill/>
          <a:ln/>
        </p:spPr>
        <p:txBody>
          <a:bodyPr wrap="square" lIns="0" tIns="0" rIns="0" bIns="0" rtlCol="0" anchor="t"/>
          <a:lstStyle/>
          <a:p>
            <a:pPr indent="0" marL="0">
              <a:buNone/>
            </a:pPr>
            <a:r>
              <a:rPr lang="en-US" sz="1600" dirty="0">
                <a:solidFill>
                  <a:srgbClr val="58A6FF"/>
                </a:solidFill>
                <a:latin typeface="Courier New" pitchFamily="34" charset="0"/>
                <a:ea typeface="Courier New" pitchFamily="34" charset="-122"/>
                <a:cs typeface="Courier New" pitchFamily="34" charset="-120"/>
              </a:rPr>
              <a:t>student1</a:t>
            </a:r>
            <a:pPr indent="0" marL="0">
              <a:buNone/>
            </a:pPr>
            <a:r>
              <a:rPr lang="en-US" sz="1600" dirty="0">
                <a:solidFill>
                  <a:srgbClr val="E6EDF3"/>
                </a:solidFill>
                <a:latin typeface="Courier New" pitchFamily="34" charset="0"/>
                <a:ea typeface="Courier New" pitchFamily="34" charset="-122"/>
                <a:cs typeface="Courier New" pitchFamily="34" charset="-120"/>
              </a:rPr>
              <a:t>.age = </a:t>
            </a:r>
            <a:pPr indent="0" marL="0">
              <a:buNone/>
            </a:pPr>
            <a:r>
              <a:rPr lang="en-US" sz="1600" dirty="0">
                <a:solidFill>
                  <a:srgbClr val="FFD43B"/>
                </a:solidFill>
                <a:latin typeface="Courier New" pitchFamily="34" charset="0"/>
                <a:ea typeface="Courier New" pitchFamily="34" charset="-122"/>
                <a:cs typeface="Courier New" pitchFamily="34" charset="-120"/>
              </a:rPr>
              <a:t>20</a:t>
            </a:r>
            <a:endParaRPr lang="en-US" sz="1600" dirty="0"/>
          </a:p>
        </p:txBody>
      </p:sp>
      <p:sp>
        <p:nvSpPr>
          <p:cNvPr id="10" name="Text 8"/>
          <p:cNvSpPr txBox="1"/>
          <p:nvPr/>
        </p:nvSpPr>
        <p:spPr>
          <a:xfrm>
            <a:off x="868680" y="2614168"/>
            <a:ext cx="4572000" cy="314960"/>
          </a:xfrm>
          <a:prstGeom prst="rect">
            <a:avLst/>
          </a:prstGeom>
          <a:noFill/>
          <a:ln/>
        </p:spPr>
        <p:txBody>
          <a:bodyPr wrap="square" lIns="0" tIns="0" rIns="0" bIns="0" rtlCol="0" anchor="t"/>
          <a:lstStyle/>
          <a:p>
            <a:pPr indent="0" marL="0">
              <a:buNone/>
            </a:pPr>
            <a:endParaRPr lang="en-US" sz="1600" dirty="0"/>
          </a:p>
        </p:txBody>
      </p:sp>
      <p:sp>
        <p:nvSpPr>
          <p:cNvPr id="11" name="Text 9"/>
          <p:cNvSpPr txBox="1"/>
          <p:nvPr/>
        </p:nvSpPr>
        <p:spPr>
          <a:xfrm>
            <a:off x="868680" y="2929128"/>
            <a:ext cx="4572000" cy="314960"/>
          </a:xfrm>
          <a:prstGeom prst="rect">
            <a:avLst/>
          </a:prstGeom>
          <a:noFill/>
          <a:ln/>
        </p:spPr>
        <p:txBody>
          <a:bodyPr wrap="square" lIns="0" tIns="0" rIns="0" bIns="0" rtlCol="0" anchor="t"/>
          <a:lstStyle/>
          <a:p>
            <a:pPr indent="0" marL="0">
              <a:buNone/>
            </a:pPr>
            <a:r>
              <a:rPr lang="en-US" sz="1600" dirty="0">
                <a:solidFill>
                  <a:srgbClr val="58A6FF"/>
                </a:solidFill>
                <a:latin typeface="Courier New" pitchFamily="34" charset="0"/>
                <a:ea typeface="Courier New" pitchFamily="34" charset="-122"/>
                <a:cs typeface="Courier New" pitchFamily="34" charset="-120"/>
              </a:rPr>
              <a:t>student2</a:t>
            </a:r>
            <a:pPr indent="0" marL="0">
              <a:buNone/>
            </a:pPr>
            <a:r>
              <a:rPr lang="en-US" sz="1600" dirty="0">
                <a:solidFill>
                  <a:srgbClr val="E6EDF3"/>
                </a:solidFill>
                <a:latin typeface="Courier New" pitchFamily="34" charset="0"/>
                <a:ea typeface="Courier New" pitchFamily="34" charset="-122"/>
                <a:cs typeface="Courier New" pitchFamily="34" charset="-120"/>
              </a:rPr>
              <a:t>.name = </a:t>
            </a:r>
            <a:pPr indent="0" marL="0">
              <a:buNone/>
            </a:pPr>
            <a:r>
              <a:rPr lang="en-US" sz="1600" dirty="0">
                <a:solidFill>
                  <a:srgbClr val="3FB950"/>
                </a:solidFill>
                <a:latin typeface="Courier New" pitchFamily="34" charset="0"/>
                <a:ea typeface="Courier New" pitchFamily="34" charset="-122"/>
                <a:cs typeface="Courier New" pitchFamily="34" charset="-120"/>
              </a:rPr>
              <a:t>"Rahul"</a:t>
            </a:r>
            <a:endParaRPr lang="en-US" sz="1600" dirty="0"/>
          </a:p>
        </p:txBody>
      </p:sp>
      <p:sp>
        <p:nvSpPr>
          <p:cNvPr id="12" name="Text 10"/>
          <p:cNvSpPr txBox="1"/>
          <p:nvPr/>
        </p:nvSpPr>
        <p:spPr>
          <a:xfrm>
            <a:off x="868680" y="3244088"/>
            <a:ext cx="4572000" cy="314960"/>
          </a:xfrm>
          <a:prstGeom prst="rect">
            <a:avLst/>
          </a:prstGeom>
          <a:noFill/>
          <a:ln/>
        </p:spPr>
        <p:txBody>
          <a:bodyPr wrap="square" lIns="0" tIns="0" rIns="0" bIns="0" rtlCol="0" anchor="t"/>
          <a:lstStyle/>
          <a:p>
            <a:pPr indent="0" marL="0">
              <a:buNone/>
            </a:pPr>
            <a:r>
              <a:rPr lang="en-US" sz="1600" dirty="0">
                <a:solidFill>
                  <a:srgbClr val="58A6FF"/>
                </a:solidFill>
                <a:latin typeface="Courier New" pitchFamily="34" charset="0"/>
                <a:ea typeface="Courier New" pitchFamily="34" charset="-122"/>
                <a:cs typeface="Courier New" pitchFamily="34" charset="-120"/>
              </a:rPr>
              <a:t>student2</a:t>
            </a:r>
            <a:pPr indent="0" marL="0">
              <a:buNone/>
            </a:pPr>
            <a:r>
              <a:rPr lang="en-US" sz="1600" dirty="0">
                <a:solidFill>
                  <a:srgbClr val="E6EDF3"/>
                </a:solidFill>
                <a:latin typeface="Courier New" pitchFamily="34" charset="0"/>
                <a:ea typeface="Courier New" pitchFamily="34" charset="-122"/>
                <a:cs typeface="Courier New" pitchFamily="34" charset="-120"/>
              </a:rPr>
              <a:t>.age = </a:t>
            </a:r>
            <a:pPr indent="0" marL="0">
              <a:buNone/>
            </a:pPr>
            <a:r>
              <a:rPr lang="en-US" sz="1600" dirty="0">
                <a:solidFill>
                  <a:srgbClr val="FFD43B"/>
                </a:solidFill>
                <a:latin typeface="Courier New" pitchFamily="34" charset="0"/>
                <a:ea typeface="Courier New" pitchFamily="34" charset="-122"/>
                <a:cs typeface="Courier New" pitchFamily="34" charset="-120"/>
              </a:rPr>
              <a:t>21</a:t>
            </a:r>
            <a:endParaRPr lang="en-US" sz="1600" dirty="0"/>
          </a:p>
        </p:txBody>
      </p:sp>
      <p:sp>
        <p:nvSpPr>
          <p:cNvPr id="13" name="Text 11"/>
          <p:cNvSpPr txBox="1"/>
          <p:nvPr/>
        </p:nvSpPr>
        <p:spPr>
          <a:xfrm>
            <a:off x="548640" y="3931920"/>
            <a:ext cx="5120640" cy="457200"/>
          </a:xfrm>
          <a:prstGeom prst="rect">
            <a:avLst/>
          </a:prstGeom>
          <a:noFill/>
          <a:ln/>
        </p:spPr>
        <p:txBody>
          <a:bodyPr wrap="square" lIns="0" tIns="0" rIns="0" bIns="0" rtlCol="0" anchor="ctr"/>
          <a:lstStyle/>
          <a:p>
            <a:pPr indent="0" marL="0">
              <a:buNone/>
            </a:pPr>
            <a:r>
              <a:rPr lang="en-US" sz="1500" i="1" dirty="0">
                <a:solidFill>
                  <a:srgbClr val="E6EDF3"/>
                </a:solidFill>
                <a:latin typeface="Calibri" pitchFamily="34" charset="0"/>
                <a:ea typeface="Calibri" pitchFamily="34" charset="-122"/>
                <a:cs typeface="Calibri" pitchFamily="34" charset="-120"/>
              </a:rPr>
              <a:t>"Each object can maintain its own state."</a:t>
            </a:r>
            <a:endParaRPr lang="en-US" sz="1500" dirty="0"/>
          </a:p>
        </p:txBody>
      </p:sp>
      <p:sp>
        <p:nvSpPr>
          <p:cNvPr id="14" name="Shape 12"/>
          <p:cNvSpPr/>
          <p:nvPr/>
        </p:nvSpPr>
        <p:spPr>
          <a:xfrm>
            <a:off x="548640" y="4572000"/>
            <a:ext cx="1600200" cy="1005840"/>
          </a:xfrm>
          <a:prstGeom prst="roundRect">
            <a:avLst>
              <a:gd name="adj" fmla="val 7273"/>
            </a:avLst>
          </a:prstGeom>
          <a:solidFill>
            <a:srgbClr val="161B22"/>
          </a:solidFill>
          <a:ln w="12700">
            <a:solidFill>
              <a:srgbClr val="30363D"/>
            </a:solidFill>
            <a:prstDash val="solid"/>
          </a:ln>
        </p:spPr>
      </p:sp>
      <p:sp>
        <p:nvSpPr>
          <p:cNvPr id="15" name="Text 13"/>
          <p:cNvSpPr txBox="1"/>
          <p:nvPr/>
        </p:nvSpPr>
        <p:spPr>
          <a:xfrm>
            <a:off x="548640" y="4681728"/>
            <a:ext cx="1600200" cy="274320"/>
          </a:xfrm>
          <a:prstGeom prst="rect">
            <a:avLst/>
          </a:prstGeom>
          <a:noFill/>
          <a:ln/>
        </p:spPr>
        <p:txBody>
          <a:bodyPr wrap="square" lIns="0" tIns="0" rIns="0" bIns="0" rtlCol="0" anchor="ctr"/>
          <a:lstStyle/>
          <a:p>
            <a:pPr algn="ctr" indent="0" marL="0">
              <a:buNone/>
            </a:pPr>
            <a:r>
              <a:rPr lang="en-US" sz="1050" b="1" dirty="0">
                <a:solidFill>
                  <a:srgbClr val="FFD43B"/>
                </a:solidFill>
                <a:latin typeface="Courier New" pitchFamily="34" charset="0"/>
                <a:ea typeface="Courier New" pitchFamily="34" charset="-122"/>
                <a:cs typeface="Courier New" pitchFamily="34" charset="-120"/>
              </a:rPr>
              <a:t>OBJECT</a:t>
            </a:r>
            <a:endParaRPr lang="en-US" sz="1050" dirty="0"/>
          </a:p>
        </p:txBody>
      </p:sp>
      <p:sp>
        <p:nvSpPr>
          <p:cNvPr id="16" name="Text 14"/>
          <p:cNvSpPr txBox="1"/>
          <p:nvPr/>
        </p:nvSpPr>
        <p:spPr>
          <a:xfrm>
            <a:off x="548640" y="4983480"/>
            <a:ext cx="1600200" cy="365760"/>
          </a:xfrm>
          <a:prstGeom prst="rect">
            <a:avLst/>
          </a:prstGeom>
          <a:noFill/>
          <a:ln/>
        </p:spPr>
        <p:txBody>
          <a:bodyPr wrap="square" lIns="0" tIns="0" rIns="0" bIns="0" rtlCol="0" anchor="ctr"/>
          <a:lstStyle/>
          <a:p>
            <a:pPr algn="ctr" indent="0" marL="0">
              <a:buNone/>
            </a:pPr>
            <a:r>
              <a:rPr lang="en-US" sz="1300" dirty="0">
                <a:solidFill>
                  <a:srgbClr val="E6EDF3"/>
                </a:solidFill>
                <a:latin typeface="Courier New" pitchFamily="34" charset="0"/>
                <a:ea typeface="Courier New" pitchFamily="34" charset="-122"/>
                <a:cs typeface="Courier New" pitchFamily="34" charset="-120"/>
              </a:rPr>
              <a:t>student1</a:t>
            </a:r>
            <a:endParaRPr lang="en-US" sz="1300" dirty="0"/>
          </a:p>
        </p:txBody>
      </p:sp>
      <p:sp>
        <p:nvSpPr>
          <p:cNvPr id="17" name="Shape 15"/>
          <p:cNvSpPr/>
          <p:nvPr/>
        </p:nvSpPr>
        <p:spPr>
          <a:xfrm>
            <a:off x="2331720" y="4572000"/>
            <a:ext cx="1600200" cy="1005840"/>
          </a:xfrm>
          <a:prstGeom prst="roundRect">
            <a:avLst>
              <a:gd name="adj" fmla="val 7273"/>
            </a:avLst>
          </a:prstGeom>
          <a:solidFill>
            <a:srgbClr val="161B22"/>
          </a:solidFill>
          <a:ln w="12700">
            <a:solidFill>
              <a:srgbClr val="30363D"/>
            </a:solidFill>
            <a:prstDash val="solid"/>
          </a:ln>
        </p:spPr>
      </p:sp>
      <p:sp>
        <p:nvSpPr>
          <p:cNvPr id="18" name="Text 16"/>
          <p:cNvSpPr txBox="1"/>
          <p:nvPr/>
        </p:nvSpPr>
        <p:spPr>
          <a:xfrm>
            <a:off x="2331720" y="4681728"/>
            <a:ext cx="1600200" cy="274320"/>
          </a:xfrm>
          <a:prstGeom prst="rect">
            <a:avLst/>
          </a:prstGeom>
          <a:noFill/>
          <a:ln/>
        </p:spPr>
        <p:txBody>
          <a:bodyPr wrap="square" lIns="0" tIns="0" rIns="0" bIns="0" rtlCol="0" anchor="ctr"/>
          <a:lstStyle/>
          <a:p>
            <a:pPr algn="ctr" indent="0" marL="0">
              <a:buNone/>
            </a:pPr>
            <a:r>
              <a:rPr lang="en-US" sz="1050" b="1" dirty="0">
                <a:solidFill>
                  <a:srgbClr val="58A6FF"/>
                </a:solidFill>
                <a:latin typeface="Courier New" pitchFamily="34" charset="0"/>
                <a:ea typeface="Courier New" pitchFamily="34" charset="-122"/>
                <a:cs typeface="Courier New" pitchFamily="34" charset="-120"/>
              </a:rPr>
              <a:t>ATTRIBUTE</a:t>
            </a:r>
            <a:endParaRPr lang="en-US" sz="1050" dirty="0"/>
          </a:p>
        </p:txBody>
      </p:sp>
      <p:sp>
        <p:nvSpPr>
          <p:cNvPr id="19" name="Text 17"/>
          <p:cNvSpPr txBox="1"/>
          <p:nvPr/>
        </p:nvSpPr>
        <p:spPr>
          <a:xfrm>
            <a:off x="2331720" y="4983480"/>
            <a:ext cx="1600200" cy="365760"/>
          </a:xfrm>
          <a:prstGeom prst="rect">
            <a:avLst/>
          </a:prstGeom>
          <a:noFill/>
          <a:ln/>
        </p:spPr>
        <p:txBody>
          <a:bodyPr wrap="square" lIns="0" tIns="0" rIns="0" bIns="0" rtlCol="0" anchor="ctr"/>
          <a:lstStyle/>
          <a:p>
            <a:pPr algn="ctr" indent="0" marL="0">
              <a:buNone/>
            </a:pPr>
            <a:r>
              <a:rPr lang="en-US" sz="1300" dirty="0">
                <a:solidFill>
                  <a:srgbClr val="E6EDF3"/>
                </a:solidFill>
                <a:latin typeface="Courier New" pitchFamily="34" charset="0"/>
                <a:ea typeface="Courier New" pitchFamily="34" charset="-122"/>
                <a:cs typeface="Courier New" pitchFamily="34" charset="-120"/>
              </a:rPr>
              <a:t>.name</a:t>
            </a:r>
            <a:endParaRPr lang="en-US" sz="1300" dirty="0"/>
          </a:p>
        </p:txBody>
      </p:sp>
      <p:sp>
        <p:nvSpPr>
          <p:cNvPr id="20" name="Shape 18"/>
          <p:cNvSpPr/>
          <p:nvPr/>
        </p:nvSpPr>
        <p:spPr>
          <a:xfrm>
            <a:off x="4114800" y="4572000"/>
            <a:ext cx="1600200" cy="1005840"/>
          </a:xfrm>
          <a:prstGeom prst="roundRect">
            <a:avLst>
              <a:gd name="adj" fmla="val 7273"/>
            </a:avLst>
          </a:prstGeom>
          <a:solidFill>
            <a:srgbClr val="161B22"/>
          </a:solidFill>
          <a:ln w="12700">
            <a:solidFill>
              <a:srgbClr val="30363D"/>
            </a:solidFill>
            <a:prstDash val="solid"/>
          </a:ln>
        </p:spPr>
      </p:sp>
      <p:sp>
        <p:nvSpPr>
          <p:cNvPr id="21" name="Text 19"/>
          <p:cNvSpPr txBox="1"/>
          <p:nvPr/>
        </p:nvSpPr>
        <p:spPr>
          <a:xfrm>
            <a:off x="4114800" y="4681728"/>
            <a:ext cx="1600200" cy="274320"/>
          </a:xfrm>
          <a:prstGeom prst="rect">
            <a:avLst/>
          </a:prstGeom>
          <a:noFill/>
          <a:ln/>
        </p:spPr>
        <p:txBody>
          <a:bodyPr wrap="square" lIns="0" tIns="0" rIns="0" bIns="0" rtlCol="0" anchor="ctr"/>
          <a:lstStyle/>
          <a:p>
            <a:pPr algn="ctr" indent="0" marL="0">
              <a:buNone/>
            </a:pPr>
            <a:r>
              <a:rPr lang="en-US" sz="1050" b="1" dirty="0">
                <a:solidFill>
                  <a:srgbClr val="3FB950"/>
                </a:solidFill>
                <a:latin typeface="Courier New" pitchFamily="34" charset="0"/>
                <a:ea typeface="Courier New" pitchFamily="34" charset="-122"/>
                <a:cs typeface="Courier New" pitchFamily="34" charset="-120"/>
              </a:rPr>
              <a:t>VALUE</a:t>
            </a:r>
            <a:endParaRPr lang="en-US" sz="1050" dirty="0"/>
          </a:p>
        </p:txBody>
      </p:sp>
      <p:sp>
        <p:nvSpPr>
          <p:cNvPr id="22" name="Text 20"/>
          <p:cNvSpPr txBox="1"/>
          <p:nvPr/>
        </p:nvSpPr>
        <p:spPr>
          <a:xfrm>
            <a:off x="4114800" y="4983480"/>
            <a:ext cx="1600200" cy="365760"/>
          </a:xfrm>
          <a:prstGeom prst="rect">
            <a:avLst/>
          </a:prstGeom>
          <a:noFill/>
          <a:ln/>
        </p:spPr>
        <p:txBody>
          <a:bodyPr wrap="square" lIns="0" tIns="0" rIns="0" bIns="0" rtlCol="0" anchor="ctr"/>
          <a:lstStyle/>
          <a:p>
            <a:pPr algn="ctr" indent="0" marL="0">
              <a:buNone/>
            </a:pPr>
            <a:r>
              <a:rPr lang="en-US" sz="1300" dirty="0">
                <a:solidFill>
                  <a:srgbClr val="E6EDF3"/>
                </a:solidFill>
                <a:latin typeface="Courier New" pitchFamily="34" charset="0"/>
                <a:ea typeface="Courier New" pitchFamily="34" charset="-122"/>
                <a:cs typeface="Courier New" pitchFamily="34" charset="-120"/>
              </a:rPr>
              <a:t>"Arun"</a:t>
            </a:r>
            <a:endParaRPr lang="en-US" sz="1300" dirty="0"/>
          </a:p>
        </p:txBody>
      </p:sp>
      <p:sp>
        <p:nvSpPr>
          <p:cNvPr id="23" name="Shape 21"/>
          <p:cNvSpPr/>
          <p:nvPr/>
        </p:nvSpPr>
        <p:spPr>
          <a:xfrm>
            <a:off x="7315200" y="1600200"/>
            <a:ext cx="4206240" cy="1417320"/>
          </a:xfrm>
          <a:prstGeom prst="roundRect">
            <a:avLst>
              <a:gd name="adj" fmla="val 5161"/>
            </a:avLst>
          </a:prstGeom>
          <a:solidFill>
            <a:srgbClr val="1C2129"/>
          </a:solidFill>
          <a:ln w="12700">
            <a:solidFill>
              <a:srgbClr val="30363D"/>
            </a:solidFill>
            <a:prstDash val="solid"/>
          </a:ln>
        </p:spPr>
      </p:sp>
      <p:sp>
        <p:nvSpPr>
          <p:cNvPr id="24" name="Text 22"/>
          <p:cNvSpPr txBox="1"/>
          <p:nvPr/>
        </p:nvSpPr>
        <p:spPr>
          <a:xfrm>
            <a:off x="7543800" y="1737360"/>
            <a:ext cx="1828800" cy="320040"/>
          </a:xfrm>
          <a:prstGeom prst="rect">
            <a:avLst/>
          </a:prstGeom>
          <a:noFill/>
          <a:ln/>
        </p:spPr>
        <p:txBody>
          <a:bodyPr wrap="square" lIns="0" tIns="0" rIns="0" bIns="0" rtlCol="0" anchor="ctr"/>
          <a:lstStyle/>
          <a:p>
            <a:pPr indent="0" marL="0">
              <a:buNone/>
            </a:pPr>
            <a:r>
              <a:rPr lang="en-US" sz="1450" b="1" dirty="0">
                <a:solidFill>
                  <a:srgbClr val="FFD43B"/>
                </a:solidFill>
                <a:latin typeface="Courier New" pitchFamily="34" charset="0"/>
                <a:ea typeface="Courier New" pitchFamily="34" charset="-122"/>
                <a:cs typeface="Courier New" pitchFamily="34" charset="-120"/>
              </a:rPr>
              <a:t>student1</a:t>
            </a:r>
            <a:endParaRPr lang="en-US" sz="1450" dirty="0"/>
          </a:p>
        </p:txBody>
      </p:sp>
      <p:sp>
        <p:nvSpPr>
          <p:cNvPr id="25" name="Text 23"/>
          <p:cNvSpPr txBox="1"/>
          <p:nvPr/>
        </p:nvSpPr>
        <p:spPr>
          <a:xfrm>
            <a:off x="7543800" y="2084832"/>
            <a:ext cx="3749040" cy="822960"/>
          </a:xfrm>
          <a:prstGeom prst="rect">
            <a:avLst/>
          </a:prstGeom>
          <a:noFill/>
          <a:ln/>
        </p:spPr>
        <p:txBody>
          <a:bodyPr wrap="square" lIns="0" tIns="0" rIns="0" bIns="0" rtlCol="0" anchor="ctr"/>
          <a:lstStyle/>
          <a:p>
            <a:pPr indent="0" marL="0">
              <a:lnSpc>
                <a:spcPts val="2200"/>
              </a:lnSpc>
              <a:buNone/>
            </a:pPr>
            <a:r>
              <a:rPr lang="en-US" sz="1300" dirty="0">
                <a:solidFill>
                  <a:srgbClr val="E6EDF3"/>
                </a:solidFill>
                <a:latin typeface="Courier New" pitchFamily="34" charset="0"/>
                <a:ea typeface="Courier New" pitchFamily="34" charset="-122"/>
                <a:cs typeface="Courier New" pitchFamily="34" charset="-120"/>
              </a:rPr>
              <a:t>name  →  Arun</a:t>
            </a:r>
            <a:endParaRPr lang="en-US" sz="1300" dirty="0"/>
          </a:p>
          <a:p>
            <a:pPr indent="0" marL="0">
              <a:lnSpc>
                <a:spcPts val="2200"/>
              </a:lnSpc>
              <a:buNone/>
            </a:pPr>
            <a:r>
              <a:rPr lang="en-US" sz="1300" dirty="0">
                <a:solidFill>
                  <a:srgbClr val="E6EDF3"/>
                </a:solidFill>
                <a:latin typeface="Courier New" pitchFamily="34" charset="0"/>
                <a:ea typeface="Courier New" pitchFamily="34" charset="-122"/>
                <a:cs typeface="Courier New" pitchFamily="34" charset="-120"/>
              </a:rPr>
              <a:t>age   →  20</a:t>
            </a:r>
            <a:endParaRPr lang="en-US" sz="1300" dirty="0"/>
          </a:p>
        </p:txBody>
      </p:sp>
      <p:sp>
        <p:nvSpPr>
          <p:cNvPr id="26" name="Shape 24"/>
          <p:cNvSpPr/>
          <p:nvPr/>
        </p:nvSpPr>
        <p:spPr>
          <a:xfrm>
            <a:off x="7315200" y="3246120"/>
            <a:ext cx="4206240" cy="1417320"/>
          </a:xfrm>
          <a:prstGeom prst="roundRect">
            <a:avLst>
              <a:gd name="adj" fmla="val 5161"/>
            </a:avLst>
          </a:prstGeom>
          <a:solidFill>
            <a:srgbClr val="1C2129"/>
          </a:solidFill>
          <a:ln w="12700">
            <a:solidFill>
              <a:srgbClr val="30363D"/>
            </a:solidFill>
            <a:prstDash val="solid"/>
          </a:ln>
        </p:spPr>
      </p:sp>
      <p:sp>
        <p:nvSpPr>
          <p:cNvPr id="27" name="Text 25"/>
          <p:cNvSpPr txBox="1"/>
          <p:nvPr/>
        </p:nvSpPr>
        <p:spPr>
          <a:xfrm>
            <a:off x="7543800" y="3383280"/>
            <a:ext cx="1828800" cy="320040"/>
          </a:xfrm>
          <a:prstGeom prst="rect">
            <a:avLst/>
          </a:prstGeom>
          <a:noFill/>
          <a:ln/>
        </p:spPr>
        <p:txBody>
          <a:bodyPr wrap="square" lIns="0" tIns="0" rIns="0" bIns="0" rtlCol="0" anchor="ctr"/>
          <a:lstStyle/>
          <a:p>
            <a:pPr indent="0" marL="0">
              <a:buNone/>
            </a:pPr>
            <a:r>
              <a:rPr lang="en-US" sz="1450" b="1" dirty="0">
                <a:solidFill>
                  <a:srgbClr val="FFD43B"/>
                </a:solidFill>
                <a:latin typeface="Courier New" pitchFamily="34" charset="0"/>
                <a:ea typeface="Courier New" pitchFamily="34" charset="-122"/>
                <a:cs typeface="Courier New" pitchFamily="34" charset="-120"/>
              </a:rPr>
              <a:t>student2</a:t>
            </a:r>
            <a:endParaRPr lang="en-US" sz="1450" dirty="0"/>
          </a:p>
        </p:txBody>
      </p:sp>
      <p:sp>
        <p:nvSpPr>
          <p:cNvPr id="28" name="Text 26"/>
          <p:cNvSpPr txBox="1"/>
          <p:nvPr/>
        </p:nvSpPr>
        <p:spPr>
          <a:xfrm>
            <a:off x="7543800" y="3730752"/>
            <a:ext cx="3749040" cy="822960"/>
          </a:xfrm>
          <a:prstGeom prst="rect">
            <a:avLst/>
          </a:prstGeom>
          <a:noFill/>
          <a:ln/>
        </p:spPr>
        <p:txBody>
          <a:bodyPr wrap="square" lIns="0" tIns="0" rIns="0" bIns="0" rtlCol="0" anchor="ctr"/>
          <a:lstStyle/>
          <a:p>
            <a:pPr indent="0" marL="0">
              <a:lnSpc>
                <a:spcPts val="2200"/>
              </a:lnSpc>
              <a:buNone/>
            </a:pPr>
            <a:r>
              <a:rPr lang="en-US" sz="1300" dirty="0">
                <a:solidFill>
                  <a:srgbClr val="E6EDF3"/>
                </a:solidFill>
                <a:latin typeface="Courier New" pitchFamily="34" charset="0"/>
                <a:ea typeface="Courier New" pitchFamily="34" charset="-122"/>
                <a:cs typeface="Courier New" pitchFamily="34" charset="-120"/>
              </a:rPr>
              <a:t>name  →  Rahul</a:t>
            </a:r>
            <a:endParaRPr lang="en-US" sz="1300" dirty="0"/>
          </a:p>
          <a:p>
            <a:pPr indent="0" marL="0">
              <a:lnSpc>
                <a:spcPts val="2200"/>
              </a:lnSpc>
              <a:buNone/>
            </a:pPr>
            <a:r>
              <a:rPr lang="en-US" sz="1300" dirty="0">
                <a:solidFill>
                  <a:srgbClr val="E6EDF3"/>
                </a:solidFill>
                <a:latin typeface="Courier New" pitchFamily="34" charset="0"/>
                <a:ea typeface="Courier New" pitchFamily="34" charset="-122"/>
                <a:cs typeface="Courier New" pitchFamily="34" charset="-120"/>
              </a:rPr>
              <a:t>age   →  21</a:t>
            </a:r>
            <a:endParaRPr lang="en-US" sz="1300" dirty="0"/>
          </a:p>
        </p:txBody>
      </p:sp>
      <p:sp>
        <p:nvSpPr>
          <p:cNvPr id="29" name="Text 27"/>
          <p:cNvSpPr txBox="1"/>
          <p:nvPr/>
        </p:nvSpPr>
        <p:spPr>
          <a:xfrm>
            <a:off x="7315200" y="4846320"/>
            <a:ext cx="4206240" cy="365760"/>
          </a:xfrm>
          <a:prstGeom prst="rect">
            <a:avLst/>
          </a:prstGeom>
          <a:noFill/>
          <a:ln/>
        </p:spPr>
        <p:txBody>
          <a:bodyPr wrap="square" lIns="0" tIns="0" rIns="0" bIns="0" rtlCol="0" anchor="ctr"/>
          <a:lstStyle/>
          <a:p>
            <a:pPr algn="ctr" indent="0" marL="0">
              <a:buNone/>
            </a:pPr>
            <a:r>
              <a:rPr lang="en-US" sz="1200" i="1" dirty="0">
                <a:solidFill>
                  <a:srgbClr val="8B949E"/>
                </a:solidFill>
                <a:latin typeface="Calibri" pitchFamily="34" charset="0"/>
                <a:ea typeface="Calibri" pitchFamily="34" charset="-122"/>
                <a:cs typeface="Calibri" pitchFamily="34" charset="-120"/>
              </a:rPr>
              <a:t>Two objects, same attribute names, independent values.</a:t>
            </a:r>
            <a:endParaRPr lang="en-US" sz="1200" dirty="0"/>
          </a:p>
        </p:txBody>
      </p:sp>
      <p:sp>
        <p:nvSpPr>
          <p:cNvPr id="30" name="Text 28"/>
          <p:cNvSpPr txBox="1"/>
          <p:nvPr/>
        </p:nvSpPr>
        <p:spPr>
          <a:xfrm>
            <a:off x="10728655" y="502920"/>
            <a:ext cx="914400" cy="274320"/>
          </a:xfrm>
          <a:prstGeom prst="rect">
            <a:avLst/>
          </a:prstGeom>
          <a:noFill/>
          <a:ln/>
        </p:spPr>
        <p:txBody>
          <a:bodyPr wrap="square" lIns="0" tIns="0" rIns="0" bIns="0" rtlCol="0" anchor="ctr"/>
          <a:lstStyle/>
          <a:p>
            <a:pPr algn="r" indent="0" marL="0">
              <a:buNone/>
            </a:pPr>
            <a:r>
              <a:rPr lang="en-US" sz="900" dirty="0">
                <a:solidFill>
                  <a:srgbClr val="6E7681"/>
                </a:solidFill>
                <a:latin typeface="Courier New" pitchFamily="34" charset="0"/>
                <a:ea typeface="Courier New" pitchFamily="34" charset="-122"/>
                <a:cs typeface="Courier New" pitchFamily="34" charset="-120"/>
              </a:rPr>
              <a:t>05 / 14</a:t>
            </a:r>
            <a:endParaRPr lang="en-US" sz="900" dirty="0"/>
          </a:p>
        </p:txBody>
      </p:sp>
      <p:sp>
        <p:nvSpPr>
          <p:cNvPr id="31" name="Shape 29"/>
          <p:cNvSpPr/>
          <p:nvPr/>
        </p:nvSpPr>
        <p:spPr>
          <a:xfrm>
            <a:off x="8808415" y="6291072"/>
            <a:ext cx="2834640" cy="365760"/>
          </a:xfrm>
          <a:prstGeom prst="roundRect">
            <a:avLst>
              <a:gd name="adj" fmla="val 15000"/>
            </a:avLst>
          </a:prstGeom>
          <a:solidFill>
            <a:srgbClr val="1C2129"/>
          </a:solidFill>
          <a:ln w="9525">
            <a:solidFill>
              <a:srgbClr val="30363D"/>
            </a:solidFill>
            <a:prstDash val="solid"/>
          </a:ln>
        </p:spPr>
      </p:sp>
      <p:sp>
        <p:nvSpPr>
          <p:cNvPr id="32" name="Text 30"/>
          <p:cNvSpPr txBox="1"/>
          <p:nvPr/>
        </p:nvSpPr>
        <p:spPr>
          <a:xfrm>
            <a:off x="8808415" y="6291072"/>
            <a:ext cx="2834640" cy="365760"/>
          </a:xfrm>
          <a:prstGeom prst="rect">
            <a:avLst/>
          </a:prstGeom>
          <a:noFill/>
          <a:ln/>
        </p:spPr>
        <p:txBody>
          <a:bodyPr wrap="square" lIns="0" tIns="0" rIns="0" bIns="0" rtlCol="0" anchor="ctr"/>
          <a:lstStyle/>
          <a:p>
            <a:pPr algn="ctr" indent="0" marL="0">
              <a:buNone/>
            </a:pPr>
            <a:r>
              <a:rPr lang="en-US" sz="1000" dirty="0">
                <a:solidFill>
                  <a:srgbClr val="3FB950"/>
                </a:solidFill>
                <a:latin typeface="Courier New" pitchFamily="34" charset="0"/>
                <a:ea typeface="Courier New" pitchFamily="34" charset="-122"/>
                <a:cs typeface="Courier New" pitchFamily="34" charset="-120"/>
              </a:rPr>
              <a:t>▶ </a:t>
            </a:r>
            <a:pPr algn="ctr" indent="0" marL="0">
              <a:buNone/>
            </a:pPr>
            <a:r>
              <a:rPr lang="en-US" sz="1000" dirty="0">
                <a:solidFill>
                  <a:srgbClr val="8B949E"/>
                </a:solidFill>
                <a:latin typeface="Courier New" pitchFamily="34" charset="0"/>
                <a:ea typeface="Courier New" pitchFamily="34" charset="-122"/>
                <a:cs typeface="Courier New" pitchFamily="34" charset="-120"/>
              </a:rPr>
              <a:t>03_instance_attributes.py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B8BBE"/>
                </a:solidFill>
                <a:latin typeface="Courier New" pitchFamily="34" charset="0"/>
                <a:ea typeface="Courier New" pitchFamily="34" charset="-122"/>
                <a:cs typeface="Courier New" pitchFamily="34" charset="-120"/>
              </a:rPr>
              <a:t>05 · CONSTRUCTION</a:t>
            </a:r>
            <a:endParaRPr lang="en-US" sz="1200" dirty="0"/>
          </a:p>
        </p:txBody>
      </p:sp>
      <p:sp>
        <p:nvSpPr>
          <p:cNvPr id="3" name="Text 1"/>
          <p:cNvSpPr txBox="1"/>
          <p:nvPr/>
        </p:nvSpPr>
        <p:spPr>
          <a:xfrm>
            <a:off x="548640" y="777240"/>
            <a:ext cx="11094415" cy="822960"/>
          </a:xfrm>
          <a:prstGeom prst="rect">
            <a:avLst/>
          </a:prstGeom>
          <a:noFill/>
          <a:ln/>
        </p:spPr>
        <p:txBody>
          <a:bodyPr wrap="square" lIns="0" tIns="0" rIns="0" bIns="0" rtlCol="0" anchor="ctr"/>
          <a:lstStyle/>
          <a:p>
            <a:pPr indent="0" marL="0">
              <a:buNone/>
            </a:pPr>
            <a:r>
              <a:rPr lang="en-US" sz="3200" b="1" dirty="0">
                <a:solidFill>
                  <a:srgbClr val="E6EDF3"/>
                </a:solidFill>
                <a:latin typeface="Consolas" pitchFamily="34" charset="0"/>
                <a:ea typeface="Consolas" pitchFamily="34" charset="-122"/>
                <a:cs typeface="Consolas" pitchFamily="34" charset="-120"/>
              </a:rPr>
              <a:t>Initializing Objects with __init__()</a:t>
            </a:r>
            <a:endParaRPr lang="en-US" sz="3200" dirty="0"/>
          </a:p>
        </p:txBody>
      </p:sp>
      <p:sp>
        <p:nvSpPr>
          <p:cNvPr id="4" name="Shape 2"/>
          <p:cNvSpPr/>
          <p:nvPr/>
        </p:nvSpPr>
        <p:spPr>
          <a:xfrm>
            <a:off x="548640" y="1600200"/>
            <a:ext cx="5486400" cy="1965960"/>
          </a:xfrm>
          <a:prstGeom prst="roundRect">
            <a:avLst>
              <a:gd name="adj" fmla="val 3721"/>
            </a:avLst>
          </a:prstGeom>
          <a:solidFill>
            <a:srgbClr val="161B22"/>
          </a:solidFill>
          <a:ln w="12700">
            <a:solidFill>
              <a:srgbClr val="30363D"/>
            </a:solidFill>
            <a:prstDash val="solid"/>
          </a:ln>
        </p:spPr>
      </p:sp>
      <p:sp>
        <p:nvSpPr>
          <p:cNvPr id="5" name="Shape 3"/>
          <p:cNvSpPr/>
          <p:nvPr/>
        </p:nvSpPr>
        <p:spPr>
          <a:xfrm>
            <a:off x="749808" y="1764792"/>
            <a:ext cx="100584" cy="100584"/>
          </a:xfrm>
          <a:prstGeom prst="ellipse">
            <a:avLst/>
          </a:prstGeom>
          <a:solidFill>
            <a:srgbClr val="F85149"/>
          </a:solidFill>
          <a:ln/>
        </p:spPr>
      </p:sp>
      <p:sp>
        <p:nvSpPr>
          <p:cNvPr id="6" name="Shape 4"/>
          <p:cNvSpPr/>
          <p:nvPr/>
        </p:nvSpPr>
        <p:spPr>
          <a:xfrm>
            <a:off x="950976" y="1764792"/>
            <a:ext cx="100584" cy="100584"/>
          </a:xfrm>
          <a:prstGeom prst="ellipse">
            <a:avLst/>
          </a:prstGeom>
          <a:solidFill>
            <a:srgbClr val="FFD43B"/>
          </a:solidFill>
          <a:ln/>
        </p:spPr>
      </p:sp>
      <p:sp>
        <p:nvSpPr>
          <p:cNvPr id="7" name="Shape 5"/>
          <p:cNvSpPr/>
          <p:nvPr/>
        </p:nvSpPr>
        <p:spPr>
          <a:xfrm>
            <a:off x="1152144" y="1764792"/>
            <a:ext cx="100584" cy="100584"/>
          </a:xfrm>
          <a:prstGeom prst="ellipse">
            <a:avLst/>
          </a:prstGeom>
          <a:solidFill>
            <a:srgbClr val="3FB950"/>
          </a:solidFill>
          <a:ln/>
        </p:spPr>
      </p:sp>
      <p:sp>
        <p:nvSpPr>
          <p:cNvPr id="8" name="Text 6"/>
          <p:cNvSpPr txBox="1"/>
          <p:nvPr/>
        </p:nvSpPr>
        <p:spPr>
          <a:xfrm>
            <a:off x="868680" y="1984248"/>
            <a:ext cx="4937760" cy="305118"/>
          </a:xfrm>
          <a:prstGeom prst="rect">
            <a:avLst/>
          </a:prstGeom>
          <a:noFill/>
          <a:ln/>
        </p:spPr>
        <p:txBody>
          <a:bodyPr wrap="square" lIns="0" tIns="0" rIns="0" bIns="0" rtlCol="0" anchor="t"/>
          <a:lstStyle/>
          <a:p>
            <a:pPr indent="0" marL="0">
              <a:buNone/>
            </a:pPr>
            <a:r>
              <a:rPr lang="en-US" sz="1550" b="1" dirty="0">
                <a:solidFill>
                  <a:srgbClr val="4B8BBE"/>
                </a:solidFill>
                <a:latin typeface="Courier New" pitchFamily="34" charset="0"/>
                <a:ea typeface="Courier New" pitchFamily="34" charset="-122"/>
                <a:cs typeface="Courier New" pitchFamily="34" charset="-120"/>
              </a:rPr>
              <a:t>class</a:t>
            </a:r>
            <a:pPr indent="0" marL="0">
              <a:buNone/>
            </a:pPr>
            <a:r>
              <a:rPr lang="en-US" sz="1550" dirty="0">
                <a:solidFill>
                  <a:srgbClr val="E6EDF3"/>
                </a:solidFill>
                <a:latin typeface="Courier New" pitchFamily="34" charset="0"/>
                <a:ea typeface="Courier New" pitchFamily="34" charset="-122"/>
                <a:cs typeface="Courier New" pitchFamily="34" charset="-120"/>
              </a:rPr>
              <a:t> </a:t>
            </a:r>
            <a:pPr indent="0" marL="0">
              <a:buNone/>
            </a:pPr>
            <a:r>
              <a:rPr lang="en-US" sz="1550" dirty="0">
                <a:solidFill>
                  <a:srgbClr val="58A6FF"/>
                </a:solidFill>
                <a:latin typeface="Courier New" pitchFamily="34" charset="0"/>
                <a:ea typeface="Courier New" pitchFamily="34" charset="-122"/>
                <a:cs typeface="Courier New" pitchFamily="34" charset="-120"/>
              </a:rPr>
              <a:t>Student</a:t>
            </a:r>
            <a:pPr indent="0" marL="0">
              <a:buNone/>
            </a:pPr>
            <a:r>
              <a:rPr lang="en-US" sz="1550" dirty="0">
                <a:solidFill>
                  <a:srgbClr val="E6EDF3"/>
                </a:solidFill>
                <a:latin typeface="Courier New" pitchFamily="34" charset="0"/>
                <a:ea typeface="Courier New" pitchFamily="34" charset="-122"/>
                <a:cs typeface="Courier New" pitchFamily="34" charset="-120"/>
              </a:rPr>
              <a:t>:</a:t>
            </a:r>
            <a:endParaRPr lang="en-US" sz="1550" dirty="0"/>
          </a:p>
        </p:txBody>
      </p:sp>
      <p:sp>
        <p:nvSpPr>
          <p:cNvPr id="9" name="Text 7"/>
          <p:cNvSpPr txBox="1"/>
          <p:nvPr/>
        </p:nvSpPr>
        <p:spPr>
          <a:xfrm>
            <a:off x="868680" y="2289366"/>
            <a:ext cx="4937760" cy="305118"/>
          </a:xfrm>
          <a:prstGeom prst="rect">
            <a:avLst/>
          </a:prstGeom>
          <a:noFill/>
          <a:ln/>
        </p:spPr>
        <p:txBody>
          <a:bodyPr wrap="square" lIns="0" tIns="0" rIns="0" bIns="0" rtlCol="0" anchor="t"/>
          <a:lstStyle/>
          <a:p>
            <a:pPr indent="0" marL="0">
              <a:buNone/>
            </a:pPr>
            <a:r>
              <a:rPr lang="en-US" sz="1550" dirty="0">
                <a:solidFill>
                  <a:srgbClr val="E6EDF3"/>
                </a:solidFill>
                <a:latin typeface="Courier New" pitchFamily="34" charset="0"/>
                <a:ea typeface="Courier New" pitchFamily="34" charset="-122"/>
                <a:cs typeface="Courier New" pitchFamily="34" charset="-120"/>
              </a:rPr>
              <a:t>    </a:t>
            </a:r>
            <a:pPr indent="0" marL="0">
              <a:buNone/>
            </a:pPr>
            <a:r>
              <a:rPr lang="en-US" sz="1550" b="1" dirty="0">
                <a:solidFill>
                  <a:srgbClr val="4B8BBE"/>
                </a:solidFill>
                <a:latin typeface="Courier New" pitchFamily="34" charset="0"/>
                <a:ea typeface="Courier New" pitchFamily="34" charset="-122"/>
                <a:cs typeface="Courier New" pitchFamily="34" charset="-120"/>
              </a:rPr>
              <a:t>def </a:t>
            </a:r>
            <a:pPr indent="0" marL="0">
              <a:buNone/>
            </a:pPr>
            <a:r>
              <a:rPr lang="en-US" sz="1550" dirty="0">
                <a:solidFill>
                  <a:srgbClr val="58A6FF"/>
                </a:solidFill>
                <a:latin typeface="Courier New" pitchFamily="34" charset="0"/>
                <a:ea typeface="Courier New" pitchFamily="34" charset="-122"/>
                <a:cs typeface="Courier New" pitchFamily="34" charset="-120"/>
              </a:rPr>
              <a:t>__init__</a:t>
            </a:r>
            <a:pPr indent="0" marL="0">
              <a:buNone/>
            </a:pPr>
            <a:r>
              <a:rPr lang="en-US" sz="1550" dirty="0">
                <a:solidFill>
                  <a:srgbClr val="E6EDF3"/>
                </a:solidFill>
                <a:latin typeface="Courier New" pitchFamily="34" charset="0"/>
                <a:ea typeface="Courier New" pitchFamily="34" charset="-122"/>
                <a:cs typeface="Courier New" pitchFamily="34" charset="-120"/>
              </a:rPr>
              <a:t>(self, name, age):</a:t>
            </a:r>
            <a:endParaRPr lang="en-US" sz="1550" dirty="0"/>
          </a:p>
        </p:txBody>
      </p:sp>
      <p:sp>
        <p:nvSpPr>
          <p:cNvPr id="10" name="Text 8"/>
          <p:cNvSpPr txBox="1"/>
          <p:nvPr/>
        </p:nvSpPr>
        <p:spPr>
          <a:xfrm>
            <a:off x="868680" y="2594483"/>
            <a:ext cx="4937760" cy="305118"/>
          </a:xfrm>
          <a:prstGeom prst="rect">
            <a:avLst/>
          </a:prstGeom>
          <a:noFill/>
          <a:ln/>
        </p:spPr>
        <p:txBody>
          <a:bodyPr wrap="square" lIns="0" tIns="0" rIns="0" bIns="0" rtlCol="0" anchor="t"/>
          <a:lstStyle/>
          <a:p>
            <a:pPr indent="0" marL="0">
              <a:buNone/>
            </a:pPr>
            <a:r>
              <a:rPr lang="en-US" sz="1550" dirty="0">
                <a:solidFill>
                  <a:srgbClr val="E6EDF3"/>
                </a:solidFill>
                <a:latin typeface="Courier New" pitchFamily="34" charset="0"/>
                <a:ea typeface="Courier New" pitchFamily="34" charset="-122"/>
                <a:cs typeface="Courier New" pitchFamily="34" charset="-120"/>
              </a:rPr>
              <a:t>        self.name = name</a:t>
            </a:r>
            <a:endParaRPr lang="en-US" sz="1550" dirty="0"/>
          </a:p>
        </p:txBody>
      </p:sp>
      <p:sp>
        <p:nvSpPr>
          <p:cNvPr id="11" name="Text 9"/>
          <p:cNvSpPr txBox="1"/>
          <p:nvPr/>
        </p:nvSpPr>
        <p:spPr>
          <a:xfrm>
            <a:off x="868680" y="2899601"/>
            <a:ext cx="4937760" cy="305118"/>
          </a:xfrm>
          <a:prstGeom prst="rect">
            <a:avLst/>
          </a:prstGeom>
          <a:noFill/>
          <a:ln/>
        </p:spPr>
        <p:txBody>
          <a:bodyPr wrap="square" lIns="0" tIns="0" rIns="0" bIns="0" rtlCol="0" anchor="t"/>
          <a:lstStyle/>
          <a:p>
            <a:pPr indent="0" marL="0">
              <a:buNone/>
            </a:pPr>
            <a:r>
              <a:rPr lang="en-US" sz="1550" dirty="0">
                <a:solidFill>
                  <a:srgbClr val="E6EDF3"/>
                </a:solidFill>
                <a:latin typeface="Courier New" pitchFamily="34" charset="0"/>
                <a:ea typeface="Courier New" pitchFamily="34" charset="-122"/>
                <a:cs typeface="Courier New" pitchFamily="34" charset="-120"/>
              </a:rPr>
              <a:t>        self.age = age</a:t>
            </a:r>
            <a:endParaRPr lang="en-US" sz="1550" dirty="0"/>
          </a:p>
        </p:txBody>
      </p:sp>
      <p:sp>
        <p:nvSpPr>
          <p:cNvPr id="12" name="Shape 10"/>
          <p:cNvSpPr/>
          <p:nvPr/>
        </p:nvSpPr>
        <p:spPr>
          <a:xfrm>
            <a:off x="548640" y="3749040"/>
            <a:ext cx="5486400" cy="868680"/>
          </a:xfrm>
          <a:prstGeom prst="roundRect">
            <a:avLst>
              <a:gd name="adj" fmla="val 8421"/>
            </a:avLst>
          </a:prstGeom>
          <a:solidFill>
            <a:srgbClr val="161B22"/>
          </a:solidFill>
          <a:ln w="12700">
            <a:solidFill>
              <a:srgbClr val="30363D"/>
            </a:solidFill>
            <a:prstDash val="solid"/>
          </a:ln>
        </p:spPr>
      </p:sp>
      <p:sp>
        <p:nvSpPr>
          <p:cNvPr id="13" name="Shape 11"/>
          <p:cNvSpPr/>
          <p:nvPr/>
        </p:nvSpPr>
        <p:spPr>
          <a:xfrm>
            <a:off x="749808" y="3913632"/>
            <a:ext cx="100584" cy="100584"/>
          </a:xfrm>
          <a:prstGeom prst="ellipse">
            <a:avLst/>
          </a:prstGeom>
          <a:solidFill>
            <a:srgbClr val="F85149"/>
          </a:solidFill>
          <a:ln/>
        </p:spPr>
      </p:sp>
      <p:sp>
        <p:nvSpPr>
          <p:cNvPr id="14" name="Shape 12"/>
          <p:cNvSpPr/>
          <p:nvPr/>
        </p:nvSpPr>
        <p:spPr>
          <a:xfrm>
            <a:off x="950976" y="3913632"/>
            <a:ext cx="100584" cy="100584"/>
          </a:xfrm>
          <a:prstGeom prst="ellipse">
            <a:avLst/>
          </a:prstGeom>
          <a:solidFill>
            <a:srgbClr val="FFD43B"/>
          </a:solidFill>
          <a:ln/>
        </p:spPr>
      </p:sp>
      <p:sp>
        <p:nvSpPr>
          <p:cNvPr id="15" name="Shape 13"/>
          <p:cNvSpPr/>
          <p:nvPr/>
        </p:nvSpPr>
        <p:spPr>
          <a:xfrm>
            <a:off x="1152144" y="3913632"/>
            <a:ext cx="100584" cy="100584"/>
          </a:xfrm>
          <a:prstGeom prst="ellipse">
            <a:avLst/>
          </a:prstGeom>
          <a:solidFill>
            <a:srgbClr val="3FB950"/>
          </a:solidFill>
          <a:ln/>
        </p:spPr>
      </p:sp>
      <p:sp>
        <p:nvSpPr>
          <p:cNvPr id="16" name="Text 14"/>
          <p:cNvSpPr txBox="1"/>
          <p:nvPr/>
        </p:nvSpPr>
        <p:spPr>
          <a:xfrm>
            <a:off x="868680" y="4133088"/>
            <a:ext cx="4937760" cy="314960"/>
          </a:xfrm>
          <a:prstGeom prst="rect">
            <a:avLst/>
          </a:prstGeom>
          <a:noFill/>
          <a:ln/>
        </p:spPr>
        <p:txBody>
          <a:bodyPr wrap="square" lIns="0" tIns="0" rIns="0" bIns="0" rtlCol="0" anchor="t"/>
          <a:lstStyle/>
          <a:p>
            <a:pPr indent="0" marL="0">
              <a:buNone/>
            </a:pPr>
            <a:r>
              <a:rPr lang="en-US" sz="1600" dirty="0">
                <a:solidFill>
                  <a:srgbClr val="58A6FF"/>
                </a:solidFill>
                <a:latin typeface="Courier New" pitchFamily="34" charset="0"/>
                <a:ea typeface="Courier New" pitchFamily="34" charset="-122"/>
                <a:cs typeface="Courier New" pitchFamily="34" charset="-120"/>
              </a:rPr>
              <a:t>student1</a:t>
            </a:r>
            <a:pPr indent="0" marL="0">
              <a:buNone/>
            </a:pPr>
            <a:r>
              <a:rPr lang="en-US" sz="1600" dirty="0">
                <a:solidFill>
                  <a:srgbClr val="E6EDF3"/>
                </a:solidFill>
                <a:latin typeface="Courier New" pitchFamily="34" charset="0"/>
                <a:ea typeface="Courier New" pitchFamily="34" charset="-122"/>
                <a:cs typeface="Courier New" pitchFamily="34" charset="-120"/>
              </a:rPr>
              <a:t> = </a:t>
            </a:r>
            <a:pPr indent="0" marL="0">
              <a:buNone/>
            </a:pPr>
            <a:r>
              <a:rPr lang="en-US" sz="1600" dirty="0">
                <a:solidFill>
                  <a:srgbClr val="58A6FF"/>
                </a:solidFill>
                <a:latin typeface="Courier New" pitchFamily="34" charset="0"/>
                <a:ea typeface="Courier New" pitchFamily="34" charset="-122"/>
                <a:cs typeface="Courier New" pitchFamily="34" charset="-120"/>
              </a:rPr>
              <a:t>Student</a:t>
            </a:r>
            <a:pPr indent="0" marL="0">
              <a:buNone/>
            </a:pPr>
            <a:r>
              <a:rPr lang="en-US" sz="1600" dirty="0">
                <a:solidFill>
                  <a:srgbClr val="E6EDF3"/>
                </a:solidFill>
                <a:latin typeface="Courier New" pitchFamily="34" charset="0"/>
                <a:ea typeface="Courier New" pitchFamily="34" charset="-122"/>
                <a:cs typeface="Courier New" pitchFamily="34" charset="-120"/>
              </a:rPr>
              <a:t>(</a:t>
            </a:r>
            <a:pPr indent="0" marL="0">
              <a:buNone/>
            </a:pPr>
            <a:r>
              <a:rPr lang="en-US" sz="1600" dirty="0">
                <a:solidFill>
                  <a:srgbClr val="3FB950"/>
                </a:solidFill>
                <a:latin typeface="Courier New" pitchFamily="34" charset="0"/>
                <a:ea typeface="Courier New" pitchFamily="34" charset="-122"/>
                <a:cs typeface="Courier New" pitchFamily="34" charset="-120"/>
              </a:rPr>
              <a:t>"Arun"</a:t>
            </a:r>
            <a:pPr indent="0" marL="0">
              <a:buNone/>
            </a:pPr>
            <a:r>
              <a:rPr lang="en-US" sz="1600" dirty="0">
                <a:solidFill>
                  <a:srgbClr val="E6EDF3"/>
                </a:solidFill>
                <a:latin typeface="Courier New" pitchFamily="34" charset="0"/>
                <a:ea typeface="Courier New" pitchFamily="34" charset="-122"/>
                <a:cs typeface="Courier New" pitchFamily="34" charset="-120"/>
              </a:rPr>
              <a:t>, </a:t>
            </a:r>
            <a:pPr indent="0" marL="0">
              <a:buNone/>
            </a:pPr>
            <a:r>
              <a:rPr lang="en-US" sz="1600" dirty="0">
                <a:solidFill>
                  <a:srgbClr val="FFD43B"/>
                </a:solidFill>
                <a:latin typeface="Courier New" pitchFamily="34" charset="0"/>
                <a:ea typeface="Courier New" pitchFamily="34" charset="-122"/>
                <a:cs typeface="Courier New" pitchFamily="34" charset="-120"/>
              </a:rPr>
              <a:t>20</a:t>
            </a:r>
            <a:pPr indent="0" marL="0">
              <a:buNone/>
            </a:pPr>
            <a:r>
              <a:rPr lang="en-US" sz="1600" dirty="0">
                <a:solidFill>
                  <a:srgbClr val="E6EDF3"/>
                </a:solidFill>
                <a:latin typeface="Courier New" pitchFamily="34" charset="0"/>
                <a:ea typeface="Courier New" pitchFamily="34" charset="-122"/>
                <a:cs typeface="Courier New" pitchFamily="34" charset="-120"/>
              </a:rPr>
              <a:t>)</a:t>
            </a:r>
            <a:endParaRPr lang="en-US" sz="1600" dirty="0"/>
          </a:p>
        </p:txBody>
      </p:sp>
      <p:sp>
        <p:nvSpPr>
          <p:cNvPr id="17" name="Text 15"/>
          <p:cNvSpPr txBox="1"/>
          <p:nvPr/>
        </p:nvSpPr>
        <p:spPr>
          <a:xfrm>
            <a:off x="548640" y="4892040"/>
            <a:ext cx="5486400" cy="822960"/>
          </a:xfrm>
          <a:prstGeom prst="rect">
            <a:avLst/>
          </a:prstGeom>
          <a:noFill/>
          <a:ln/>
        </p:spPr>
        <p:txBody>
          <a:bodyPr wrap="square" lIns="0" tIns="0" rIns="0" bIns="0" rtlCol="0" anchor="ctr"/>
          <a:lstStyle/>
          <a:p>
            <a:pPr indent="0" marL="0">
              <a:buNone/>
            </a:pPr>
            <a:r>
              <a:rPr lang="en-US" sz="1250" i="1" dirty="0">
                <a:solidFill>
                  <a:srgbClr val="8B949E"/>
                </a:solidFill>
                <a:latin typeface="Calibri" pitchFamily="34" charset="0"/>
                <a:ea typeface="Calibri" pitchFamily="34" charset="-122"/>
                <a:cs typeface="Calibri" pitchFamily="34" charset="-120"/>
              </a:rPr>
              <a:t>In common terminology, __init__() is called the "constructor" — it</a:t>
            </a:r>
            <a:endParaRPr lang="en-US" sz="1250" dirty="0"/>
          </a:p>
          <a:p>
            <a:pPr indent="0" marL="0">
              <a:buNone/>
            </a:pPr>
            <a:r>
              <a:rPr lang="en-US" sz="1250" i="1" dirty="0">
                <a:solidFill>
                  <a:srgbClr val="8B949E"/>
                </a:solidFill>
                <a:latin typeface="Calibri" pitchFamily="34" charset="0"/>
                <a:ea typeface="Calibri" pitchFamily="34" charset="-122"/>
                <a:cs typeface="Calibri" pitchFamily="34" charset="-120"/>
              </a:rPr>
              <a:t>initializes the object when it is created.</a:t>
            </a:r>
            <a:endParaRPr lang="en-US" sz="1250" dirty="0"/>
          </a:p>
        </p:txBody>
      </p:sp>
      <p:sp>
        <p:nvSpPr>
          <p:cNvPr id="18" name="Shape 16"/>
          <p:cNvSpPr/>
          <p:nvPr/>
        </p:nvSpPr>
        <p:spPr>
          <a:xfrm>
            <a:off x="7315200" y="1600200"/>
            <a:ext cx="4206240" cy="731520"/>
          </a:xfrm>
          <a:prstGeom prst="roundRect">
            <a:avLst>
              <a:gd name="adj" fmla="val 10000"/>
            </a:avLst>
          </a:prstGeom>
          <a:solidFill>
            <a:srgbClr val="161B22"/>
          </a:solidFill>
          <a:ln w="12700">
            <a:solidFill>
              <a:srgbClr val="30363D"/>
            </a:solidFill>
            <a:prstDash val="solid"/>
          </a:ln>
        </p:spPr>
      </p:sp>
      <p:sp>
        <p:nvSpPr>
          <p:cNvPr id="19" name="Text 17"/>
          <p:cNvSpPr txBox="1"/>
          <p:nvPr/>
        </p:nvSpPr>
        <p:spPr>
          <a:xfrm>
            <a:off x="7315200" y="1600200"/>
            <a:ext cx="4206240" cy="731520"/>
          </a:xfrm>
          <a:prstGeom prst="rect">
            <a:avLst/>
          </a:prstGeom>
          <a:noFill/>
          <a:ln/>
        </p:spPr>
        <p:txBody>
          <a:bodyPr wrap="square" lIns="0" tIns="0" rIns="0" bIns="0" rtlCol="0" anchor="ctr"/>
          <a:lstStyle/>
          <a:p>
            <a:pPr algn="ctr" indent="0" marL="0">
              <a:buNone/>
            </a:pPr>
            <a:r>
              <a:rPr lang="en-US" sz="1350" b="1" dirty="0">
                <a:solidFill>
                  <a:srgbClr val="FFD43B"/>
                </a:solidFill>
                <a:latin typeface="Courier New" pitchFamily="34" charset="0"/>
                <a:ea typeface="Courier New" pitchFamily="34" charset="-122"/>
                <a:cs typeface="Courier New" pitchFamily="34" charset="-120"/>
              </a:rPr>
              <a:t>Student("Arun", 20)</a:t>
            </a:r>
            <a:endParaRPr lang="en-US" sz="1350" dirty="0"/>
          </a:p>
        </p:txBody>
      </p:sp>
      <p:sp>
        <p:nvSpPr>
          <p:cNvPr id="20" name="Shape 18"/>
          <p:cNvSpPr/>
          <p:nvPr/>
        </p:nvSpPr>
        <p:spPr>
          <a:xfrm>
            <a:off x="9418320" y="2331720"/>
            <a:ext cx="0" cy="320040"/>
          </a:xfrm>
          <a:prstGeom prst="line">
            <a:avLst/>
          </a:prstGeom>
          <a:noFill/>
          <a:ln w="19050">
            <a:solidFill>
              <a:srgbClr val="6E7681"/>
            </a:solidFill>
            <a:prstDash val="solid"/>
            <a:tailEnd type="triangle"/>
          </a:ln>
        </p:spPr>
      </p:sp>
      <p:sp>
        <p:nvSpPr>
          <p:cNvPr id="21" name="Shape 19"/>
          <p:cNvSpPr/>
          <p:nvPr/>
        </p:nvSpPr>
        <p:spPr>
          <a:xfrm>
            <a:off x="7315200" y="2651760"/>
            <a:ext cx="4206240" cy="731520"/>
          </a:xfrm>
          <a:prstGeom prst="roundRect">
            <a:avLst>
              <a:gd name="adj" fmla="val 10000"/>
            </a:avLst>
          </a:prstGeom>
          <a:solidFill>
            <a:srgbClr val="161B22"/>
          </a:solidFill>
          <a:ln w="12700">
            <a:solidFill>
              <a:srgbClr val="30363D"/>
            </a:solidFill>
            <a:prstDash val="solid"/>
          </a:ln>
        </p:spPr>
      </p:sp>
      <p:sp>
        <p:nvSpPr>
          <p:cNvPr id="22" name="Text 20"/>
          <p:cNvSpPr txBox="1"/>
          <p:nvPr/>
        </p:nvSpPr>
        <p:spPr>
          <a:xfrm>
            <a:off x="7315200" y="2651760"/>
            <a:ext cx="4206240" cy="731520"/>
          </a:xfrm>
          <a:prstGeom prst="rect">
            <a:avLst/>
          </a:prstGeom>
          <a:noFill/>
          <a:ln/>
        </p:spPr>
        <p:txBody>
          <a:bodyPr wrap="square" lIns="0" tIns="0" rIns="0" bIns="0" rtlCol="0" anchor="ctr"/>
          <a:lstStyle/>
          <a:p>
            <a:pPr algn="ctr" indent="0" marL="0">
              <a:buNone/>
            </a:pPr>
            <a:r>
              <a:rPr lang="en-US" sz="1350" dirty="0">
                <a:solidFill>
                  <a:srgbClr val="8B949E"/>
                </a:solidFill>
                <a:latin typeface="Courier New" pitchFamily="34" charset="0"/>
                <a:ea typeface="Courier New" pitchFamily="34" charset="-122"/>
                <a:cs typeface="Courier New" pitchFamily="34" charset="-120"/>
              </a:rPr>
              <a:t>object creation</a:t>
            </a:r>
            <a:endParaRPr lang="en-US" sz="1350" dirty="0"/>
          </a:p>
        </p:txBody>
      </p:sp>
      <p:sp>
        <p:nvSpPr>
          <p:cNvPr id="23" name="Shape 21"/>
          <p:cNvSpPr/>
          <p:nvPr/>
        </p:nvSpPr>
        <p:spPr>
          <a:xfrm>
            <a:off x="9418320" y="3383280"/>
            <a:ext cx="0" cy="320040"/>
          </a:xfrm>
          <a:prstGeom prst="line">
            <a:avLst/>
          </a:prstGeom>
          <a:noFill/>
          <a:ln w="19050">
            <a:solidFill>
              <a:srgbClr val="6E7681"/>
            </a:solidFill>
            <a:prstDash val="solid"/>
            <a:tailEnd type="triangle"/>
          </a:ln>
        </p:spPr>
      </p:sp>
      <p:sp>
        <p:nvSpPr>
          <p:cNvPr id="24" name="Shape 22"/>
          <p:cNvSpPr/>
          <p:nvPr/>
        </p:nvSpPr>
        <p:spPr>
          <a:xfrm>
            <a:off x="7315200" y="3703320"/>
            <a:ext cx="4206240" cy="731520"/>
          </a:xfrm>
          <a:prstGeom prst="roundRect">
            <a:avLst>
              <a:gd name="adj" fmla="val 10000"/>
            </a:avLst>
          </a:prstGeom>
          <a:solidFill>
            <a:srgbClr val="161B22"/>
          </a:solidFill>
          <a:ln w="12700">
            <a:solidFill>
              <a:srgbClr val="30363D"/>
            </a:solidFill>
            <a:prstDash val="solid"/>
          </a:ln>
        </p:spPr>
      </p:sp>
      <p:sp>
        <p:nvSpPr>
          <p:cNvPr id="25" name="Text 23"/>
          <p:cNvSpPr txBox="1"/>
          <p:nvPr/>
        </p:nvSpPr>
        <p:spPr>
          <a:xfrm>
            <a:off x="7315200" y="3703320"/>
            <a:ext cx="4206240" cy="731520"/>
          </a:xfrm>
          <a:prstGeom prst="rect">
            <a:avLst/>
          </a:prstGeom>
          <a:noFill/>
          <a:ln/>
        </p:spPr>
        <p:txBody>
          <a:bodyPr wrap="square" lIns="0" tIns="0" rIns="0" bIns="0" rtlCol="0" anchor="ctr"/>
          <a:lstStyle/>
          <a:p>
            <a:pPr algn="ctr" indent="0" marL="0">
              <a:buNone/>
            </a:pPr>
            <a:r>
              <a:rPr lang="en-US" sz="1350" b="1" dirty="0">
                <a:solidFill>
                  <a:srgbClr val="58A6FF"/>
                </a:solidFill>
                <a:latin typeface="Courier New" pitchFamily="34" charset="0"/>
                <a:ea typeface="Courier New" pitchFamily="34" charset="-122"/>
                <a:cs typeface="Courier New" pitchFamily="34" charset="-120"/>
              </a:rPr>
              <a:t>__init__() runs</a:t>
            </a:r>
            <a:endParaRPr lang="en-US" sz="1350" dirty="0"/>
          </a:p>
        </p:txBody>
      </p:sp>
      <p:sp>
        <p:nvSpPr>
          <p:cNvPr id="26" name="Shape 24"/>
          <p:cNvSpPr/>
          <p:nvPr/>
        </p:nvSpPr>
        <p:spPr>
          <a:xfrm>
            <a:off x="9418320" y="4434840"/>
            <a:ext cx="0" cy="320040"/>
          </a:xfrm>
          <a:prstGeom prst="line">
            <a:avLst/>
          </a:prstGeom>
          <a:noFill/>
          <a:ln w="19050">
            <a:solidFill>
              <a:srgbClr val="6E7681"/>
            </a:solidFill>
            <a:prstDash val="solid"/>
            <a:tailEnd type="triangle"/>
          </a:ln>
        </p:spPr>
      </p:sp>
      <p:sp>
        <p:nvSpPr>
          <p:cNvPr id="27" name="Shape 25"/>
          <p:cNvSpPr/>
          <p:nvPr/>
        </p:nvSpPr>
        <p:spPr>
          <a:xfrm>
            <a:off x="7315200" y="4754880"/>
            <a:ext cx="4206240" cy="731520"/>
          </a:xfrm>
          <a:prstGeom prst="roundRect">
            <a:avLst>
              <a:gd name="adj" fmla="val 10000"/>
            </a:avLst>
          </a:prstGeom>
          <a:solidFill>
            <a:srgbClr val="161B22"/>
          </a:solidFill>
          <a:ln w="12700">
            <a:solidFill>
              <a:srgbClr val="30363D"/>
            </a:solidFill>
            <a:prstDash val="solid"/>
          </a:ln>
        </p:spPr>
      </p:sp>
      <p:sp>
        <p:nvSpPr>
          <p:cNvPr id="28" name="Text 26"/>
          <p:cNvSpPr txBox="1"/>
          <p:nvPr/>
        </p:nvSpPr>
        <p:spPr>
          <a:xfrm>
            <a:off x="7315200" y="4754880"/>
            <a:ext cx="4206240" cy="731520"/>
          </a:xfrm>
          <a:prstGeom prst="rect">
            <a:avLst/>
          </a:prstGeom>
          <a:noFill/>
          <a:ln/>
        </p:spPr>
        <p:txBody>
          <a:bodyPr wrap="square" lIns="0" tIns="0" rIns="0" bIns="0" rtlCol="0" anchor="ctr"/>
          <a:lstStyle/>
          <a:p>
            <a:pPr algn="ctr" indent="0" marL="0">
              <a:buNone/>
            </a:pPr>
            <a:r>
              <a:rPr lang="en-US" sz="1350" dirty="0">
                <a:solidFill>
                  <a:srgbClr val="3FB950"/>
                </a:solidFill>
                <a:latin typeface="Courier New" pitchFamily="34" charset="0"/>
                <a:ea typeface="Courier New" pitchFamily="34" charset="-122"/>
                <a:cs typeface="Courier New" pitchFamily="34" charset="-120"/>
              </a:rPr>
              <a:t>initial state set</a:t>
            </a:r>
            <a:endParaRPr lang="en-US" sz="1350" dirty="0"/>
          </a:p>
        </p:txBody>
      </p:sp>
      <p:sp>
        <p:nvSpPr>
          <p:cNvPr id="29" name="Text 27"/>
          <p:cNvSpPr txBox="1"/>
          <p:nvPr/>
        </p:nvSpPr>
        <p:spPr>
          <a:xfrm>
            <a:off x="10728655" y="502920"/>
            <a:ext cx="914400" cy="274320"/>
          </a:xfrm>
          <a:prstGeom prst="rect">
            <a:avLst/>
          </a:prstGeom>
          <a:noFill/>
          <a:ln/>
        </p:spPr>
        <p:txBody>
          <a:bodyPr wrap="square" lIns="0" tIns="0" rIns="0" bIns="0" rtlCol="0" anchor="ctr"/>
          <a:lstStyle/>
          <a:p>
            <a:pPr algn="r" indent="0" marL="0">
              <a:buNone/>
            </a:pPr>
            <a:r>
              <a:rPr lang="en-US" sz="900" dirty="0">
                <a:solidFill>
                  <a:srgbClr val="6E7681"/>
                </a:solidFill>
                <a:latin typeface="Courier New" pitchFamily="34" charset="0"/>
                <a:ea typeface="Courier New" pitchFamily="34" charset="-122"/>
                <a:cs typeface="Courier New" pitchFamily="34" charset="-120"/>
              </a:rPr>
              <a:t>06 / 14</a:t>
            </a:r>
            <a:endParaRPr lang="en-US" sz="900" dirty="0"/>
          </a:p>
        </p:txBody>
      </p:sp>
      <p:sp>
        <p:nvSpPr>
          <p:cNvPr id="30" name="Shape 28"/>
          <p:cNvSpPr/>
          <p:nvPr/>
        </p:nvSpPr>
        <p:spPr>
          <a:xfrm>
            <a:off x="9357055" y="6291072"/>
            <a:ext cx="2286000" cy="365760"/>
          </a:xfrm>
          <a:prstGeom prst="roundRect">
            <a:avLst>
              <a:gd name="adj" fmla="val 15000"/>
            </a:avLst>
          </a:prstGeom>
          <a:solidFill>
            <a:srgbClr val="1C2129"/>
          </a:solidFill>
          <a:ln w="9525">
            <a:solidFill>
              <a:srgbClr val="30363D"/>
            </a:solidFill>
            <a:prstDash val="solid"/>
          </a:ln>
        </p:spPr>
      </p:sp>
      <p:sp>
        <p:nvSpPr>
          <p:cNvPr id="31" name="Text 29"/>
          <p:cNvSpPr txBox="1"/>
          <p:nvPr/>
        </p:nvSpPr>
        <p:spPr>
          <a:xfrm>
            <a:off x="9357055" y="6291072"/>
            <a:ext cx="2286000" cy="365760"/>
          </a:xfrm>
          <a:prstGeom prst="rect">
            <a:avLst/>
          </a:prstGeom>
          <a:noFill/>
          <a:ln/>
        </p:spPr>
        <p:txBody>
          <a:bodyPr wrap="square" lIns="0" tIns="0" rIns="0" bIns="0" rtlCol="0" anchor="ctr"/>
          <a:lstStyle/>
          <a:p>
            <a:pPr algn="ctr" indent="0" marL="0">
              <a:buNone/>
            </a:pPr>
            <a:r>
              <a:rPr lang="en-US" sz="1000" dirty="0">
                <a:solidFill>
                  <a:srgbClr val="3FB950"/>
                </a:solidFill>
                <a:latin typeface="Courier New" pitchFamily="34" charset="0"/>
                <a:ea typeface="Courier New" pitchFamily="34" charset="-122"/>
                <a:cs typeface="Courier New" pitchFamily="34" charset="-120"/>
              </a:rPr>
              <a:t>▶ </a:t>
            </a:r>
            <a:pPr algn="ctr" indent="0" marL="0">
              <a:buNone/>
            </a:pPr>
            <a:r>
              <a:rPr lang="en-US" sz="1000" dirty="0">
                <a:solidFill>
                  <a:srgbClr val="8B949E"/>
                </a:solidFill>
                <a:latin typeface="Courier New" pitchFamily="34" charset="0"/>
                <a:ea typeface="Courier New" pitchFamily="34" charset="-122"/>
                <a:cs typeface="Courier New" pitchFamily="34" charset="-120"/>
              </a:rPr>
              <a:t>04_constructor.py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B8BBE"/>
                </a:solidFill>
                <a:latin typeface="Courier New" pitchFamily="34" charset="0"/>
                <a:ea typeface="Courier New" pitchFamily="34" charset="-122"/>
                <a:cs typeface="Courier New" pitchFamily="34" charset="-120"/>
              </a:rPr>
              <a:t>06 · THE CORE IDEA</a:t>
            </a:r>
            <a:endParaRPr lang="en-US" sz="1200" dirty="0"/>
          </a:p>
        </p:txBody>
      </p:sp>
      <p:sp>
        <p:nvSpPr>
          <p:cNvPr id="3" name="Text 1"/>
          <p:cNvSpPr txBox="1"/>
          <p:nvPr/>
        </p:nvSpPr>
        <p:spPr>
          <a:xfrm>
            <a:off x="548640" y="777240"/>
            <a:ext cx="11094415" cy="822960"/>
          </a:xfrm>
          <a:prstGeom prst="rect">
            <a:avLst/>
          </a:prstGeom>
          <a:noFill/>
          <a:ln/>
        </p:spPr>
        <p:txBody>
          <a:bodyPr wrap="square" lIns="0" tIns="0" rIns="0" bIns="0" rtlCol="0" anchor="ctr"/>
          <a:lstStyle/>
          <a:p>
            <a:pPr indent="0" marL="0">
              <a:buNone/>
            </a:pPr>
            <a:r>
              <a:rPr lang="en-US" sz="3200" b="1" dirty="0">
                <a:solidFill>
                  <a:srgbClr val="E6EDF3"/>
                </a:solidFill>
                <a:latin typeface="Consolas" pitchFamily="34" charset="0"/>
                <a:ea typeface="Consolas" pitchFamily="34" charset="-122"/>
                <a:cs typeface="Consolas" pitchFamily="34" charset="-120"/>
              </a:rPr>
              <a:t>Understanding self</a:t>
            </a:r>
            <a:endParaRPr lang="en-US" sz="3200" dirty="0"/>
          </a:p>
        </p:txBody>
      </p:sp>
      <p:sp>
        <p:nvSpPr>
          <p:cNvPr id="4" name="Shape 2"/>
          <p:cNvSpPr/>
          <p:nvPr/>
        </p:nvSpPr>
        <p:spPr>
          <a:xfrm>
            <a:off x="548640" y="1554480"/>
            <a:ext cx="4937760" cy="1554480"/>
          </a:xfrm>
          <a:prstGeom prst="roundRect">
            <a:avLst>
              <a:gd name="adj" fmla="val 4706"/>
            </a:avLst>
          </a:prstGeom>
          <a:solidFill>
            <a:srgbClr val="161B22"/>
          </a:solidFill>
          <a:ln w="12700">
            <a:solidFill>
              <a:srgbClr val="30363D"/>
            </a:solidFill>
            <a:prstDash val="solid"/>
          </a:ln>
        </p:spPr>
      </p:sp>
      <p:sp>
        <p:nvSpPr>
          <p:cNvPr id="5" name="Shape 3"/>
          <p:cNvSpPr/>
          <p:nvPr/>
        </p:nvSpPr>
        <p:spPr>
          <a:xfrm>
            <a:off x="749808" y="1719072"/>
            <a:ext cx="100584" cy="100584"/>
          </a:xfrm>
          <a:prstGeom prst="ellipse">
            <a:avLst/>
          </a:prstGeom>
          <a:solidFill>
            <a:srgbClr val="F85149"/>
          </a:solidFill>
          <a:ln/>
        </p:spPr>
      </p:sp>
      <p:sp>
        <p:nvSpPr>
          <p:cNvPr id="6" name="Shape 4"/>
          <p:cNvSpPr/>
          <p:nvPr/>
        </p:nvSpPr>
        <p:spPr>
          <a:xfrm>
            <a:off x="950976" y="1719072"/>
            <a:ext cx="100584" cy="100584"/>
          </a:xfrm>
          <a:prstGeom prst="ellipse">
            <a:avLst/>
          </a:prstGeom>
          <a:solidFill>
            <a:srgbClr val="FFD43B"/>
          </a:solidFill>
          <a:ln/>
        </p:spPr>
      </p:sp>
      <p:sp>
        <p:nvSpPr>
          <p:cNvPr id="7" name="Shape 5"/>
          <p:cNvSpPr/>
          <p:nvPr/>
        </p:nvSpPr>
        <p:spPr>
          <a:xfrm>
            <a:off x="1152144" y="1719072"/>
            <a:ext cx="100584" cy="100584"/>
          </a:xfrm>
          <a:prstGeom prst="ellipse">
            <a:avLst/>
          </a:prstGeom>
          <a:solidFill>
            <a:srgbClr val="3FB950"/>
          </a:solidFill>
          <a:ln/>
        </p:spPr>
      </p:sp>
      <p:sp>
        <p:nvSpPr>
          <p:cNvPr id="8" name="Text 6"/>
          <p:cNvSpPr txBox="1"/>
          <p:nvPr/>
        </p:nvSpPr>
        <p:spPr>
          <a:xfrm>
            <a:off x="868680" y="1938528"/>
            <a:ext cx="4389120" cy="285433"/>
          </a:xfrm>
          <a:prstGeom prst="rect">
            <a:avLst/>
          </a:prstGeom>
          <a:noFill/>
          <a:ln/>
        </p:spPr>
        <p:txBody>
          <a:bodyPr wrap="square" lIns="0" tIns="0" rIns="0" bIns="0" rtlCol="0" anchor="t"/>
          <a:lstStyle/>
          <a:p>
            <a:pPr indent="0" marL="0">
              <a:buNone/>
            </a:pPr>
            <a:r>
              <a:rPr lang="en-US" sz="1450" b="1" dirty="0">
                <a:solidFill>
                  <a:srgbClr val="4B8BBE"/>
                </a:solidFill>
                <a:latin typeface="Courier New" pitchFamily="34" charset="0"/>
                <a:ea typeface="Courier New" pitchFamily="34" charset="-122"/>
                <a:cs typeface="Courier New" pitchFamily="34" charset="-120"/>
              </a:rPr>
              <a:t>class</a:t>
            </a:r>
            <a:pPr indent="0" marL="0">
              <a:buNone/>
            </a:pPr>
            <a:r>
              <a:rPr lang="en-US" sz="1450" dirty="0">
                <a:solidFill>
                  <a:srgbClr val="E6EDF3"/>
                </a:solidFill>
                <a:latin typeface="Courier New" pitchFamily="34" charset="0"/>
                <a:ea typeface="Courier New" pitchFamily="34" charset="-122"/>
                <a:cs typeface="Courier New" pitchFamily="34" charset="-120"/>
              </a:rPr>
              <a:t> </a:t>
            </a:r>
            <a:pPr indent="0" marL="0">
              <a:buNone/>
            </a:pPr>
            <a:r>
              <a:rPr lang="en-US" sz="1450" dirty="0">
                <a:solidFill>
                  <a:srgbClr val="58A6FF"/>
                </a:solidFill>
                <a:latin typeface="Courier New" pitchFamily="34" charset="0"/>
                <a:ea typeface="Courier New" pitchFamily="34" charset="-122"/>
                <a:cs typeface="Courier New" pitchFamily="34" charset="-120"/>
              </a:rPr>
              <a:t>Student</a:t>
            </a:r>
            <a:pPr indent="0" marL="0">
              <a:buNone/>
            </a:pPr>
            <a:r>
              <a:rPr lang="en-US" sz="1450" dirty="0">
                <a:solidFill>
                  <a:srgbClr val="E6EDF3"/>
                </a:solidFill>
                <a:latin typeface="Courier New" pitchFamily="34" charset="0"/>
                <a:ea typeface="Courier New" pitchFamily="34" charset="-122"/>
                <a:cs typeface="Courier New" pitchFamily="34" charset="-120"/>
              </a:rPr>
              <a:t>:</a:t>
            </a:r>
            <a:endParaRPr lang="en-US" sz="1450" dirty="0"/>
          </a:p>
        </p:txBody>
      </p:sp>
      <p:sp>
        <p:nvSpPr>
          <p:cNvPr id="9" name="Text 7"/>
          <p:cNvSpPr txBox="1"/>
          <p:nvPr/>
        </p:nvSpPr>
        <p:spPr>
          <a:xfrm>
            <a:off x="868680" y="2223961"/>
            <a:ext cx="4389120" cy="285433"/>
          </a:xfrm>
          <a:prstGeom prst="rect">
            <a:avLst/>
          </a:prstGeom>
          <a:noFill/>
          <a:ln/>
        </p:spPr>
        <p:txBody>
          <a:bodyPr wrap="square" lIns="0" tIns="0" rIns="0" bIns="0" rtlCol="0" anchor="t"/>
          <a:lstStyle/>
          <a:p>
            <a:pPr indent="0" marL="0">
              <a:buNone/>
            </a:pPr>
            <a:r>
              <a:rPr lang="en-US" sz="1450" dirty="0">
                <a:solidFill>
                  <a:srgbClr val="E6EDF3"/>
                </a:solidFill>
                <a:latin typeface="Courier New" pitchFamily="34" charset="0"/>
                <a:ea typeface="Courier New" pitchFamily="34" charset="-122"/>
                <a:cs typeface="Courier New" pitchFamily="34" charset="-120"/>
              </a:rPr>
              <a:t>    </a:t>
            </a:r>
            <a:pPr indent="0" marL="0">
              <a:buNone/>
            </a:pPr>
            <a:r>
              <a:rPr lang="en-US" sz="1450" b="1" dirty="0">
                <a:solidFill>
                  <a:srgbClr val="4B8BBE"/>
                </a:solidFill>
                <a:latin typeface="Courier New" pitchFamily="34" charset="0"/>
                <a:ea typeface="Courier New" pitchFamily="34" charset="-122"/>
                <a:cs typeface="Courier New" pitchFamily="34" charset="-120"/>
              </a:rPr>
              <a:t>def </a:t>
            </a:r>
            <a:pPr indent="0" marL="0">
              <a:buNone/>
            </a:pPr>
            <a:r>
              <a:rPr lang="en-US" sz="1450" dirty="0">
                <a:solidFill>
                  <a:srgbClr val="58A6FF"/>
                </a:solidFill>
                <a:latin typeface="Courier New" pitchFamily="34" charset="0"/>
                <a:ea typeface="Courier New" pitchFamily="34" charset="-122"/>
                <a:cs typeface="Courier New" pitchFamily="34" charset="-120"/>
              </a:rPr>
              <a:t>__init__</a:t>
            </a:r>
            <a:pPr indent="0" marL="0">
              <a:buNone/>
            </a:pPr>
            <a:r>
              <a:rPr lang="en-US" sz="1450" dirty="0">
                <a:solidFill>
                  <a:srgbClr val="E6EDF3"/>
                </a:solidFill>
                <a:latin typeface="Courier New" pitchFamily="34" charset="0"/>
                <a:ea typeface="Courier New" pitchFamily="34" charset="-122"/>
                <a:cs typeface="Courier New" pitchFamily="34" charset="-120"/>
              </a:rPr>
              <a:t>(self, name, age):</a:t>
            </a:r>
            <a:endParaRPr lang="en-US" sz="1450" dirty="0"/>
          </a:p>
        </p:txBody>
      </p:sp>
      <p:sp>
        <p:nvSpPr>
          <p:cNvPr id="10" name="Text 8"/>
          <p:cNvSpPr txBox="1"/>
          <p:nvPr/>
        </p:nvSpPr>
        <p:spPr>
          <a:xfrm>
            <a:off x="868680" y="2509393"/>
            <a:ext cx="4389120" cy="285433"/>
          </a:xfrm>
          <a:prstGeom prst="rect">
            <a:avLst/>
          </a:prstGeom>
          <a:noFill/>
          <a:ln/>
        </p:spPr>
        <p:txBody>
          <a:bodyPr wrap="square" lIns="0" tIns="0" rIns="0" bIns="0" rtlCol="0" anchor="t"/>
          <a:lstStyle/>
          <a:p>
            <a:pPr indent="0" marL="0">
              <a:buNone/>
            </a:pPr>
            <a:r>
              <a:rPr lang="en-US" sz="1450" dirty="0">
                <a:solidFill>
                  <a:srgbClr val="E6EDF3"/>
                </a:solidFill>
                <a:latin typeface="Courier New" pitchFamily="34" charset="0"/>
                <a:ea typeface="Courier New" pitchFamily="34" charset="-122"/>
                <a:cs typeface="Courier New" pitchFamily="34" charset="-120"/>
              </a:rPr>
              <a:t>        self.name = name</a:t>
            </a:r>
            <a:endParaRPr lang="en-US" sz="1450" dirty="0"/>
          </a:p>
        </p:txBody>
      </p:sp>
      <p:sp>
        <p:nvSpPr>
          <p:cNvPr id="11" name="Shape 9"/>
          <p:cNvSpPr/>
          <p:nvPr/>
        </p:nvSpPr>
        <p:spPr>
          <a:xfrm>
            <a:off x="548640" y="3246120"/>
            <a:ext cx="4937760" cy="594360"/>
          </a:xfrm>
          <a:prstGeom prst="roundRect">
            <a:avLst>
              <a:gd name="adj" fmla="val 12308"/>
            </a:avLst>
          </a:prstGeom>
          <a:solidFill>
            <a:srgbClr val="1C2129"/>
          </a:solidFill>
          <a:ln w="12700">
            <a:solidFill>
              <a:srgbClr val="4B8BBE"/>
            </a:solidFill>
            <a:prstDash val="solid"/>
          </a:ln>
        </p:spPr>
      </p:sp>
      <p:sp>
        <p:nvSpPr>
          <p:cNvPr id="12" name="Text 10"/>
          <p:cNvSpPr txBox="1"/>
          <p:nvPr/>
        </p:nvSpPr>
        <p:spPr>
          <a:xfrm>
            <a:off x="777240" y="3246120"/>
            <a:ext cx="4572000" cy="594360"/>
          </a:xfrm>
          <a:prstGeom prst="rect">
            <a:avLst/>
          </a:prstGeom>
          <a:noFill/>
          <a:ln/>
        </p:spPr>
        <p:txBody>
          <a:bodyPr wrap="square" lIns="0" tIns="0" rIns="0" bIns="0" rtlCol="0" anchor="ctr"/>
          <a:lstStyle/>
          <a:p>
            <a:pPr indent="0" marL="0">
              <a:buNone/>
            </a:pPr>
            <a:r>
              <a:rPr lang="en-US" sz="1450" b="1" dirty="0">
                <a:solidFill>
                  <a:srgbClr val="FFD43B"/>
                </a:solidFill>
                <a:latin typeface="Courier New" pitchFamily="34" charset="0"/>
                <a:ea typeface="Courier New" pitchFamily="34" charset="-122"/>
                <a:cs typeface="Courier New" pitchFamily="34" charset="-120"/>
              </a:rPr>
              <a:t>self</a:t>
            </a:r>
            <a:pPr indent="0" marL="0">
              <a:buNone/>
            </a:pPr>
            <a:r>
              <a:rPr lang="en-US" sz="1450" dirty="0">
                <a:solidFill>
                  <a:srgbClr val="E6EDF3"/>
                </a:solidFill>
                <a:latin typeface="Courier New" pitchFamily="34" charset="0"/>
                <a:ea typeface="Courier New" pitchFamily="34" charset="-122"/>
                <a:cs typeface="Courier New" pitchFamily="34" charset="-120"/>
              </a:rPr>
              <a:t>  →  reference to the current instance</a:t>
            </a:r>
            <a:endParaRPr lang="en-US" sz="1450" dirty="0"/>
          </a:p>
        </p:txBody>
      </p:sp>
      <p:sp>
        <p:nvSpPr>
          <p:cNvPr id="13" name="Shape 11"/>
          <p:cNvSpPr/>
          <p:nvPr/>
        </p:nvSpPr>
        <p:spPr>
          <a:xfrm>
            <a:off x="548640" y="4023360"/>
            <a:ext cx="2377440" cy="1463040"/>
          </a:xfrm>
          <a:prstGeom prst="roundRect">
            <a:avLst>
              <a:gd name="adj" fmla="val 5000"/>
            </a:avLst>
          </a:prstGeom>
          <a:solidFill>
            <a:srgbClr val="161B22"/>
          </a:solidFill>
          <a:ln w="12700">
            <a:solidFill>
              <a:srgbClr val="30363D"/>
            </a:solidFill>
            <a:prstDash val="solid"/>
          </a:ln>
        </p:spPr>
      </p:sp>
      <p:sp>
        <p:nvSpPr>
          <p:cNvPr id="14" name="Text 12"/>
          <p:cNvSpPr txBox="1"/>
          <p:nvPr/>
        </p:nvSpPr>
        <p:spPr>
          <a:xfrm>
            <a:off x="731520" y="4160520"/>
            <a:ext cx="2011680" cy="365760"/>
          </a:xfrm>
          <a:prstGeom prst="rect">
            <a:avLst/>
          </a:prstGeom>
          <a:noFill/>
          <a:ln/>
        </p:spPr>
        <p:txBody>
          <a:bodyPr wrap="square" lIns="0" tIns="0" rIns="0" bIns="0" rtlCol="0" anchor="ctr"/>
          <a:lstStyle/>
          <a:p>
            <a:pPr indent="0" marL="0">
              <a:buNone/>
            </a:pPr>
            <a:r>
              <a:rPr lang="en-US" sz="1500" b="1" dirty="0">
                <a:solidFill>
                  <a:srgbClr val="58A6FF"/>
                </a:solidFill>
                <a:latin typeface="Courier New" pitchFamily="34" charset="0"/>
                <a:ea typeface="Courier New" pitchFamily="34" charset="-122"/>
                <a:cs typeface="Courier New" pitchFamily="34" charset="-120"/>
              </a:rPr>
              <a:t>name</a:t>
            </a:r>
            <a:endParaRPr lang="en-US" sz="1500" dirty="0"/>
          </a:p>
        </p:txBody>
      </p:sp>
      <p:sp>
        <p:nvSpPr>
          <p:cNvPr id="15" name="Text 13"/>
          <p:cNvSpPr txBox="1"/>
          <p:nvPr/>
        </p:nvSpPr>
        <p:spPr>
          <a:xfrm>
            <a:off x="731520" y="4526280"/>
            <a:ext cx="2011680" cy="822960"/>
          </a:xfrm>
          <a:prstGeom prst="rect">
            <a:avLst/>
          </a:prstGeom>
          <a:noFill/>
          <a:ln/>
        </p:spPr>
        <p:txBody>
          <a:bodyPr wrap="square" lIns="0" tIns="0" rIns="0" bIns="0" rtlCol="0" anchor="ctr"/>
          <a:lstStyle/>
          <a:p>
            <a:pPr indent="0" marL="0">
              <a:buNone/>
            </a:pPr>
            <a:r>
              <a:rPr lang="en-US" sz="1150" dirty="0">
                <a:solidFill>
                  <a:srgbClr val="8B949E"/>
                </a:solidFill>
                <a:latin typeface="Calibri" pitchFamily="34" charset="0"/>
                <a:ea typeface="Calibri" pitchFamily="34" charset="-122"/>
                <a:cs typeface="Calibri" pitchFamily="34" charset="-120"/>
              </a:rPr>
              <a:t>local parameter,</a:t>
            </a:r>
            <a:endParaRPr lang="en-US" sz="1150" dirty="0"/>
          </a:p>
          <a:p>
            <a:pPr indent="0" marL="0">
              <a:buNone/>
            </a:pPr>
            <a:r>
              <a:rPr lang="en-US" sz="1150" dirty="0">
                <a:solidFill>
                  <a:srgbClr val="8B949E"/>
                </a:solidFill>
                <a:latin typeface="Calibri" pitchFamily="34" charset="0"/>
                <a:ea typeface="Calibri" pitchFamily="34" charset="-122"/>
                <a:cs typeface="Calibri" pitchFamily="34" charset="-120"/>
              </a:rPr>
              <a:t>exists only inside</a:t>
            </a:r>
            <a:endParaRPr lang="en-US" sz="1150" dirty="0"/>
          </a:p>
          <a:p>
            <a:pPr indent="0" marL="0">
              <a:buNone/>
            </a:pPr>
            <a:r>
              <a:rPr lang="en-US" sz="1150" dirty="0">
                <a:solidFill>
                  <a:srgbClr val="8B949E"/>
                </a:solidFill>
                <a:latin typeface="Calibri" pitchFamily="34" charset="0"/>
                <a:ea typeface="Calibri" pitchFamily="34" charset="-122"/>
                <a:cs typeface="Calibri" pitchFamily="34" charset="-120"/>
              </a:rPr>
              <a:t>the method call</a:t>
            </a:r>
            <a:endParaRPr lang="en-US" sz="1150" dirty="0"/>
          </a:p>
        </p:txBody>
      </p:sp>
      <p:sp>
        <p:nvSpPr>
          <p:cNvPr id="16" name="Shape 14"/>
          <p:cNvSpPr/>
          <p:nvPr/>
        </p:nvSpPr>
        <p:spPr>
          <a:xfrm>
            <a:off x="3108960" y="4023360"/>
            <a:ext cx="2377440" cy="1463040"/>
          </a:xfrm>
          <a:prstGeom prst="roundRect">
            <a:avLst>
              <a:gd name="adj" fmla="val 5000"/>
            </a:avLst>
          </a:prstGeom>
          <a:solidFill>
            <a:srgbClr val="161B22"/>
          </a:solidFill>
          <a:ln w="12700">
            <a:solidFill>
              <a:srgbClr val="30363D"/>
            </a:solidFill>
            <a:prstDash val="solid"/>
          </a:ln>
        </p:spPr>
      </p:sp>
      <p:sp>
        <p:nvSpPr>
          <p:cNvPr id="17" name="Text 15"/>
          <p:cNvSpPr txBox="1"/>
          <p:nvPr/>
        </p:nvSpPr>
        <p:spPr>
          <a:xfrm>
            <a:off x="3291840" y="4160520"/>
            <a:ext cx="2011680" cy="365760"/>
          </a:xfrm>
          <a:prstGeom prst="rect">
            <a:avLst/>
          </a:prstGeom>
          <a:noFill/>
          <a:ln/>
        </p:spPr>
        <p:txBody>
          <a:bodyPr wrap="square" lIns="0" tIns="0" rIns="0" bIns="0" rtlCol="0" anchor="ctr"/>
          <a:lstStyle/>
          <a:p>
            <a:pPr indent="0" marL="0">
              <a:buNone/>
            </a:pPr>
            <a:r>
              <a:rPr lang="en-US" sz="1500" b="1" dirty="0">
                <a:solidFill>
                  <a:srgbClr val="FFD43B"/>
                </a:solidFill>
                <a:latin typeface="Courier New" pitchFamily="34" charset="0"/>
                <a:ea typeface="Courier New" pitchFamily="34" charset="-122"/>
                <a:cs typeface="Courier New" pitchFamily="34" charset="-120"/>
              </a:rPr>
              <a:t>self.name</a:t>
            </a:r>
            <a:endParaRPr lang="en-US" sz="1500" dirty="0"/>
          </a:p>
        </p:txBody>
      </p:sp>
      <p:sp>
        <p:nvSpPr>
          <p:cNvPr id="18" name="Text 16"/>
          <p:cNvSpPr txBox="1"/>
          <p:nvPr/>
        </p:nvSpPr>
        <p:spPr>
          <a:xfrm>
            <a:off x="3291840" y="4526280"/>
            <a:ext cx="2011680" cy="822960"/>
          </a:xfrm>
          <a:prstGeom prst="rect">
            <a:avLst/>
          </a:prstGeom>
          <a:noFill/>
          <a:ln/>
        </p:spPr>
        <p:txBody>
          <a:bodyPr wrap="square" lIns="0" tIns="0" rIns="0" bIns="0" rtlCol="0" anchor="ctr"/>
          <a:lstStyle/>
          <a:p>
            <a:pPr indent="0" marL="0">
              <a:buNone/>
            </a:pPr>
            <a:r>
              <a:rPr lang="en-US" sz="1150" dirty="0">
                <a:solidFill>
                  <a:srgbClr val="8B949E"/>
                </a:solidFill>
                <a:latin typeface="Calibri" pitchFamily="34" charset="0"/>
                <a:ea typeface="Calibri" pitchFamily="34" charset="-122"/>
                <a:cs typeface="Calibri" pitchFamily="34" charset="-120"/>
              </a:rPr>
              <a:t>attribute stored</a:t>
            </a:r>
            <a:endParaRPr lang="en-US" sz="1150" dirty="0"/>
          </a:p>
          <a:p>
            <a:pPr indent="0" marL="0">
              <a:buNone/>
            </a:pPr>
            <a:r>
              <a:rPr lang="en-US" sz="1150" dirty="0">
                <a:solidFill>
                  <a:srgbClr val="8B949E"/>
                </a:solidFill>
                <a:latin typeface="Calibri" pitchFamily="34" charset="0"/>
                <a:ea typeface="Calibri" pitchFamily="34" charset="-122"/>
                <a:cs typeface="Calibri" pitchFamily="34" charset="-120"/>
              </a:rPr>
              <a:t>on the current</a:t>
            </a:r>
            <a:endParaRPr lang="en-US" sz="1150" dirty="0"/>
          </a:p>
          <a:p>
            <a:pPr indent="0" marL="0">
              <a:buNone/>
            </a:pPr>
            <a:r>
              <a:rPr lang="en-US" sz="1150" dirty="0">
                <a:solidFill>
                  <a:srgbClr val="8B949E"/>
                </a:solidFill>
                <a:latin typeface="Calibri" pitchFamily="34" charset="0"/>
                <a:ea typeface="Calibri" pitchFamily="34" charset="-122"/>
                <a:cs typeface="Calibri" pitchFamily="34" charset="-120"/>
              </a:rPr>
              <a:t>object, persists</a:t>
            </a:r>
            <a:endParaRPr lang="en-US" sz="1150" dirty="0"/>
          </a:p>
        </p:txBody>
      </p:sp>
      <p:sp>
        <p:nvSpPr>
          <p:cNvPr id="19" name="Text 17"/>
          <p:cNvSpPr txBox="1"/>
          <p:nvPr/>
        </p:nvSpPr>
        <p:spPr>
          <a:xfrm>
            <a:off x="6537960" y="1508760"/>
            <a:ext cx="5074920" cy="320040"/>
          </a:xfrm>
          <a:prstGeom prst="rect">
            <a:avLst/>
          </a:prstGeom>
          <a:noFill/>
          <a:ln/>
        </p:spPr>
        <p:txBody>
          <a:bodyPr wrap="square" lIns="0" tIns="0" rIns="0" bIns="0" rtlCol="0" anchor="ctr"/>
          <a:lstStyle/>
          <a:p>
            <a:pPr indent="0" marL="0">
              <a:buNone/>
            </a:pPr>
            <a:r>
              <a:rPr lang="en-US" sz="1300" b="1" dirty="0">
                <a:solidFill>
                  <a:srgbClr val="8B949E"/>
                </a:solidFill>
                <a:latin typeface="Calibri" pitchFamily="34" charset="0"/>
                <a:ea typeface="Calibri" pitchFamily="34" charset="-122"/>
                <a:cs typeface="Calibri" pitchFamily="34" charset="-120"/>
              </a:rPr>
              <a:t>Calling a method through an object:</a:t>
            </a:r>
            <a:endParaRPr lang="en-US" sz="1300" dirty="0"/>
          </a:p>
        </p:txBody>
      </p:sp>
      <p:sp>
        <p:nvSpPr>
          <p:cNvPr id="20" name="Shape 18"/>
          <p:cNvSpPr/>
          <p:nvPr/>
        </p:nvSpPr>
        <p:spPr>
          <a:xfrm>
            <a:off x="6537960" y="1874520"/>
            <a:ext cx="5074920" cy="566928"/>
          </a:xfrm>
          <a:prstGeom prst="roundRect">
            <a:avLst>
              <a:gd name="adj" fmla="val 12903"/>
            </a:avLst>
          </a:prstGeom>
          <a:solidFill>
            <a:srgbClr val="161B22"/>
          </a:solidFill>
          <a:ln w="12700">
            <a:solidFill>
              <a:srgbClr val="30363D"/>
            </a:solidFill>
            <a:prstDash val="solid"/>
          </a:ln>
        </p:spPr>
      </p:sp>
      <p:sp>
        <p:nvSpPr>
          <p:cNvPr id="21" name="Text 19"/>
          <p:cNvSpPr txBox="1"/>
          <p:nvPr/>
        </p:nvSpPr>
        <p:spPr>
          <a:xfrm>
            <a:off x="6720840" y="1874520"/>
            <a:ext cx="4709160" cy="566928"/>
          </a:xfrm>
          <a:prstGeom prst="rect">
            <a:avLst/>
          </a:prstGeom>
          <a:noFill/>
          <a:ln/>
        </p:spPr>
        <p:txBody>
          <a:bodyPr wrap="square" lIns="0" tIns="0" rIns="0" bIns="0" rtlCol="0" anchor="ctr"/>
          <a:lstStyle/>
          <a:p>
            <a:pPr indent="0" marL="0">
              <a:buNone/>
            </a:pPr>
            <a:r>
              <a:rPr lang="en-US" sz="1350" dirty="0">
                <a:solidFill>
                  <a:srgbClr val="E6EDF3"/>
                </a:solidFill>
                <a:latin typeface="Courier New" pitchFamily="34" charset="0"/>
                <a:ea typeface="Courier New" pitchFamily="34" charset="-122"/>
                <a:cs typeface="Courier New" pitchFamily="34" charset="-120"/>
              </a:rPr>
              <a:t>student1.introduce()</a:t>
            </a:r>
            <a:endParaRPr lang="en-US" sz="1350" dirty="0"/>
          </a:p>
        </p:txBody>
      </p:sp>
      <p:sp>
        <p:nvSpPr>
          <p:cNvPr id="22" name="Shape 20"/>
          <p:cNvSpPr/>
          <p:nvPr/>
        </p:nvSpPr>
        <p:spPr>
          <a:xfrm>
            <a:off x="9075420" y="2441448"/>
            <a:ext cx="0" cy="274320"/>
          </a:xfrm>
          <a:prstGeom prst="line">
            <a:avLst/>
          </a:prstGeom>
          <a:noFill/>
          <a:ln w="19050">
            <a:solidFill>
              <a:srgbClr val="6E7681"/>
            </a:solidFill>
            <a:prstDash val="solid"/>
            <a:tailEnd type="triangle"/>
          </a:ln>
        </p:spPr>
      </p:sp>
      <p:sp>
        <p:nvSpPr>
          <p:cNvPr id="23" name="Shape 21"/>
          <p:cNvSpPr/>
          <p:nvPr/>
        </p:nvSpPr>
        <p:spPr>
          <a:xfrm>
            <a:off x="6537960" y="2715768"/>
            <a:ext cx="5074920" cy="566928"/>
          </a:xfrm>
          <a:prstGeom prst="roundRect">
            <a:avLst>
              <a:gd name="adj" fmla="val 12903"/>
            </a:avLst>
          </a:prstGeom>
          <a:solidFill>
            <a:srgbClr val="161B22"/>
          </a:solidFill>
          <a:ln w="12700">
            <a:solidFill>
              <a:srgbClr val="30363D"/>
            </a:solidFill>
            <a:prstDash val="solid"/>
          </a:ln>
        </p:spPr>
      </p:sp>
      <p:sp>
        <p:nvSpPr>
          <p:cNvPr id="24" name="Text 22"/>
          <p:cNvSpPr txBox="1"/>
          <p:nvPr/>
        </p:nvSpPr>
        <p:spPr>
          <a:xfrm>
            <a:off x="6720840" y="2715768"/>
            <a:ext cx="4709160" cy="566928"/>
          </a:xfrm>
          <a:prstGeom prst="rect">
            <a:avLst/>
          </a:prstGeom>
          <a:noFill/>
          <a:ln/>
        </p:spPr>
        <p:txBody>
          <a:bodyPr wrap="square" lIns="0" tIns="0" rIns="0" bIns="0" rtlCol="0" anchor="ctr"/>
          <a:lstStyle/>
          <a:p>
            <a:pPr indent="0" marL="0">
              <a:buNone/>
            </a:pPr>
            <a:r>
              <a:rPr lang="en-US" sz="1350" dirty="0">
                <a:solidFill>
                  <a:srgbClr val="E6EDF3"/>
                </a:solidFill>
                <a:latin typeface="Courier New" pitchFamily="34" charset="0"/>
                <a:ea typeface="Courier New" pitchFamily="34" charset="-122"/>
                <a:cs typeface="Courier New" pitchFamily="34" charset="-120"/>
              </a:rPr>
              <a:t>Student.introduce(student1)</a:t>
            </a:r>
            <a:endParaRPr lang="en-US" sz="1350" dirty="0"/>
          </a:p>
        </p:txBody>
      </p:sp>
      <p:sp>
        <p:nvSpPr>
          <p:cNvPr id="25" name="Shape 23"/>
          <p:cNvSpPr/>
          <p:nvPr/>
        </p:nvSpPr>
        <p:spPr>
          <a:xfrm>
            <a:off x="9075420" y="3282696"/>
            <a:ext cx="0" cy="274320"/>
          </a:xfrm>
          <a:prstGeom prst="line">
            <a:avLst/>
          </a:prstGeom>
          <a:noFill/>
          <a:ln w="19050">
            <a:solidFill>
              <a:srgbClr val="6E7681"/>
            </a:solidFill>
            <a:prstDash val="solid"/>
            <a:tailEnd type="triangle"/>
          </a:ln>
        </p:spPr>
      </p:sp>
      <p:sp>
        <p:nvSpPr>
          <p:cNvPr id="26" name="Shape 24"/>
          <p:cNvSpPr/>
          <p:nvPr/>
        </p:nvSpPr>
        <p:spPr>
          <a:xfrm>
            <a:off x="6537960" y="3557016"/>
            <a:ext cx="5074920" cy="502920"/>
          </a:xfrm>
          <a:prstGeom prst="roundRect">
            <a:avLst>
              <a:gd name="adj" fmla="val 14545"/>
            </a:avLst>
          </a:prstGeom>
          <a:solidFill>
            <a:srgbClr val="1C2129"/>
          </a:solidFill>
          <a:ln w="12700">
            <a:solidFill>
              <a:srgbClr val="FFD43B"/>
            </a:solidFill>
            <a:prstDash val="solid"/>
          </a:ln>
        </p:spPr>
      </p:sp>
      <p:sp>
        <p:nvSpPr>
          <p:cNvPr id="27" name="Text 25"/>
          <p:cNvSpPr txBox="1"/>
          <p:nvPr/>
        </p:nvSpPr>
        <p:spPr>
          <a:xfrm>
            <a:off x="6720840" y="3557016"/>
            <a:ext cx="4709160" cy="502920"/>
          </a:xfrm>
          <a:prstGeom prst="rect">
            <a:avLst/>
          </a:prstGeom>
          <a:noFill/>
          <a:ln/>
        </p:spPr>
        <p:txBody>
          <a:bodyPr wrap="square" lIns="0" tIns="0" rIns="0" bIns="0" rtlCol="0" anchor="ctr"/>
          <a:lstStyle/>
          <a:p>
            <a:pPr indent="0" marL="0">
              <a:buNone/>
            </a:pPr>
            <a:r>
              <a:rPr lang="en-US" sz="1400" b="1" dirty="0">
                <a:solidFill>
                  <a:srgbClr val="FFD43B"/>
                </a:solidFill>
                <a:latin typeface="Courier New" pitchFamily="34" charset="0"/>
                <a:ea typeface="Courier New" pitchFamily="34" charset="-122"/>
                <a:cs typeface="Courier New" pitchFamily="34" charset="-120"/>
              </a:rPr>
              <a:t>self</a:t>
            </a:r>
            <a:pPr indent="0" marL="0">
              <a:buNone/>
            </a:pPr>
            <a:r>
              <a:rPr lang="en-US" sz="1400" dirty="0">
                <a:solidFill>
                  <a:srgbClr val="E6EDF3"/>
                </a:solidFill>
                <a:latin typeface="Courier New" pitchFamily="34" charset="0"/>
                <a:ea typeface="Courier New" pitchFamily="34" charset="-122"/>
                <a:cs typeface="Courier New" pitchFamily="34" charset="-120"/>
              </a:rPr>
              <a:t> → student1</a:t>
            </a:r>
            <a:endParaRPr lang="en-US" sz="1400" dirty="0"/>
          </a:p>
        </p:txBody>
      </p:sp>
      <p:sp>
        <p:nvSpPr>
          <p:cNvPr id="28" name="Text 26"/>
          <p:cNvSpPr txBox="1"/>
          <p:nvPr/>
        </p:nvSpPr>
        <p:spPr>
          <a:xfrm>
            <a:off x="10728655" y="502920"/>
            <a:ext cx="914400" cy="274320"/>
          </a:xfrm>
          <a:prstGeom prst="rect">
            <a:avLst/>
          </a:prstGeom>
          <a:noFill/>
          <a:ln/>
        </p:spPr>
        <p:txBody>
          <a:bodyPr wrap="square" lIns="0" tIns="0" rIns="0" bIns="0" rtlCol="0" anchor="ctr"/>
          <a:lstStyle/>
          <a:p>
            <a:pPr algn="r" indent="0" marL="0">
              <a:buNone/>
            </a:pPr>
            <a:r>
              <a:rPr lang="en-US" sz="900" dirty="0">
                <a:solidFill>
                  <a:srgbClr val="6E7681"/>
                </a:solidFill>
                <a:latin typeface="Courier New" pitchFamily="34" charset="0"/>
                <a:ea typeface="Courier New" pitchFamily="34" charset="-122"/>
                <a:cs typeface="Courier New" pitchFamily="34" charset="-120"/>
              </a:rPr>
              <a:t>07 / 14</a:t>
            </a:r>
            <a:endParaRPr lang="en-US" sz="900" dirty="0"/>
          </a:p>
        </p:txBody>
      </p:sp>
      <p:sp>
        <p:nvSpPr>
          <p:cNvPr id="29" name="Shape 27"/>
          <p:cNvSpPr/>
          <p:nvPr/>
        </p:nvSpPr>
        <p:spPr>
          <a:xfrm>
            <a:off x="9357055" y="6291072"/>
            <a:ext cx="2286000" cy="365760"/>
          </a:xfrm>
          <a:prstGeom prst="roundRect">
            <a:avLst>
              <a:gd name="adj" fmla="val 15000"/>
            </a:avLst>
          </a:prstGeom>
          <a:solidFill>
            <a:srgbClr val="1C2129"/>
          </a:solidFill>
          <a:ln w="9525">
            <a:solidFill>
              <a:srgbClr val="30363D"/>
            </a:solidFill>
            <a:prstDash val="solid"/>
          </a:ln>
        </p:spPr>
      </p:sp>
      <p:sp>
        <p:nvSpPr>
          <p:cNvPr id="30" name="Text 28"/>
          <p:cNvSpPr txBox="1"/>
          <p:nvPr/>
        </p:nvSpPr>
        <p:spPr>
          <a:xfrm>
            <a:off x="9357055" y="6291072"/>
            <a:ext cx="2286000" cy="365760"/>
          </a:xfrm>
          <a:prstGeom prst="rect">
            <a:avLst/>
          </a:prstGeom>
          <a:noFill/>
          <a:ln/>
        </p:spPr>
        <p:txBody>
          <a:bodyPr wrap="square" lIns="0" tIns="0" rIns="0" bIns="0" rtlCol="0" anchor="ctr"/>
          <a:lstStyle/>
          <a:p>
            <a:pPr algn="ctr" indent="0" marL="0">
              <a:buNone/>
            </a:pPr>
            <a:r>
              <a:rPr lang="en-US" sz="1000" dirty="0">
                <a:solidFill>
                  <a:srgbClr val="3FB950"/>
                </a:solidFill>
                <a:latin typeface="Courier New" pitchFamily="34" charset="0"/>
                <a:ea typeface="Courier New" pitchFamily="34" charset="-122"/>
                <a:cs typeface="Courier New" pitchFamily="34" charset="-120"/>
              </a:rPr>
              <a:t>▶ </a:t>
            </a:r>
            <a:pPr algn="ctr" indent="0" marL="0">
              <a:buNone/>
            </a:pPr>
            <a:r>
              <a:rPr lang="en-US" sz="1000" dirty="0">
                <a:solidFill>
                  <a:srgbClr val="8B949E"/>
                </a:solidFill>
                <a:latin typeface="Courier New" pitchFamily="34" charset="0"/>
                <a:ea typeface="Courier New" pitchFamily="34" charset="-122"/>
                <a:cs typeface="Courier New" pitchFamily="34" charset="-120"/>
              </a:rPr>
              <a:t>05_self.py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B8BBE"/>
                </a:solidFill>
                <a:latin typeface="Courier New" pitchFamily="34" charset="0"/>
                <a:ea typeface="Courier New" pitchFamily="34" charset="-122"/>
                <a:cs typeface="Courier New" pitchFamily="34" charset="-120"/>
              </a:rPr>
              <a:t>07 · BEHAVIOR</a:t>
            </a:r>
            <a:endParaRPr lang="en-US" sz="1200" dirty="0"/>
          </a:p>
        </p:txBody>
      </p:sp>
      <p:sp>
        <p:nvSpPr>
          <p:cNvPr id="3" name="Text 1"/>
          <p:cNvSpPr txBox="1"/>
          <p:nvPr/>
        </p:nvSpPr>
        <p:spPr>
          <a:xfrm>
            <a:off x="548640" y="777240"/>
            <a:ext cx="11094415" cy="822960"/>
          </a:xfrm>
          <a:prstGeom prst="rect">
            <a:avLst/>
          </a:prstGeom>
          <a:noFill/>
          <a:ln/>
        </p:spPr>
        <p:txBody>
          <a:bodyPr wrap="square" lIns="0" tIns="0" rIns="0" bIns="0" rtlCol="0" anchor="ctr"/>
          <a:lstStyle/>
          <a:p>
            <a:pPr indent="0" marL="0">
              <a:buNone/>
            </a:pPr>
            <a:r>
              <a:rPr lang="en-US" sz="3200" b="1" dirty="0">
                <a:solidFill>
                  <a:srgbClr val="E6EDF3"/>
                </a:solidFill>
                <a:latin typeface="Consolas" pitchFamily="34" charset="0"/>
                <a:ea typeface="Consolas" pitchFamily="34" charset="-122"/>
                <a:cs typeface="Consolas" pitchFamily="34" charset="-120"/>
              </a:rPr>
              <a:t>Instance Methods — Object Behavior</a:t>
            </a:r>
            <a:endParaRPr lang="en-US" sz="3200" dirty="0"/>
          </a:p>
        </p:txBody>
      </p:sp>
      <p:sp>
        <p:nvSpPr>
          <p:cNvPr id="4" name="Shape 2"/>
          <p:cNvSpPr/>
          <p:nvPr/>
        </p:nvSpPr>
        <p:spPr>
          <a:xfrm>
            <a:off x="548640" y="1600200"/>
            <a:ext cx="5394960" cy="1737360"/>
          </a:xfrm>
          <a:prstGeom prst="roundRect">
            <a:avLst>
              <a:gd name="adj" fmla="val 4211"/>
            </a:avLst>
          </a:prstGeom>
          <a:solidFill>
            <a:srgbClr val="161B22"/>
          </a:solidFill>
          <a:ln w="12700">
            <a:solidFill>
              <a:srgbClr val="30363D"/>
            </a:solidFill>
            <a:prstDash val="solid"/>
          </a:ln>
        </p:spPr>
      </p:sp>
      <p:sp>
        <p:nvSpPr>
          <p:cNvPr id="5" name="Shape 3"/>
          <p:cNvSpPr/>
          <p:nvPr/>
        </p:nvSpPr>
        <p:spPr>
          <a:xfrm>
            <a:off x="749808" y="1764792"/>
            <a:ext cx="100584" cy="100584"/>
          </a:xfrm>
          <a:prstGeom prst="ellipse">
            <a:avLst/>
          </a:prstGeom>
          <a:solidFill>
            <a:srgbClr val="F85149"/>
          </a:solidFill>
          <a:ln/>
        </p:spPr>
      </p:sp>
      <p:sp>
        <p:nvSpPr>
          <p:cNvPr id="6" name="Shape 4"/>
          <p:cNvSpPr/>
          <p:nvPr/>
        </p:nvSpPr>
        <p:spPr>
          <a:xfrm>
            <a:off x="950976" y="1764792"/>
            <a:ext cx="100584" cy="100584"/>
          </a:xfrm>
          <a:prstGeom prst="ellipse">
            <a:avLst/>
          </a:prstGeom>
          <a:solidFill>
            <a:srgbClr val="FFD43B"/>
          </a:solidFill>
          <a:ln/>
        </p:spPr>
      </p:sp>
      <p:sp>
        <p:nvSpPr>
          <p:cNvPr id="7" name="Shape 5"/>
          <p:cNvSpPr/>
          <p:nvPr/>
        </p:nvSpPr>
        <p:spPr>
          <a:xfrm>
            <a:off x="1152144" y="1764792"/>
            <a:ext cx="100584" cy="100584"/>
          </a:xfrm>
          <a:prstGeom prst="ellipse">
            <a:avLst/>
          </a:prstGeom>
          <a:solidFill>
            <a:srgbClr val="3FB950"/>
          </a:solidFill>
          <a:ln/>
        </p:spPr>
      </p:sp>
      <p:sp>
        <p:nvSpPr>
          <p:cNvPr id="8" name="Text 6"/>
          <p:cNvSpPr txBox="1"/>
          <p:nvPr/>
        </p:nvSpPr>
        <p:spPr>
          <a:xfrm>
            <a:off x="868680" y="1984248"/>
            <a:ext cx="4846320" cy="275590"/>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    </a:t>
            </a:r>
            <a:pPr indent="0" marL="0">
              <a:buNone/>
            </a:pPr>
            <a:r>
              <a:rPr lang="en-US" sz="1400" b="1" dirty="0">
                <a:solidFill>
                  <a:srgbClr val="4B8BBE"/>
                </a:solidFill>
                <a:latin typeface="Courier New" pitchFamily="34" charset="0"/>
                <a:ea typeface="Courier New" pitchFamily="34" charset="-122"/>
                <a:cs typeface="Courier New" pitchFamily="34" charset="-120"/>
              </a:rPr>
              <a:t>def </a:t>
            </a:r>
            <a:pPr indent="0" marL="0">
              <a:buNone/>
            </a:pPr>
            <a:r>
              <a:rPr lang="en-US" sz="1400" dirty="0">
                <a:solidFill>
                  <a:srgbClr val="58A6FF"/>
                </a:solidFill>
                <a:latin typeface="Courier New" pitchFamily="34" charset="0"/>
                <a:ea typeface="Courier New" pitchFamily="34" charset="-122"/>
                <a:cs typeface="Courier New" pitchFamily="34" charset="-120"/>
              </a:rPr>
              <a:t>display_details</a:t>
            </a:r>
            <a:pPr indent="0" marL="0">
              <a:buNone/>
            </a:pPr>
            <a:r>
              <a:rPr lang="en-US" sz="1400" dirty="0">
                <a:solidFill>
                  <a:srgbClr val="E6EDF3"/>
                </a:solidFill>
                <a:latin typeface="Courier New" pitchFamily="34" charset="0"/>
                <a:ea typeface="Courier New" pitchFamily="34" charset="-122"/>
                <a:cs typeface="Courier New" pitchFamily="34" charset="-120"/>
              </a:rPr>
              <a:t>(self):</a:t>
            </a:r>
            <a:endParaRPr lang="en-US" sz="1400" dirty="0"/>
          </a:p>
        </p:txBody>
      </p:sp>
      <p:sp>
        <p:nvSpPr>
          <p:cNvPr id="9" name="Text 7"/>
          <p:cNvSpPr txBox="1"/>
          <p:nvPr/>
        </p:nvSpPr>
        <p:spPr>
          <a:xfrm>
            <a:off x="868680" y="2259838"/>
            <a:ext cx="4846320" cy="275590"/>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        </a:t>
            </a:r>
            <a:pPr indent="0" marL="0">
              <a:buNone/>
            </a:pPr>
            <a:r>
              <a:rPr lang="en-US" sz="1400" b="1" dirty="0">
                <a:solidFill>
                  <a:srgbClr val="4B8BBE"/>
                </a:solidFill>
                <a:latin typeface="Courier New" pitchFamily="34" charset="0"/>
                <a:ea typeface="Courier New" pitchFamily="34" charset="-122"/>
                <a:cs typeface="Courier New" pitchFamily="34" charset="-120"/>
              </a:rPr>
              <a:t>print</a:t>
            </a:r>
            <a:pPr indent="0" marL="0">
              <a:buNone/>
            </a:pPr>
            <a:r>
              <a:rPr lang="en-US" sz="1400" dirty="0">
                <a:solidFill>
                  <a:srgbClr val="E6EDF3"/>
                </a:solidFill>
                <a:latin typeface="Courier New" pitchFamily="34" charset="0"/>
                <a:ea typeface="Courier New" pitchFamily="34" charset="-122"/>
                <a:cs typeface="Courier New" pitchFamily="34" charset="-120"/>
              </a:rPr>
              <a:t>(self.name)</a:t>
            </a:r>
            <a:endParaRPr lang="en-US" sz="1400" dirty="0"/>
          </a:p>
        </p:txBody>
      </p:sp>
      <p:sp>
        <p:nvSpPr>
          <p:cNvPr id="10" name="Text 8"/>
          <p:cNvSpPr txBox="1"/>
          <p:nvPr/>
        </p:nvSpPr>
        <p:spPr>
          <a:xfrm>
            <a:off x="868680" y="2535428"/>
            <a:ext cx="4846320" cy="275590"/>
          </a:xfrm>
          <a:prstGeom prst="rect">
            <a:avLst/>
          </a:prstGeom>
          <a:noFill/>
          <a:ln/>
        </p:spPr>
        <p:txBody>
          <a:bodyPr wrap="square" lIns="0" tIns="0" rIns="0" bIns="0" rtlCol="0" anchor="t"/>
          <a:lstStyle/>
          <a:p>
            <a:pPr indent="0" marL="0">
              <a:buNone/>
            </a:pPr>
            <a:endParaRPr lang="en-US" sz="1400" dirty="0"/>
          </a:p>
        </p:txBody>
      </p:sp>
      <p:sp>
        <p:nvSpPr>
          <p:cNvPr id="11" name="Text 9"/>
          <p:cNvSpPr txBox="1"/>
          <p:nvPr/>
        </p:nvSpPr>
        <p:spPr>
          <a:xfrm>
            <a:off x="868680" y="2811018"/>
            <a:ext cx="4846320" cy="275590"/>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    </a:t>
            </a:r>
            <a:pPr indent="0" marL="0">
              <a:buNone/>
            </a:pPr>
            <a:r>
              <a:rPr lang="en-US" sz="1400" b="1" dirty="0">
                <a:solidFill>
                  <a:srgbClr val="4B8BBE"/>
                </a:solidFill>
                <a:latin typeface="Courier New" pitchFamily="34" charset="0"/>
                <a:ea typeface="Courier New" pitchFamily="34" charset="-122"/>
                <a:cs typeface="Courier New" pitchFamily="34" charset="-120"/>
              </a:rPr>
              <a:t>def </a:t>
            </a:r>
            <a:pPr indent="0" marL="0">
              <a:buNone/>
            </a:pPr>
            <a:r>
              <a:rPr lang="en-US" sz="1400" dirty="0">
                <a:solidFill>
                  <a:srgbClr val="58A6FF"/>
                </a:solidFill>
                <a:latin typeface="Courier New" pitchFamily="34" charset="0"/>
                <a:ea typeface="Courier New" pitchFamily="34" charset="-122"/>
                <a:cs typeface="Courier New" pitchFamily="34" charset="-120"/>
              </a:rPr>
              <a:t>has_passed</a:t>
            </a:r>
            <a:pPr indent="0" marL="0">
              <a:buNone/>
            </a:pPr>
            <a:r>
              <a:rPr lang="en-US" sz="1400" dirty="0">
                <a:solidFill>
                  <a:srgbClr val="E6EDF3"/>
                </a:solidFill>
                <a:latin typeface="Courier New" pitchFamily="34" charset="0"/>
                <a:ea typeface="Courier New" pitchFamily="34" charset="-122"/>
                <a:cs typeface="Courier New" pitchFamily="34" charset="-120"/>
              </a:rPr>
              <a:t>(self):</a:t>
            </a:r>
            <a:endParaRPr lang="en-US" sz="1400" dirty="0"/>
          </a:p>
        </p:txBody>
      </p:sp>
      <p:sp>
        <p:nvSpPr>
          <p:cNvPr id="12" name="Text 10"/>
          <p:cNvSpPr txBox="1"/>
          <p:nvPr/>
        </p:nvSpPr>
        <p:spPr>
          <a:xfrm>
            <a:off x="868680" y="3086608"/>
            <a:ext cx="4846320" cy="275590"/>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        </a:t>
            </a:r>
            <a:pPr indent="0" marL="0">
              <a:buNone/>
            </a:pPr>
            <a:r>
              <a:rPr lang="en-US" sz="1400" b="1" dirty="0">
                <a:solidFill>
                  <a:srgbClr val="4B8BBE"/>
                </a:solidFill>
                <a:latin typeface="Courier New" pitchFamily="34" charset="0"/>
                <a:ea typeface="Courier New" pitchFamily="34" charset="-122"/>
                <a:cs typeface="Courier New" pitchFamily="34" charset="-120"/>
              </a:rPr>
              <a:t>return</a:t>
            </a:r>
            <a:pPr indent="0" marL="0">
              <a:buNone/>
            </a:pPr>
            <a:r>
              <a:rPr lang="en-US" sz="1400" dirty="0">
                <a:solidFill>
                  <a:srgbClr val="E6EDF3"/>
                </a:solidFill>
                <a:latin typeface="Courier New" pitchFamily="34" charset="0"/>
                <a:ea typeface="Courier New" pitchFamily="34" charset="-122"/>
                <a:cs typeface="Courier New" pitchFamily="34" charset="-120"/>
              </a:rPr>
              <a:t> self.marks &gt;= </a:t>
            </a:r>
            <a:pPr indent="0" marL="0">
              <a:buNone/>
            </a:pPr>
            <a:r>
              <a:rPr lang="en-US" sz="1400" dirty="0">
                <a:solidFill>
                  <a:srgbClr val="FFD43B"/>
                </a:solidFill>
                <a:latin typeface="Courier New" pitchFamily="34" charset="0"/>
                <a:ea typeface="Courier New" pitchFamily="34" charset="-122"/>
                <a:cs typeface="Courier New" pitchFamily="34" charset="-120"/>
              </a:rPr>
              <a:t>40</a:t>
            </a:r>
            <a:endParaRPr lang="en-US" sz="1400" dirty="0"/>
          </a:p>
        </p:txBody>
      </p:sp>
      <p:sp>
        <p:nvSpPr>
          <p:cNvPr id="13" name="Text 11"/>
          <p:cNvSpPr txBox="1"/>
          <p:nvPr/>
        </p:nvSpPr>
        <p:spPr>
          <a:xfrm>
            <a:off x="548640" y="3611880"/>
            <a:ext cx="5394960" cy="365760"/>
          </a:xfrm>
          <a:prstGeom prst="rect">
            <a:avLst/>
          </a:prstGeom>
          <a:noFill/>
          <a:ln/>
        </p:spPr>
        <p:txBody>
          <a:bodyPr wrap="square" lIns="0" tIns="0" rIns="0" bIns="0" rtlCol="0" anchor="ctr"/>
          <a:lstStyle/>
          <a:p>
            <a:pPr indent="0" marL="0">
              <a:buNone/>
            </a:pPr>
            <a:r>
              <a:rPr lang="en-US" sz="1400" dirty="0">
                <a:solidFill>
                  <a:srgbClr val="E6EDF3"/>
                </a:solidFill>
                <a:latin typeface="Calibri" pitchFamily="34" charset="0"/>
                <a:ea typeface="Calibri" pitchFamily="34" charset="-122"/>
                <a:cs typeface="Calibri" pitchFamily="34" charset="-120"/>
              </a:rPr>
              <a:t>→  Operate on a particular object</a:t>
            </a:r>
            <a:endParaRPr lang="en-US" sz="1400" dirty="0"/>
          </a:p>
        </p:txBody>
      </p:sp>
      <p:sp>
        <p:nvSpPr>
          <p:cNvPr id="14" name="Text 12"/>
          <p:cNvSpPr txBox="1"/>
          <p:nvPr/>
        </p:nvSpPr>
        <p:spPr>
          <a:xfrm>
            <a:off x="548640" y="4069080"/>
            <a:ext cx="5394960" cy="365760"/>
          </a:xfrm>
          <a:prstGeom prst="rect">
            <a:avLst/>
          </a:prstGeom>
          <a:noFill/>
          <a:ln/>
        </p:spPr>
        <p:txBody>
          <a:bodyPr wrap="square" lIns="0" tIns="0" rIns="0" bIns="0" rtlCol="0" anchor="ctr"/>
          <a:lstStyle/>
          <a:p>
            <a:pPr indent="0" marL="0">
              <a:buNone/>
            </a:pPr>
            <a:r>
              <a:rPr lang="en-US" sz="1400" dirty="0">
                <a:solidFill>
                  <a:srgbClr val="E6EDF3"/>
                </a:solidFill>
                <a:latin typeface="Calibri" pitchFamily="34" charset="0"/>
                <a:ea typeface="Calibri" pitchFamily="34" charset="-122"/>
                <a:cs typeface="Calibri" pitchFamily="34" charset="-120"/>
              </a:rPr>
              <a:t>→  Receive self automatically</a:t>
            </a:r>
            <a:endParaRPr lang="en-US" sz="1400" dirty="0"/>
          </a:p>
        </p:txBody>
      </p:sp>
      <p:sp>
        <p:nvSpPr>
          <p:cNvPr id="15" name="Text 13"/>
          <p:cNvSpPr txBox="1"/>
          <p:nvPr/>
        </p:nvSpPr>
        <p:spPr>
          <a:xfrm>
            <a:off x="548640" y="4526280"/>
            <a:ext cx="5394960" cy="365760"/>
          </a:xfrm>
          <a:prstGeom prst="rect">
            <a:avLst/>
          </a:prstGeom>
          <a:noFill/>
          <a:ln/>
        </p:spPr>
        <p:txBody>
          <a:bodyPr wrap="square" lIns="0" tIns="0" rIns="0" bIns="0" rtlCol="0" anchor="ctr"/>
          <a:lstStyle/>
          <a:p>
            <a:pPr indent="0" marL="0">
              <a:buNone/>
            </a:pPr>
            <a:r>
              <a:rPr lang="en-US" sz="1400" dirty="0">
                <a:solidFill>
                  <a:srgbClr val="E6EDF3"/>
                </a:solidFill>
                <a:latin typeface="Calibri" pitchFamily="34" charset="0"/>
                <a:ea typeface="Calibri" pitchFamily="34" charset="-122"/>
                <a:cs typeface="Calibri" pitchFamily="34" charset="-120"/>
              </a:rPr>
              <a:t>→  Can read &amp; modify instance attributes</a:t>
            </a:r>
            <a:endParaRPr lang="en-US" sz="1400" dirty="0"/>
          </a:p>
        </p:txBody>
      </p:sp>
      <p:sp>
        <p:nvSpPr>
          <p:cNvPr id="16" name="Shape 14"/>
          <p:cNvSpPr/>
          <p:nvPr/>
        </p:nvSpPr>
        <p:spPr>
          <a:xfrm>
            <a:off x="6903720" y="1600200"/>
            <a:ext cx="4709160" cy="1417320"/>
          </a:xfrm>
          <a:prstGeom prst="roundRect">
            <a:avLst>
              <a:gd name="adj" fmla="val 5161"/>
            </a:avLst>
          </a:prstGeom>
          <a:solidFill>
            <a:srgbClr val="1C2129"/>
          </a:solidFill>
          <a:ln w="12700">
            <a:solidFill>
              <a:srgbClr val="30363D"/>
            </a:solidFill>
            <a:prstDash val="solid"/>
          </a:ln>
        </p:spPr>
      </p:sp>
      <p:sp>
        <p:nvSpPr>
          <p:cNvPr id="17" name="Text 15"/>
          <p:cNvSpPr txBox="1"/>
          <p:nvPr/>
        </p:nvSpPr>
        <p:spPr>
          <a:xfrm>
            <a:off x="7132320" y="1728216"/>
            <a:ext cx="4251960" cy="320040"/>
          </a:xfrm>
          <a:prstGeom prst="rect">
            <a:avLst/>
          </a:prstGeom>
          <a:noFill/>
          <a:ln/>
        </p:spPr>
        <p:txBody>
          <a:bodyPr wrap="square" lIns="0" tIns="0" rIns="0" bIns="0" rtlCol="0" anchor="ctr"/>
          <a:lstStyle/>
          <a:p>
            <a:pPr indent="0" marL="0">
              <a:buNone/>
            </a:pPr>
            <a:r>
              <a:rPr lang="en-US" sz="1450" b="1" dirty="0">
                <a:solidFill>
                  <a:srgbClr val="FFD43B"/>
                </a:solidFill>
                <a:latin typeface="Courier New" pitchFamily="34" charset="0"/>
                <a:ea typeface="Courier New" pitchFamily="34" charset="-122"/>
                <a:cs typeface="Courier New" pitchFamily="34" charset="-120"/>
              </a:rPr>
              <a:t>student1</a:t>
            </a:r>
            <a:endParaRPr lang="en-US" sz="1450" dirty="0"/>
          </a:p>
        </p:txBody>
      </p:sp>
      <p:sp>
        <p:nvSpPr>
          <p:cNvPr id="18" name="Shape 16"/>
          <p:cNvSpPr/>
          <p:nvPr/>
        </p:nvSpPr>
        <p:spPr>
          <a:xfrm>
            <a:off x="7269480" y="2057400"/>
            <a:ext cx="0" cy="256032"/>
          </a:xfrm>
          <a:prstGeom prst="line">
            <a:avLst/>
          </a:prstGeom>
          <a:noFill/>
          <a:ln w="19050">
            <a:solidFill>
              <a:srgbClr val="6E7681"/>
            </a:solidFill>
            <a:prstDash val="solid"/>
            <a:tailEnd type="triangle"/>
          </a:ln>
        </p:spPr>
      </p:sp>
      <p:sp>
        <p:nvSpPr>
          <p:cNvPr id="19" name="Text 17"/>
          <p:cNvSpPr txBox="1"/>
          <p:nvPr/>
        </p:nvSpPr>
        <p:spPr>
          <a:xfrm>
            <a:off x="7498080" y="2020824"/>
            <a:ext cx="3886200" cy="320040"/>
          </a:xfrm>
          <a:prstGeom prst="rect">
            <a:avLst/>
          </a:prstGeom>
          <a:noFill/>
          <a:ln/>
        </p:spPr>
        <p:txBody>
          <a:bodyPr wrap="square" lIns="0" tIns="0" rIns="0" bIns="0" rtlCol="0" anchor="ctr"/>
          <a:lstStyle/>
          <a:p>
            <a:pPr indent="0" marL="0">
              <a:buNone/>
            </a:pPr>
            <a:r>
              <a:rPr lang="en-US" sz="1300" dirty="0">
                <a:solidFill>
                  <a:srgbClr val="E6EDF3"/>
                </a:solidFill>
                <a:latin typeface="Courier New" pitchFamily="34" charset="0"/>
                <a:ea typeface="Courier New" pitchFamily="34" charset="-122"/>
                <a:cs typeface="Courier New" pitchFamily="34" charset="-120"/>
              </a:rPr>
              <a:t>student1.has_passed()</a:t>
            </a:r>
            <a:endParaRPr lang="en-US" sz="1300" dirty="0"/>
          </a:p>
        </p:txBody>
      </p:sp>
      <p:sp>
        <p:nvSpPr>
          <p:cNvPr id="20" name="Shape 18"/>
          <p:cNvSpPr/>
          <p:nvPr/>
        </p:nvSpPr>
        <p:spPr>
          <a:xfrm>
            <a:off x="7269480" y="2423160"/>
            <a:ext cx="0" cy="256032"/>
          </a:xfrm>
          <a:prstGeom prst="line">
            <a:avLst/>
          </a:prstGeom>
          <a:noFill/>
          <a:ln w="19050">
            <a:solidFill>
              <a:srgbClr val="6E7681"/>
            </a:solidFill>
            <a:prstDash val="solid"/>
            <a:tailEnd type="triangle"/>
          </a:ln>
        </p:spPr>
      </p:sp>
      <p:sp>
        <p:nvSpPr>
          <p:cNvPr id="21" name="Text 19"/>
          <p:cNvSpPr txBox="1"/>
          <p:nvPr/>
        </p:nvSpPr>
        <p:spPr>
          <a:xfrm>
            <a:off x="7498080" y="2386584"/>
            <a:ext cx="3886200" cy="320040"/>
          </a:xfrm>
          <a:prstGeom prst="rect">
            <a:avLst/>
          </a:prstGeom>
          <a:noFill/>
          <a:ln/>
        </p:spPr>
        <p:txBody>
          <a:bodyPr wrap="square" lIns="0" tIns="0" rIns="0" bIns="0" rtlCol="0" anchor="ctr"/>
          <a:lstStyle/>
          <a:p>
            <a:pPr indent="0" marL="0">
              <a:buNone/>
            </a:pPr>
            <a:r>
              <a:rPr lang="en-US" sz="1250" i="1" dirty="0">
                <a:solidFill>
                  <a:srgbClr val="8B949E"/>
                </a:solidFill>
                <a:latin typeface="Calibri" pitchFamily="34" charset="0"/>
                <a:ea typeface="Calibri" pitchFamily="34" charset="-122"/>
                <a:cs typeface="Calibri" pitchFamily="34" charset="-120"/>
              </a:rPr>
              <a:t>uses student1's own marks</a:t>
            </a:r>
            <a:endParaRPr lang="en-US" sz="1250" dirty="0"/>
          </a:p>
        </p:txBody>
      </p:sp>
      <p:sp>
        <p:nvSpPr>
          <p:cNvPr id="22" name="Shape 20"/>
          <p:cNvSpPr/>
          <p:nvPr/>
        </p:nvSpPr>
        <p:spPr>
          <a:xfrm>
            <a:off x="6903720" y="3200400"/>
            <a:ext cx="4709160" cy="1417320"/>
          </a:xfrm>
          <a:prstGeom prst="roundRect">
            <a:avLst>
              <a:gd name="adj" fmla="val 5161"/>
            </a:avLst>
          </a:prstGeom>
          <a:solidFill>
            <a:srgbClr val="1C2129"/>
          </a:solidFill>
          <a:ln w="12700">
            <a:solidFill>
              <a:srgbClr val="30363D"/>
            </a:solidFill>
            <a:prstDash val="solid"/>
          </a:ln>
        </p:spPr>
      </p:sp>
      <p:sp>
        <p:nvSpPr>
          <p:cNvPr id="23" name="Text 21"/>
          <p:cNvSpPr txBox="1"/>
          <p:nvPr/>
        </p:nvSpPr>
        <p:spPr>
          <a:xfrm>
            <a:off x="7132320" y="3328416"/>
            <a:ext cx="4251960" cy="320040"/>
          </a:xfrm>
          <a:prstGeom prst="rect">
            <a:avLst/>
          </a:prstGeom>
          <a:noFill/>
          <a:ln/>
        </p:spPr>
        <p:txBody>
          <a:bodyPr wrap="square" lIns="0" tIns="0" rIns="0" bIns="0" rtlCol="0" anchor="ctr"/>
          <a:lstStyle/>
          <a:p>
            <a:pPr indent="0" marL="0">
              <a:buNone/>
            </a:pPr>
            <a:r>
              <a:rPr lang="en-US" sz="1450" b="1" dirty="0">
                <a:solidFill>
                  <a:srgbClr val="58A6FF"/>
                </a:solidFill>
                <a:latin typeface="Courier New" pitchFamily="34" charset="0"/>
                <a:ea typeface="Courier New" pitchFamily="34" charset="-122"/>
                <a:cs typeface="Courier New" pitchFamily="34" charset="-120"/>
              </a:rPr>
              <a:t>student2</a:t>
            </a:r>
            <a:endParaRPr lang="en-US" sz="1450" dirty="0"/>
          </a:p>
        </p:txBody>
      </p:sp>
      <p:sp>
        <p:nvSpPr>
          <p:cNvPr id="24" name="Shape 22"/>
          <p:cNvSpPr/>
          <p:nvPr/>
        </p:nvSpPr>
        <p:spPr>
          <a:xfrm>
            <a:off x="7269480" y="3657600"/>
            <a:ext cx="0" cy="256032"/>
          </a:xfrm>
          <a:prstGeom prst="line">
            <a:avLst/>
          </a:prstGeom>
          <a:noFill/>
          <a:ln w="19050">
            <a:solidFill>
              <a:srgbClr val="6E7681"/>
            </a:solidFill>
            <a:prstDash val="solid"/>
            <a:tailEnd type="triangle"/>
          </a:ln>
        </p:spPr>
      </p:sp>
      <p:sp>
        <p:nvSpPr>
          <p:cNvPr id="25" name="Text 23"/>
          <p:cNvSpPr txBox="1"/>
          <p:nvPr/>
        </p:nvSpPr>
        <p:spPr>
          <a:xfrm>
            <a:off x="7498080" y="3621024"/>
            <a:ext cx="3886200" cy="320040"/>
          </a:xfrm>
          <a:prstGeom prst="rect">
            <a:avLst/>
          </a:prstGeom>
          <a:noFill/>
          <a:ln/>
        </p:spPr>
        <p:txBody>
          <a:bodyPr wrap="square" lIns="0" tIns="0" rIns="0" bIns="0" rtlCol="0" anchor="ctr"/>
          <a:lstStyle/>
          <a:p>
            <a:pPr indent="0" marL="0">
              <a:buNone/>
            </a:pPr>
            <a:r>
              <a:rPr lang="en-US" sz="1300" dirty="0">
                <a:solidFill>
                  <a:srgbClr val="E6EDF3"/>
                </a:solidFill>
                <a:latin typeface="Courier New" pitchFamily="34" charset="0"/>
                <a:ea typeface="Courier New" pitchFamily="34" charset="-122"/>
                <a:cs typeface="Courier New" pitchFamily="34" charset="-120"/>
              </a:rPr>
              <a:t>student2.has_passed()</a:t>
            </a:r>
            <a:endParaRPr lang="en-US" sz="1300" dirty="0"/>
          </a:p>
        </p:txBody>
      </p:sp>
      <p:sp>
        <p:nvSpPr>
          <p:cNvPr id="26" name="Shape 24"/>
          <p:cNvSpPr/>
          <p:nvPr/>
        </p:nvSpPr>
        <p:spPr>
          <a:xfrm>
            <a:off x="7269480" y="4023360"/>
            <a:ext cx="0" cy="256032"/>
          </a:xfrm>
          <a:prstGeom prst="line">
            <a:avLst/>
          </a:prstGeom>
          <a:noFill/>
          <a:ln w="19050">
            <a:solidFill>
              <a:srgbClr val="6E7681"/>
            </a:solidFill>
            <a:prstDash val="solid"/>
            <a:tailEnd type="triangle"/>
          </a:ln>
        </p:spPr>
      </p:sp>
      <p:sp>
        <p:nvSpPr>
          <p:cNvPr id="27" name="Text 25"/>
          <p:cNvSpPr txBox="1"/>
          <p:nvPr/>
        </p:nvSpPr>
        <p:spPr>
          <a:xfrm>
            <a:off x="7498080" y="3986784"/>
            <a:ext cx="3886200" cy="320040"/>
          </a:xfrm>
          <a:prstGeom prst="rect">
            <a:avLst/>
          </a:prstGeom>
          <a:noFill/>
          <a:ln/>
        </p:spPr>
        <p:txBody>
          <a:bodyPr wrap="square" lIns="0" tIns="0" rIns="0" bIns="0" rtlCol="0" anchor="ctr"/>
          <a:lstStyle/>
          <a:p>
            <a:pPr indent="0" marL="0">
              <a:buNone/>
            </a:pPr>
            <a:r>
              <a:rPr lang="en-US" sz="1250" i="1" dirty="0">
                <a:solidFill>
                  <a:srgbClr val="8B949E"/>
                </a:solidFill>
                <a:latin typeface="Calibri" pitchFamily="34" charset="0"/>
                <a:ea typeface="Calibri" pitchFamily="34" charset="-122"/>
                <a:cs typeface="Calibri" pitchFamily="34" charset="-120"/>
              </a:rPr>
              <a:t>uses student2's own marks</a:t>
            </a:r>
            <a:endParaRPr lang="en-US" sz="1250" dirty="0"/>
          </a:p>
        </p:txBody>
      </p:sp>
      <p:sp>
        <p:nvSpPr>
          <p:cNvPr id="28" name="Text 26"/>
          <p:cNvSpPr txBox="1"/>
          <p:nvPr/>
        </p:nvSpPr>
        <p:spPr>
          <a:xfrm>
            <a:off x="6903720" y="4800600"/>
            <a:ext cx="4709160" cy="548640"/>
          </a:xfrm>
          <a:prstGeom prst="rect">
            <a:avLst/>
          </a:prstGeom>
          <a:noFill/>
          <a:ln/>
        </p:spPr>
        <p:txBody>
          <a:bodyPr wrap="square" lIns="0" tIns="0" rIns="0" bIns="0" rtlCol="0" anchor="ctr"/>
          <a:lstStyle/>
          <a:p>
            <a:pPr indent="0" marL="0">
              <a:buNone/>
            </a:pPr>
            <a:r>
              <a:rPr lang="en-US" sz="1250" i="1" dirty="0">
                <a:solidFill>
                  <a:srgbClr val="8B949E"/>
                </a:solidFill>
                <a:latin typeface="Calibri" pitchFamily="34" charset="0"/>
                <a:ea typeface="Calibri" pitchFamily="34" charset="-122"/>
                <a:cs typeface="Calibri" pitchFamily="34" charset="-120"/>
              </a:rPr>
              <a:t>Same method, same code — different data per call, because self changes.</a:t>
            </a:r>
            <a:endParaRPr lang="en-US" sz="1250" dirty="0"/>
          </a:p>
        </p:txBody>
      </p:sp>
      <p:sp>
        <p:nvSpPr>
          <p:cNvPr id="29" name="Text 27"/>
          <p:cNvSpPr txBox="1"/>
          <p:nvPr/>
        </p:nvSpPr>
        <p:spPr>
          <a:xfrm>
            <a:off x="10728655" y="502920"/>
            <a:ext cx="914400" cy="274320"/>
          </a:xfrm>
          <a:prstGeom prst="rect">
            <a:avLst/>
          </a:prstGeom>
          <a:noFill/>
          <a:ln/>
        </p:spPr>
        <p:txBody>
          <a:bodyPr wrap="square" lIns="0" tIns="0" rIns="0" bIns="0" rtlCol="0" anchor="ctr"/>
          <a:lstStyle/>
          <a:p>
            <a:pPr algn="r" indent="0" marL="0">
              <a:buNone/>
            </a:pPr>
            <a:r>
              <a:rPr lang="en-US" sz="900" dirty="0">
                <a:solidFill>
                  <a:srgbClr val="6E7681"/>
                </a:solidFill>
                <a:latin typeface="Courier New" pitchFamily="34" charset="0"/>
                <a:ea typeface="Courier New" pitchFamily="34" charset="-122"/>
                <a:cs typeface="Courier New" pitchFamily="34" charset="-120"/>
              </a:rPr>
              <a:t>08 / 14</a:t>
            </a:r>
            <a:endParaRPr lang="en-US" sz="900" dirty="0"/>
          </a:p>
        </p:txBody>
      </p:sp>
      <p:sp>
        <p:nvSpPr>
          <p:cNvPr id="30" name="Shape 28"/>
          <p:cNvSpPr/>
          <p:nvPr/>
        </p:nvSpPr>
        <p:spPr>
          <a:xfrm>
            <a:off x="9104681" y="6291072"/>
            <a:ext cx="2538374" cy="365760"/>
          </a:xfrm>
          <a:prstGeom prst="roundRect">
            <a:avLst>
              <a:gd name="adj" fmla="val 15000"/>
            </a:avLst>
          </a:prstGeom>
          <a:solidFill>
            <a:srgbClr val="1C2129"/>
          </a:solidFill>
          <a:ln w="9525">
            <a:solidFill>
              <a:srgbClr val="30363D"/>
            </a:solidFill>
            <a:prstDash val="solid"/>
          </a:ln>
        </p:spPr>
      </p:sp>
      <p:sp>
        <p:nvSpPr>
          <p:cNvPr id="31" name="Text 29"/>
          <p:cNvSpPr txBox="1"/>
          <p:nvPr/>
        </p:nvSpPr>
        <p:spPr>
          <a:xfrm>
            <a:off x="9104681" y="6291072"/>
            <a:ext cx="2538374" cy="365760"/>
          </a:xfrm>
          <a:prstGeom prst="rect">
            <a:avLst/>
          </a:prstGeom>
          <a:noFill/>
          <a:ln/>
        </p:spPr>
        <p:txBody>
          <a:bodyPr wrap="square" lIns="0" tIns="0" rIns="0" bIns="0" rtlCol="0" anchor="ctr"/>
          <a:lstStyle/>
          <a:p>
            <a:pPr algn="ctr" indent="0" marL="0">
              <a:buNone/>
            </a:pPr>
            <a:r>
              <a:rPr lang="en-US" sz="1000" dirty="0">
                <a:solidFill>
                  <a:srgbClr val="3FB950"/>
                </a:solidFill>
                <a:latin typeface="Courier New" pitchFamily="34" charset="0"/>
                <a:ea typeface="Courier New" pitchFamily="34" charset="-122"/>
                <a:cs typeface="Courier New" pitchFamily="34" charset="-120"/>
              </a:rPr>
              <a:t>▶ </a:t>
            </a:r>
            <a:pPr algn="ctr" indent="0" marL="0">
              <a:buNone/>
            </a:pPr>
            <a:r>
              <a:rPr lang="en-US" sz="1000" dirty="0">
                <a:solidFill>
                  <a:srgbClr val="8B949E"/>
                </a:solidFill>
                <a:latin typeface="Courier New" pitchFamily="34" charset="0"/>
                <a:ea typeface="Courier New" pitchFamily="34" charset="-122"/>
                <a:cs typeface="Courier New" pitchFamily="34" charset="-120"/>
              </a:rPr>
              <a:t>07_instance_methods.py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B8BBE"/>
                </a:solidFill>
                <a:latin typeface="Courier New" pitchFamily="34" charset="0"/>
                <a:ea typeface="Courier New" pitchFamily="34" charset="-122"/>
                <a:cs typeface="Courier New" pitchFamily="34" charset="-120"/>
              </a:rPr>
              <a:t>08 · SHARED STATE</a:t>
            </a:r>
            <a:endParaRPr lang="en-US" sz="1200" dirty="0"/>
          </a:p>
        </p:txBody>
      </p:sp>
      <p:sp>
        <p:nvSpPr>
          <p:cNvPr id="3" name="Text 1"/>
          <p:cNvSpPr txBox="1"/>
          <p:nvPr/>
        </p:nvSpPr>
        <p:spPr>
          <a:xfrm>
            <a:off x="548640" y="777240"/>
            <a:ext cx="11094415" cy="822960"/>
          </a:xfrm>
          <a:prstGeom prst="rect">
            <a:avLst/>
          </a:prstGeom>
          <a:noFill/>
          <a:ln/>
        </p:spPr>
        <p:txBody>
          <a:bodyPr wrap="square" lIns="0" tIns="0" rIns="0" bIns="0" rtlCol="0" anchor="ctr"/>
          <a:lstStyle/>
          <a:p>
            <a:pPr indent="0" marL="0">
              <a:buNone/>
            </a:pPr>
            <a:r>
              <a:rPr lang="en-US" sz="3200" b="1" dirty="0">
                <a:solidFill>
                  <a:srgbClr val="E6EDF3"/>
                </a:solidFill>
                <a:latin typeface="Consolas" pitchFamily="34" charset="0"/>
                <a:ea typeface="Consolas" pitchFamily="34" charset="-122"/>
                <a:cs typeface="Consolas" pitchFamily="34" charset="-120"/>
              </a:rPr>
              <a:t>Instance Attributes vs Class Attributes</a:t>
            </a:r>
            <a:endParaRPr lang="en-US" sz="3200" dirty="0"/>
          </a:p>
        </p:txBody>
      </p:sp>
      <p:sp>
        <p:nvSpPr>
          <p:cNvPr id="4" name="Shape 2"/>
          <p:cNvSpPr/>
          <p:nvPr/>
        </p:nvSpPr>
        <p:spPr>
          <a:xfrm>
            <a:off x="548640" y="1554480"/>
            <a:ext cx="5394960" cy="1600200"/>
          </a:xfrm>
          <a:prstGeom prst="roundRect">
            <a:avLst>
              <a:gd name="adj" fmla="val 4571"/>
            </a:avLst>
          </a:prstGeom>
          <a:solidFill>
            <a:srgbClr val="161B22"/>
          </a:solidFill>
          <a:ln w="12700">
            <a:solidFill>
              <a:srgbClr val="30363D"/>
            </a:solidFill>
            <a:prstDash val="solid"/>
          </a:ln>
        </p:spPr>
      </p:sp>
      <p:sp>
        <p:nvSpPr>
          <p:cNvPr id="5" name="Shape 3"/>
          <p:cNvSpPr/>
          <p:nvPr/>
        </p:nvSpPr>
        <p:spPr>
          <a:xfrm>
            <a:off x="749808" y="1719072"/>
            <a:ext cx="100584" cy="100584"/>
          </a:xfrm>
          <a:prstGeom prst="ellipse">
            <a:avLst/>
          </a:prstGeom>
          <a:solidFill>
            <a:srgbClr val="F85149"/>
          </a:solidFill>
          <a:ln/>
        </p:spPr>
      </p:sp>
      <p:sp>
        <p:nvSpPr>
          <p:cNvPr id="6" name="Shape 4"/>
          <p:cNvSpPr/>
          <p:nvPr/>
        </p:nvSpPr>
        <p:spPr>
          <a:xfrm>
            <a:off x="950976" y="1719072"/>
            <a:ext cx="100584" cy="100584"/>
          </a:xfrm>
          <a:prstGeom prst="ellipse">
            <a:avLst/>
          </a:prstGeom>
          <a:solidFill>
            <a:srgbClr val="FFD43B"/>
          </a:solidFill>
          <a:ln/>
        </p:spPr>
      </p:sp>
      <p:sp>
        <p:nvSpPr>
          <p:cNvPr id="7" name="Shape 5"/>
          <p:cNvSpPr/>
          <p:nvPr/>
        </p:nvSpPr>
        <p:spPr>
          <a:xfrm>
            <a:off x="1152144" y="1719072"/>
            <a:ext cx="100584" cy="100584"/>
          </a:xfrm>
          <a:prstGeom prst="ellipse">
            <a:avLst/>
          </a:prstGeom>
          <a:solidFill>
            <a:srgbClr val="3FB950"/>
          </a:solidFill>
          <a:ln/>
        </p:spPr>
      </p:sp>
      <p:sp>
        <p:nvSpPr>
          <p:cNvPr id="8" name="Text 6"/>
          <p:cNvSpPr txBox="1"/>
          <p:nvPr/>
        </p:nvSpPr>
        <p:spPr>
          <a:xfrm>
            <a:off x="868680" y="1938528"/>
            <a:ext cx="4846320" cy="265748"/>
          </a:xfrm>
          <a:prstGeom prst="rect">
            <a:avLst/>
          </a:prstGeom>
          <a:noFill/>
          <a:ln/>
        </p:spPr>
        <p:txBody>
          <a:bodyPr wrap="square" lIns="0" tIns="0" rIns="0" bIns="0" rtlCol="0" anchor="t"/>
          <a:lstStyle/>
          <a:p>
            <a:pPr indent="0" marL="0">
              <a:buNone/>
            </a:pPr>
            <a:r>
              <a:rPr lang="en-US" sz="1350" b="1" dirty="0">
                <a:solidFill>
                  <a:srgbClr val="4B8BBE"/>
                </a:solidFill>
                <a:latin typeface="Courier New" pitchFamily="34" charset="0"/>
                <a:ea typeface="Courier New" pitchFamily="34" charset="-122"/>
                <a:cs typeface="Courier New" pitchFamily="34" charset="-120"/>
              </a:rPr>
              <a:t>class</a:t>
            </a:r>
            <a:pPr indent="0" marL="0">
              <a:buNone/>
            </a:pPr>
            <a:r>
              <a:rPr lang="en-US" sz="1350" dirty="0">
                <a:solidFill>
                  <a:srgbClr val="E6EDF3"/>
                </a:solidFill>
                <a:latin typeface="Courier New" pitchFamily="34" charset="0"/>
                <a:ea typeface="Courier New" pitchFamily="34" charset="-122"/>
                <a:cs typeface="Courier New" pitchFamily="34" charset="-120"/>
              </a:rPr>
              <a:t> </a:t>
            </a:r>
            <a:pPr indent="0" marL="0">
              <a:buNone/>
            </a:pPr>
            <a:r>
              <a:rPr lang="en-US" sz="1350" dirty="0">
                <a:solidFill>
                  <a:srgbClr val="58A6FF"/>
                </a:solidFill>
                <a:latin typeface="Courier New" pitchFamily="34" charset="0"/>
                <a:ea typeface="Courier New" pitchFamily="34" charset="-122"/>
                <a:cs typeface="Courier New" pitchFamily="34" charset="-120"/>
              </a:rPr>
              <a:t>Student</a:t>
            </a:r>
            <a:pPr indent="0" marL="0">
              <a:buNone/>
            </a:pPr>
            <a:r>
              <a:rPr lang="en-US" sz="1350" dirty="0">
                <a:solidFill>
                  <a:srgbClr val="E6EDF3"/>
                </a:solidFill>
                <a:latin typeface="Courier New" pitchFamily="34" charset="0"/>
                <a:ea typeface="Courier New" pitchFamily="34" charset="-122"/>
                <a:cs typeface="Courier New" pitchFamily="34" charset="-120"/>
              </a:rPr>
              <a:t>:</a:t>
            </a:r>
            <a:endParaRPr lang="en-US" sz="1350" dirty="0"/>
          </a:p>
        </p:txBody>
      </p:sp>
      <p:sp>
        <p:nvSpPr>
          <p:cNvPr id="9" name="Text 7"/>
          <p:cNvSpPr txBox="1"/>
          <p:nvPr/>
        </p:nvSpPr>
        <p:spPr>
          <a:xfrm>
            <a:off x="868680" y="2204276"/>
            <a:ext cx="4846320" cy="265748"/>
          </a:xfrm>
          <a:prstGeom prst="rect">
            <a:avLst/>
          </a:prstGeom>
          <a:noFill/>
          <a:ln/>
        </p:spPr>
        <p:txBody>
          <a:bodyPr wrap="square" lIns="0" tIns="0" rIns="0" bIns="0" rtlCol="0" anchor="t"/>
          <a:lstStyle/>
          <a:p>
            <a:pPr indent="0" marL="0">
              <a:buNone/>
            </a:pPr>
            <a:r>
              <a:rPr lang="en-US" sz="1350" dirty="0">
                <a:solidFill>
                  <a:srgbClr val="E6EDF3"/>
                </a:solidFill>
                <a:latin typeface="Courier New" pitchFamily="34" charset="0"/>
                <a:ea typeface="Courier New" pitchFamily="34" charset="-122"/>
                <a:cs typeface="Courier New" pitchFamily="34" charset="-120"/>
              </a:rPr>
              <a:t>    college = </a:t>
            </a:r>
            <a:pPr indent="0" marL="0">
              <a:buNone/>
            </a:pPr>
            <a:r>
              <a:rPr lang="en-US" sz="1350" dirty="0">
                <a:solidFill>
                  <a:srgbClr val="3FB950"/>
                </a:solidFill>
                <a:latin typeface="Courier New" pitchFamily="34" charset="0"/>
                <a:ea typeface="Courier New" pitchFamily="34" charset="-122"/>
                <a:cs typeface="Courier New" pitchFamily="34" charset="-120"/>
              </a:rPr>
              <a:t>"PSG College"</a:t>
            </a:r>
            <a:endParaRPr lang="en-US" sz="1350" dirty="0"/>
          </a:p>
        </p:txBody>
      </p:sp>
      <p:sp>
        <p:nvSpPr>
          <p:cNvPr id="10" name="Text 8"/>
          <p:cNvSpPr txBox="1"/>
          <p:nvPr/>
        </p:nvSpPr>
        <p:spPr>
          <a:xfrm>
            <a:off x="868680" y="2470023"/>
            <a:ext cx="4846320" cy="265748"/>
          </a:xfrm>
          <a:prstGeom prst="rect">
            <a:avLst/>
          </a:prstGeom>
          <a:noFill/>
          <a:ln/>
        </p:spPr>
        <p:txBody>
          <a:bodyPr wrap="square" lIns="0" tIns="0" rIns="0" bIns="0" rtlCol="0" anchor="t"/>
          <a:lstStyle/>
          <a:p>
            <a:pPr indent="0" marL="0">
              <a:buNone/>
            </a:pPr>
            <a:endParaRPr lang="en-US" sz="1350" dirty="0"/>
          </a:p>
        </p:txBody>
      </p:sp>
      <p:sp>
        <p:nvSpPr>
          <p:cNvPr id="11" name="Text 9"/>
          <p:cNvSpPr txBox="1"/>
          <p:nvPr/>
        </p:nvSpPr>
        <p:spPr>
          <a:xfrm>
            <a:off x="868680" y="2735771"/>
            <a:ext cx="4846320" cy="265748"/>
          </a:xfrm>
          <a:prstGeom prst="rect">
            <a:avLst/>
          </a:prstGeom>
          <a:noFill/>
          <a:ln/>
        </p:spPr>
        <p:txBody>
          <a:bodyPr wrap="square" lIns="0" tIns="0" rIns="0" bIns="0" rtlCol="0" anchor="t"/>
          <a:lstStyle/>
          <a:p>
            <a:pPr indent="0" marL="0">
              <a:buNone/>
            </a:pPr>
            <a:r>
              <a:rPr lang="en-US" sz="1350" dirty="0">
                <a:solidFill>
                  <a:srgbClr val="E6EDF3"/>
                </a:solidFill>
                <a:latin typeface="Courier New" pitchFamily="34" charset="0"/>
                <a:ea typeface="Courier New" pitchFamily="34" charset="-122"/>
                <a:cs typeface="Courier New" pitchFamily="34" charset="-120"/>
              </a:rPr>
              <a:t>    </a:t>
            </a:r>
            <a:pPr indent="0" marL="0">
              <a:buNone/>
            </a:pPr>
            <a:r>
              <a:rPr lang="en-US" sz="1350" b="1" dirty="0">
                <a:solidFill>
                  <a:srgbClr val="4B8BBE"/>
                </a:solidFill>
                <a:latin typeface="Courier New" pitchFamily="34" charset="0"/>
                <a:ea typeface="Courier New" pitchFamily="34" charset="-122"/>
                <a:cs typeface="Courier New" pitchFamily="34" charset="-120"/>
              </a:rPr>
              <a:t>def </a:t>
            </a:r>
            <a:pPr indent="0" marL="0">
              <a:buNone/>
            </a:pPr>
            <a:r>
              <a:rPr lang="en-US" sz="1350" dirty="0">
                <a:solidFill>
                  <a:srgbClr val="58A6FF"/>
                </a:solidFill>
                <a:latin typeface="Courier New" pitchFamily="34" charset="0"/>
                <a:ea typeface="Courier New" pitchFamily="34" charset="-122"/>
                <a:cs typeface="Courier New" pitchFamily="34" charset="-120"/>
              </a:rPr>
              <a:t>__init__</a:t>
            </a:r>
            <a:pPr indent="0" marL="0">
              <a:buNone/>
            </a:pPr>
            <a:r>
              <a:rPr lang="en-US" sz="1350" dirty="0">
                <a:solidFill>
                  <a:srgbClr val="E6EDF3"/>
                </a:solidFill>
                <a:latin typeface="Courier New" pitchFamily="34" charset="0"/>
                <a:ea typeface="Courier New" pitchFamily="34" charset="-122"/>
                <a:cs typeface="Courier New" pitchFamily="34" charset="-120"/>
              </a:rPr>
              <a:t>(self, name):</a:t>
            </a:r>
            <a:endParaRPr lang="en-US" sz="1350" dirty="0"/>
          </a:p>
        </p:txBody>
      </p:sp>
      <p:sp>
        <p:nvSpPr>
          <p:cNvPr id="12" name="Text 10"/>
          <p:cNvSpPr txBox="1"/>
          <p:nvPr/>
        </p:nvSpPr>
        <p:spPr>
          <a:xfrm>
            <a:off x="868680" y="3001518"/>
            <a:ext cx="4846320" cy="265748"/>
          </a:xfrm>
          <a:prstGeom prst="rect">
            <a:avLst/>
          </a:prstGeom>
          <a:noFill/>
          <a:ln/>
        </p:spPr>
        <p:txBody>
          <a:bodyPr wrap="square" lIns="0" tIns="0" rIns="0" bIns="0" rtlCol="0" anchor="t"/>
          <a:lstStyle/>
          <a:p>
            <a:pPr indent="0" marL="0">
              <a:buNone/>
            </a:pPr>
            <a:r>
              <a:rPr lang="en-US" sz="1350" dirty="0">
                <a:solidFill>
                  <a:srgbClr val="E6EDF3"/>
                </a:solidFill>
                <a:latin typeface="Courier New" pitchFamily="34" charset="0"/>
                <a:ea typeface="Courier New" pitchFamily="34" charset="-122"/>
                <a:cs typeface="Courier New" pitchFamily="34" charset="-120"/>
              </a:rPr>
              <a:t>        self.name = name</a:t>
            </a:r>
            <a:endParaRPr lang="en-US" sz="1350" dirty="0"/>
          </a:p>
        </p:txBody>
      </p:sp>
      <p:sp>
        <p:nvSpPr>
          <p:cNvPr id="13" name="Shape 11"/>
          <p:cNvSpPr/>
          <p:nvPr/>
        </p:nvSpPr>
        <p:spPr>
          <a:xfrm>
            <a:off x="548640" y="3337560"/>
            <a:ext cx="2560320" cy="777240"/>
          </a:xfrm>
          <a:prstGeom prst="roundRect">
            <a:avLst>
              <a:gd name="adj" fmla="val 9412"/>
            </a:avLst>
          </a:prstGeom>
          <a:solidFill>
            <a:srgbClr val="161B22"/>
          </a:solidFill>
          <a:ln w="12700">
            <a:solidFill>
              <a:srgbClr val="30363D"/>
            </a:solidFill>
            <a:prstDash val="solid"/>
          </a:ln>
        </p:spPr>
      </p:sp>
      <p:sp>
        <p:nvSpPr>
          <p:cNvPr id="14" name="Text 12"/>
          <p:cNvSpPr txBox="1"/>
          <p:nvPr/>
        </p:nvSpPr>
        <p:spPr>
          <a:xfrm>
            <a:off x="685800" y="3410712"/>
            <a:ext cx="2286000" cy="274320"/>
          </a:xfrm>
          <a:prstGeom prst="rect">
            <a:avLst/>
          </a:prstGeom>
          <a:noFill/>
          <a:ln/>
        </p:spPr>
        <p:txBody>
          <a:bodyPr wrap="square" lIns="0" tIns="0" rIns="0" bIns="0" rtlCol="0" anchor="ctr"/>
          <a:lstStyle/>
          <a:p>
            <a:pPr indent="0" marL="0">
              <a:buNone/>
            </a:pPr>
            <a:r>
              <a:rPr lang="en-US" sz="1050" b="1" dirty="0">
                <a:solidFill>
                  <a:srgbClr val="58A6FF"/>
                </a:solidFill>
                <a:latin typeface="Courier New" pitchFamily="34" charset="0"/>
                <a:ea typeface="Courier New" pitchFamily="34" charset="-122"/>
                <a:cs typeface="Courier New" pitchFamily="34" charset="-120"/>
              </a:rPr>
              <a:t>Instance attribute</a:t>
            </a:r>
            <a:endParaRPr lang="en-US" sz="1050" dirty="0"/>
          </a:p>
        </p:txBody>
      </p:sp>
      <p:sp>
        <p:nvSpPr>
          <p:cNvPr id="15" name="Text 13"/>
          <p:cNvSpPr txBox="1"/>
          <p:nvPr/>
        </p:nvSpPr>
        <p:spPr>
          <a:xfrm>
            <a:off x="685800" y="3657600"/>
            <a:ext cx="2286000" cy="274320"/>
          </a:xfrm>
          <a:prstGeom prst="rect">
            <a:avLst/>
          </a:prstGeom>
          <a:noFill/>
          <a:ln/>
        </p:spPr>
        <p:txBody>
          <a:bodyPr wrap="square" lIns="0" tIns="0" rIns="0" bIns="0" rtlCol="0" anchor="ctr"/>
          <a:lstStyle/>
          <a:p>
            <a:pPr indent="0" marL="0">
              <a:buNone/>
            </a:pPr>
            <a:r>
              <a:rPr lang="en-US" sz="1250" dirty="0">
                <a:solidFill>
                  <a:srgbClr val="E6EDF3"/>
                </a:solidFill>
                <a:latin typeface="Courier New" pitchFamily="34" charset="0"/>
                <a:ea typeface="Courier New" pitchFamily="34" charset="-122"/>
                <a:cs typeface="Courier New" pitchFamily="34" charset="-120"/>
              </a:rPr>
              <a:t>self.name</a:t>
            </a:r>
            <a:endParaRPr lang="en-US" sz="1250" dirty="0"/>
          </a:p>
        </p:txBody>
      </p:sp>
      <p:sp>
        <p:nvSpPr>
          <p:cNvPr id="16" name="Text 14"/>
          <p:cNvSpPr txBox="1"/>
          <p:nvPr/>
        </p:nvSpPr>
        <p:spPr>
          <a:xfrm>
            <a:off x="548640" y="4114800"/>
            <a:ext cx="2560320" cy="3200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 belongs to one object</a:t>
            </a:r>
            <a:endParaRPr lang="en-US" sz="1050" dirty="0"/>
          </a:p>
        </p:txBody>
      </p:sp>
      <p:sp>
        <p:nvSpPr>
          <p:cNvPr id="17" name="Shape 15"/>
          <p:cNvSpPr/>
          <p:nvPr/>
        </p:nvSpPr>
        <p:spPr>
          <a:xfrm>
            <a:off x="3337560" y="3337560"/>
            <a:ext cx="2606040" cy="777240"/>
          </a:xfrm>
          <a:prstGeom prst="roundRect">
            <a:avLst>
              <a:gd name="adj" fmla="val 9412"/>
            </a:avLst>
          </a:prstGeom>
          <a:solidFill>
            <a:srgbClr val="161B22"/>
          </a:solidFill>
          <a:ln w="12700">
            <a:solidFill>
              <a:srgbClr val="30363D"/>
            </a:solidFill>
            <a:prstDash val="solid"/>
          </a:ln>
        </p:spPr>
      </p:sp>
      <p:sp>
        <p:nvSpPr>
          <p:cNvPr id="18" name="Text 16"/>
          <p:cNvSpPr txBox="1"/>
          <p:nvPr/>
        </p:nvSpPr>
        <p:spPr>
          <a:xfrm>
            <a:off x="3474720" y="3410712"/>
            <a:ext cx="2331720" cy="274320"/>
          </a:xfrm>
          <a:prstGeom prst="rect">
            <a:avLst/>
          </a:prstGeom>
          <a:noFill/>
          <a:ln/>
        </p:spPr>
        <p:txBody>
          <a:bodyPr wrap="square" lIns="0" tIns="0" rIns="0" bIns="0" rtlCol="0" anchor="ctr"/>
          <a:lstStyle/>
          <a:p>
            <a:pPr indent="0" marL="0">
              <a:buNone/>
            </a:pPr>
            <a:r>
              <a:rPr lang="en-US" sz="1050" b="1" dirty="0">
                <a:solidFill>
                  <a:srgbClr val="FFD43B"/>
                </a:solidFill>
                <a:latin typeface="Courier New" pitchFamily="34" charset="0"/>
                <a:ea typeface="Courier New" pitchFamily="34" charset="-122"/>
                <a:cs typeface="Courier New" pitchFamily="34" charset="-120"/>
              </a:rPr>
              <a:t>Class attribute</a:t>
            </a:r>
            <a:endParaRPr lang="en-US" sz="1050" dirty="0"/>
          </a:p>
        </p:txBody>
      </p:sp>
      <p:sp>
        <p:nvSpPr>
          <p:cNvPr id="19" name="Text 17"/>
          <p:cNvSpPr txBox="1"/>
          <p:nvPr/>
        </p:nvSpPr>
        <p:spPr>
          <a:xfrm>
            <a:off x="3474720" y="3657600"/>
            <a:ext cx="2331720" cy="274320"/>
          </a:xfrm>
          <a:prstGeom prst="rect">
            <a:avLst/>
          </a:prstGeom>
          <a:noFill/>
          <a:ln/>
        </p:spPr>
        <p:txBody>
          <a:bodyPr wrap="square" lIns="0" tIns="0" rIns="0" bIns="0" rtlCol="0" anchor="ctr"/>
          <a:lstStyle/>
          <a:p>
            <a:pPr indent="0" marL="0">
              <a:buNone/>
            </a:pPr>
            <a:r>
              <a:rPr lang="en-US" sz="1250" dirty="0">
                <a:solidFill>
                  <a:srgbClr val="E6EDF3"/>
                </a:solidFill>
                <a:latin typeface="Courier New" pitchFamily="34" charset="0"/>
                <a:ea typeface="Courier New" pitchFamily="34" charset="-122"/>
                <a:cs typeface="Courier New" pitchFamily="34" charset="-120"/>
              </a:rPr>
              <a:t>Student.college</a:t>
            </a:r>
            <a:endParaRPr lang="en-US" sz="1250" dirty="0"/>
          </a:p>
        </p:txBody>
      </p:sp>
      <p:sp>
        <p:nvSpPr>
          <p:cNvPr id="20" name="Text 18"/>
          <p:cNvSpPr txBox="1"/>
          <p:nvPr/>
        </p:nvSpPr>
        <p:spPr>
          <a:xfrm>
            <a:off x="3337560" y="4114800"/>
            <a:ext cx="2606040" cy="3200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 belongs to the class</a:t>
            </a:r>
            <a:endParaRPr lang="en-US" sz="1050" dirty="0"/>
          </a:p>
        </p:txBody>
      </p:sp>
      <p:sp>
        <p:nvSpPr>
          <p:cNvPr id="21" name="Shape 19"/>
          <p:cNvSpPr/>
          <p:nvPr/>
        </p:nvSpPr>
        <p:spPr>
          <a:xfrm>
            <a:off x="548640" y="4617720"/>
            <a:ext cx="5394960" cy="777240"/>
          </a:xfrm>
          <a:prstGeom prst="roundRect">
            <a:avLst>
              <a:gd name="adj" fmla="val 9412"/>
            </a:avLst>
          </a:prstGeom>
          <a:solidFill>
            <a:srgbClr val="161B22"/>
          </a:solidFill>
          <a:ln w="12700">
            <a:solidFill>
              <a:srgbClr val="30363D"/>
            </a:solidFill>
            <a:prstDash val="solid"/>
          </a:ln>
        </p:spPr>
      </p:sp>
      <p:sp>
        <p:nvSpPr>
          <p:cNvPr id="22" name="Shape 20"/>
          <p:cNvSpPr/>
          <p:nvPr/>
        </p:nvSpPr>
        <p:spPr>
          <a:xfrm>
            <a:off x="749808" y="4782312"/>
            <a:ext cx="100584" cy="100584"/>
          </a:xfrm>
          <a:prstGeom prst="ellipse">
            <a:avLst/>
          </a:prstGeom>
          <a:solidFill>
            <a:srgbClr val="F85149"/>
          </a:solidFill>
          <a:ln/>
        </p:spPr>
      </p:sp>
      <p:sp>
        <p:nvSpPr>
          <p:cNvPr id="23" name="Shape 21"/>
          <p:cNvSpPr/>
          <p:nvPr/>
        </p:nvSpPr>
        <p:spPr>
          <a:xfrm>
            <a:off x="950976" y="4782312"/>
            <a:ext cx="100584" cy="100584"/>
          </a:xfrm>
          <a:prstGeom prst="ellipse">
            <a:avLst/>
          </a:prstGeom>
          <a:solidFill>
            <a:srgbClr val="FFD43B"/>
          </a:solidFill>
          <a:ln/>
        </p:spPr>
      </p:sp>
      <p:sp>
        <p:nvSpPr>
          <p:cNvPr id="24" name="Shape 22"/>
          <p:cNvSpPr/>
          <p:nvPr/>
        </p:nvSpPr>
        <p:spPr>
          <a:xfrm>
            <a:off x="1152144" y="4782312"/>
            <a:ext cx="100584" cy="100584"/>
          </a:xfrm>
          <a:prstGeom prst="ellipse">
            <a:avLst/>
          </a:prstGeom>
          <a:solidFill>
            <a:srgbClr val="3FB950"/>
          </a:solidFill>
          <a:ln/>
        </p:spPr>
      </p:sp>
      <p:sp>
        <p:nvSpPr>
          <p:cNvPr id="25" name="Text 23"/>
          <p:cNvSpPr txBox="1"/>
          <p:nvPr/>
        </p:nvSpPr>
        <p:spPr>
          <a:xfrm>
            <a:off x="868680" y="5001768"/>
            <a:ext cx="4846320" cy="255905"/>
          </a:xfrm>
          <a:prstGeom prst="rect">
            <a:avLst/>
          </a:prstGeom>
          <a:noFill/>
          <a:ln/>
        </p:spPr>
        <p:txBody>
          <a:bodyPr wrap="square" lIns="0" tIns="0" rIns="0" bIns="0" rtlCol="0" anchor="t"/>
          <a:lstStyle/>
          <a:p>
            <a:pPr indent="0" marL="0">
              <a:buNone/>
            </a:pPr>
            <a:r>
              <a:rPr lang="en-US" sz="1300" dirty="0">
                <a:solidFill>
                  <a:srgbClr val="58A6FF"/>
                </a:solidFill>
                <a:latin typeface="Courier New" pitchFamily="34" charset="0"/>
                <a:ea typeface="Courier New" pitchFamily="34" charset="-122"/>
                <a:cs typeface="Courier New" pitchFamily="34" charset="-120"/>
              </a:rPr>
              <a:t>Student</a:t>
            </a:r>
            <a:pPr indent="0" marL="0">
              <a:buNone/>
            </a:pPr>
            <a:r>
              <a:rPr lang="en-US" sz="1300" dirty="0">
                <a:solidFill>
                  <a:srgbClr val="E6EDF3"/>
                </a:solidFill>
                <a:latin typeface="Courier New" pitchFamily="34" charset="0"/>
                <a:ea typeface="Courier New" pitchFamily="34" charset="-122"/>
                <a:cs typeface="Courier New" pitchFamily="34" charset="-120"/>
              </a:rPr>
              <a:t>.college = </a:t>
            </a:r>
            <a:pPr indent="0" marL="0">
              <a:buNone/>
            </a:pPr>
            <a:r>
              <a:rPr lang="en-US" sz="1300" dirty="0">
                <a:solidFill>
                  <a:srgbClr val="3FB950"/>
                </a:solidFill>
                <a:latin typeface="Courier New" pitchFamily="34" charset="0"/>
                <a:ea typeface="Courier New" pitchFamily="34" charset="-122"/>
                <a:cs typeface="Courier New" pitchFamily="34" charset="-120"/>
              </a:rPr>
              <a:t>"ABC College"</a:t>
            </a:r>
            <a:endParaRPr lang="en-US" sz="1300" dirty="0"/>
          </a:p>
        </p:txBody>
      </p:sp>
      <p:sp>
        <p:nvSpPr>
          <p:cNvPr id="26" name="Shape 24"/>
          <p:cNvSpPr/>
          <p:nvPr/>
        </p:nvSpPr>
        <p:spPr>
          <a:xfrm>
            <a:off x="7406640" y="1554480"/>
            <a:ext cx="4206240" cy="777240"/>
          </a:xfrm>
          <a:prstGeom prst="roundRect">
            <a:avLst>
              <a:gd name="adj" fmla="val 9412"/>
            </a:avLst>
          </a:prstGeom>
          <a:solidFill>
            <a:srgbClr val="1C2129"/>
          </a:solidFill>
          <a:ln w="12700">
            <a:solidFill>
              <a:srgbClr val="4B8BBE"/>
            </a:solidFill>
            <a:prstDash val="solid"/>
          </a:ln>
        </p:spPr>
      </p:sp>
      <p:sp>
        <p:nvSpPr>
          <p:cNvPr id="27" name="Text 25"/>
          <p:cNvSpPr txBox="1"/>
          <p:nvPr/>
        </p:nvSpPr>
        <p:spPr>
          <a:xfrm>
            <a:off x="7635240" y="1627632"/>
            <a:ext cx="1828800" cy="274320"/>
          </a:xfrm>
          <a:prstGeom prst="rect">
            <a:avLst/>
          </a:prstGeom>
          <a:noFill/>
          <a:ln/>
        </p:spPr>
        <p:txBody>
          <a:bodyPr wrap="square" lIns="0" tIns="0" rIns="0" bIns="0" rtlCol="0" anchor="ctr"/>
          <a:lstStyle/>
          <a:p>
            <a:pPr indent="0" marL="0">
              <a:buNone/>
            </a:pPr>
            <a:r>
              <a:rPr lang="en-US" sz="1100" b="1" dirty="0">
                <a:solidFill>
                  <a:srgbClr val="4B8BBE"/>
                </a:solidFill>
                <a:latin typeface="Courier New" pitchFamily="34" charset="0"/>
                <a:ea typeface="Courier New" pitchFamily="34" charset="-122"/>
                <a:cs typeface="Courier New" pitchFamily="34" charset="-120"/>
              </a:rPr>
              <a:t>CLASS</a:t>
            </a:r>
            <a:endParaRPr lang="en-US" sz="1100" dirty="0"/>
          </a:p>
        </p:txBody>
      </p:sp>
      <p:sp>
        <p:nvSpPr>
          <p:cNvPr id="28" name="Text 26"/>
          <p:cNvSpPr txBox="1"/>
          <p:nvPr/>
        </p:nvSpPr>
        <p:spPr>
          <a:xfrm>
            <a:off x="7635240" y="1901952"/>
            <a:ext cx="3749040" cy="320040"/>
          </a:xfrm>
          <a:prstGeom prst="rect">
            <a:avLst/>
          </a:prstGeom>
          <a:noFill/>
          <a:ln/>
        </p:spPr>
        <p:txBody>
          <a:bodyPr wrap="square" lIns="0" tIns="0" rIns="0" bIns="0" rtlCol="0" anchor="ctr"/>
          <a:lstStyle/>
          <a:p>
            <a:pPr indent="0" marL="0">
              <a:buNone/>
            </a:pPr>
            <a:r>
              <a:rPr lang="en-US" sz="1200" dirty="0">
                <a:solidFill>
                  <a:srgbClr val="E6EDF3"/>
                </a:solidFill>
                <a:latin typeface="Courier New" pitchFamily="34" charset="0"/>
                <a:ea typeface="Courier New" pitchFamily="34" charset="-122"/>
                <a:cs typeface="Courier New" pitchFamily="34" charset="-120"/>
              </a:rPr>
              <a:t>college = "PSG College"</a:t>
            </a:r>
            <a:endParaRPr lang="en-US" sz="1200" dirty="0"/>
          </a:p>
        </p:txBody>
      </p:sp>
      <p:sp>
        <p:nvSpPr>
          <p:cNvPr id="29" name="Text 27"/>
          <p:cNvSpPr txBox="1"/>
          <p:nvPr/>
        </p:nvSpPr>
        <p:spPr>
          <a:xfrm>
            <a:off x="7406640" y="2395728"/>
            <a:ext cx="4206240" cy="274320"/>
          </a:xfrm>
          <a:prstGeom prst="rect">
            <a:avLst/>
          </a:prstGeom>
          <a:noFill/>
          <a:ln/>
        </p:spPr>
        <p:txBody>
          <a:bodyPr wrap="square" lIns="0" tIns="0" rIns="0" bIns="0" rtlCol="0" anchor="ctr"/>
          <a:lstStyle/>
          <a:p>
            <a:pPr algn="ctr" indent="0" marL="0">
              <a:buNone/>
            </a:pPr>
            <a:r>
              <a:rPr lang="en-US" sz="1050" i="1" dirty="0">
                <a:solidFill>
                  <a:srgbClr val="8B949E"/>
                </a:solidFill>
                <a:latin typeface="Calibri" pitchFamily="34" charset="0"/>
                <a:ea typeface="Calibri" pitchFamily="34" charset="-122"/>
                <a:cs typeface="Calibri" pitchFamily="34" charset="-120"/>
              </a:rPr>
              <a:t>shared class-level data</a:t>
            </a:r>
            <a:endParaRPr lang="en-US" sz="1050" dirty="0"/>
          </a:p>
        </p:txBody>
      </p:sp>
      <p:sp>
        <p:nvSpPr>
          <p:cNvPr id="30" name="Shape 28"/>
          <p:cNvSpPr/>
          <p:nvPr/>
        </p:nvSpPr>
        <p:spPr>
          <a:xfrm>
            <a:off x="8668512" y="2697480"/>
            <a:ext cx="-822960" cy="502920"/>
          </a:xfrm>
          <a:prstGeom prst="line">
            <a:avLst/>
          </a:prstGeom>
          <a:noFill/>
          <a:ln w="15875">
            <a:solidFill>
              <a:srgbClr val="6E7681"/>
            </a:solidFill>
            <a:prstDash val="solid"/>
            <a:tailEnd type="triangle"/>
          </a:ln>
        </p:spPr>
      </p:sp>
      <p:sp>
        <p:nvSpPr>
          <p:cNvPr id="31" name="Shape 29"/>
          <p:cNvSpPr/>
          <p:nvPr/>
        </p:nvSpPr>
        <p:spPr>
          <a:xfrm>
            <a:off x="10351008" y="2697480"/>
            <a:ext cx="822960" cy="502920"/>
          </a:xfrm>
          <a:prstGeom prst="line">
            <a:avLst/>
          </a:prstGeom>
          <a:noFill/>
          <a:ln w="15875">
            <a:solidFill>
              <a:srgbClr val="6E7681"/>
            </a:solidFill>
            <a:prstDash val="solid"/>
            <a:tailEnd type="triangle"/>
          </a:ln>
        </p:spPr>
      </p:sp>
      <p:sp>
        <p:nvSpPr>
          <p:cNvPr id="32" name="Shape 30"/>
          <p:cNvSpPr/>
          <p:nvPr/>
        </p:nvSpPr>
        <p:spPr>
          <a:xfrm>
            <a:off x="7406640" y="3246120"/>
            <a:ext cx="1920240" cy="777240"/>
          </a:xfrm>
          <a:prstGeom prst="roundRect">
            <a:avLst>
              <a:gd name="adj" fmla="val 9412"/>
            </a:avLst>
          </a:prstGeom>
          <a:solidFill>
            <a:srgbClr val="161B22"/>
          </a:solidFill>
          <a:ln w="12700">
            <a:solidFill>
              <a:srgbClr val="30363D"/>
            </a:solidFill>
            <a:prstDash val="solid"/>
          </a:ln>
        </p:spPr>
      </p:sp>
      <p:sp>
        <p:nvSpPr>
          <p:cNvPr id="33" name="Text 31"/>
          <p:cNvSpPr txBox="1"/>
          <p:nvPr/>
        </p:nvSpPr>
        <p:spPr>
          <a:xfrm>
            <a:off x="7589520" y="3319272"/>
            <a:ext cx="1554480" cy="274320"/>
          </a:xfrm>
          <a:prstGeom prst="rect">
            <a:avLst/>
          </a:prstGeom>
          <a:noFill/>
          <a:ln/>
        </p:spPr>
        <p:txBody>
          <a:bodyPr wrap="square" lIns="0" tIns="0" rIns="0" bIns="0" rtlCol="0" anchor="ctr"/>
          <a:lstStyle/>
          <a:p>
            <a:pPr indent="0" marL="0">
              <a:buNone/>
            </a:pPr>
            <a:r>
              <a:rPr lang="en-US" sz="1050" b="1" dirty="0">
                <a:solidFill>
                  <a:srgbClr val="FFD43B"/>
                </a:solidFill>
                <a:latin typeface="Courier New" pitchFamily="34" charset="0"/>
                <a:ea typeface="Courier New" pitchFamily="34" charset="-122"/>
                <a:cs typeface="Courier New" pitchFamily="34" charset="-120"/>
              </a:rPr>
              <a:t>OBJECT 1</a:t>
            </a:r>
            <a:endParaRPr lang="en-US" sz="1050" dirty="0"/>
          </a:p>
        </p:txBody>
      </p:sp>
      <p:sp>
        <p:nvSpPr>
          <p:cNvPr id="34" name="Text 32"/>
          <p:cNvSpPr txBox="1"/>
          <p:nvPr/>
        </p:nvSpPr>
        <p:spPr>
          <a:xfrm>
            <a:off x="7589520" y="3593592"/>
            <a:ext cx="1645920" cy="274320"/>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name = "Arun"</a:t>
            </a:r>
            <a:endParaRPr lang="en-US" sz="1100" dirty="0"/>
          </a:p>
        </p:txBody>
      </p:sp>
      <p:sp>
        <p:nvSpPr>
          <p:cNvPr id="35" name="Shape 33"/>
          <p:cNvSpPr/>
          <p:nvPr/>
        </p:nvSpPr>
        <p:spPr>
          <a:xfrm>
            <a:off x="9692640" y="3246120"/>
            <a:ext cx="1920240" cy="777240"/>
          </a:xfrm>
          <a:prstGeom prst="roundRect">
            <a:avLst>
              <a:gd name="adj" fmla="val 9412"/>
            </a:avLst>
          </a:prstGeom>
          <a:solidFill>
            <a:srgbClr val="161B22"/>
          </a:solidFill>
          <a:ln w="12700">
            <a:solidFill>
              <a:srgbClr val="30363D"/>
            </a:solidFill>
            <a:prstDash val="solid"/>
          </a:ln>
        </p:spPr>
      </p:sp>
      <p:sp>
        <p:nvSpPr>
          <p:cNvPr id="36" name="Text 34"/>
          <p:cNvSpPr txBox="1"/>
          <p:nvPr/>
        </p:nvSpPr>
        <p:spPr>
          <a:xfrm>
            <a:off x="9875520" y="3319272"/>
            <a:ext cx="1554480" cy="274320"/>
          </a:xfrm>
          <a:prstGeom prst="rect">
            <a:avLst/>
          </a:prstGeom>
          <a:noFill/>
          <a:ln/>
        </p:spPr>
        <p:txBody>
          <a:bodyPr wrap="square" lIns="0" tIns="0" rIns="0" bIns="0" rtlCol="0" anchor="ctr"/>
          <a:lstStyle/>
          <a:p>
            <a:pPr indent="0" marL="0">
              <a:buNone/>
            </a:pPr>
            <a:r>
              <a:rPr lang="en-US" sz="1050" b="1" dirty="0">
                <a:solidFill>
                  <a:srgbClr val="FFD43B"/>
                </a:solidFill>
                <a:latin typeface="Courier New" pitchFamily="34" charset="0"/>
                <a:ea typeface="Courier New" pitchFamily="34" charset="-122"/>
                <a:cs typeface="Courier New" pitchFamily="34" charset="-120"/>
              </a:rPr>
              <a:t>OBJECT 2</a:t>
            </a:r>
            <a:endParaRPr lang="en-US" sz="1050" dirty="0"/>
          </a:p>
        </p:txBody>
      </p:sp>
      <p:sp>
        <p:nvSpPr>
          <p:cNvPr id="37" name="Text 35"/>
          <p:cNvSpPr txBox="1"/>
          <p:nvPr/>
        </p:nvSpPr>
        <p:spPr>
          <a:xfrm>
            <a:off x="9875520" y="3593592"/>
            <a:ext cx="1645920" cy="274320"/>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name = "Rahul"</a:t>
            </a:r>
            <a:endParaRPr lang="en-US" sz="1100" dirty="0"/>
          </a:p>
        </p:txBody>
      </p:sp>
      <p:sp>
        <p:nvSpPr>
          <p:cNvPr id="38" name="Text 36"/>
          <p:cNvSpPr txBox="1"/>
          <p:nvPr/>
        </p:nvSpPr>
        <p:spPr>
          <a:xfrm>
            <a:off x="7406640" y="4251960"/>
            <a:ext cx="4206240" cy="1005840"/>
          </a:xfrm>
          <a:prstGeom prst="rect">
            <a:avLst/>
          </a:prstGeom>
          <a:noFill/>
          <a:ln/>
        </p:spPr>
        <p:txBody>
          <a:bodyPr wrap="square" lIns="0" tIns="0" rIns="0" bIns="0" rtlCol="0" anchor="ctr"/>
          <a:lstStyle/>
          <a:p>
            <a:pPr indent="0" marL="0">
              <a:buNone/>
            </a:pPr>
            <a:r>
              <a:rPr lang="en-US" sz="1150" i="1" dirty="0">
                <a:solidFill>
                  <a:srgbClr val="8B949E"/>
                </a:solidFill>
                <a:latin typeface="Calibri" pitchFamily="34" charset="0"/>
                <a:ea typeface="Calibri" pitchFamily="34" charset="-122"/>
                <a:cs typeface="Calibri" pitchFamily="34" charset="-120"/>
              </a:rPr>
              <a:t>When an object has no attribute of its own with that name, it reads the class's value —</a:t>
            </a:r>
            <a:endParaRPr lang="en-US" sz="1150" dirty="0"/>
          </a:p>
          <a:p>
            <a:pPr indent="0" marL="0">
              <a:buNone/>
            </a:pPr>
            <a:r>
              <a:rPr lang="en-US" sz="1150" i="1" dirty="0">
                <a:solidFill>
                  <a:srgbClr val="8B949E"/>
                </a:solidFill>
                <a:latin typeface="Calibri" pitchFamily="34" charset="0"/>
                <a:ea typeface="Calibri" pitchFamily="34" charset="-122"/>
                <a:cs typeface="Calibri" pitchFamily="34" charset="-120"/>
              </a:rPr>
              <a:t>so both objects now see "ABC College" after the reassignment.</a:t>
            </a:r>
            <a:endParaRPr lang="en-US" sz="1150" dirty="0"/>
          </a:p>
        </p:txBody>
      </p:sp>
      <p:sp>
        <p:nvSpPr>
          <p:cNvPr id="39" name="Text 37"/>
          <p:cNvSpPr txBox="1"/>
          <p:nvPr/>
        </p:nvSpPr>
        <p:spPr>
          <a:xfrm>
            <a:off x="10728655" y="502920"/>
            <a:ext cx="914400" cy="274320"/>
          </a:xfrm>
          <a:prstGeom prst="rect">
            <a:avLst/>
          </a:prstGeom>
          <a:noFill/>
          <a:ln/>
        </p:spPr>
        <p:txBody>
          <a:bodyPr wrap="square" lIns="0" tIns="0" rIns="0" bIns="0" rtlCol="0" anchor="ctr"/>
          <a:lstStyle/>
          <a:p>
            <a:pPr algn="r" indent="0" marL="0">
              <a:buNone/>
            </a:pPr>
            <a:r>
              <a:rPr lang="en-US" sz="900" dirty="0">
                <a:solidFill>
                  <a:srgbClr val="6E7681"/>
                </a:solidFill>
                <a:latin typeface="Courier New" pitchFamily="34" charset="0"/>
                <a:ea typeface="Courier New" pitchFamily="34" charset="-122"/>
                <a:cs typeface="Courier New" pitchFamily="34" charset="-120"/>
              </a:rPr>
              <a:t>09 / 14</a:t>
            </a:r>
            <a:endParaRPr lang="en-US" sz="900" dirty="0"/>
          </a:p>
        </p:txBody>
      </p:sp>
      <p:sp>
        <p:nvSpPr>
          <p:cNvPr id="40" name="Shape 38"/>
          <p:cNvSpPr/>
          <p:nvPr/>
        </p:nvSpPr>
        <p:spPr>
          <a:xfrm>
            <a:off x="7919618" y="6291072"/>
            <a:ext cx="3723437" cy="365760"/>
          </a:xfrm>
          <a:prstGeom prst="roundRect">
            <a:avLst>
              <a:gd name="adj" fmla="val 15000"/>
            </a:avLst>
          </a:prstGeom>
          <a:solidFill>
            <a:srgbClr val="1C2129"/>
          </a:solidFill>
          <a:ln w="9525">
            <a:solidFill>
              <a:srgbClr val="30363D"/>
            </a:solidFill>
            <a:prstDash val="solid"/>
          </a:ln>
        </p:spPr>
      </p:sp>
      <p:sp>
        <p:nvSpPr>
          <p:cNvPr id="41" name="Text 39"/>
          <p:cNvSpPr txBox="1"/>
          <p:nvPr/>
        </p:nvSpPr>
        <p:spPr>
          <a:xfrm>
            <a:off x="7919618" y="6291072"/>
            <a:ext cx="3723437" cy="365760"/>
          </a:xfrm>
          <a:prstGeom prst="rect">
            <a:avLst/>
          </a:prstGeom>
          <a:noFill/>
          <a:ln/>
        </p:spPr>
        <p:txBody>
          <a:bodyPr wrap="square" lIns="0" tIns="0" rIns="0" bIns="0" rtlCol="0" anchor="ctr"/>
          <a:lstStyle/>
          <a:p>
            <a:pPr algn="ctr" indent="0" marL="0">
              <a:buNone/>
            </a:pPr>
            <a:r>
              <a:rPr lang="en-US" sz="1000" dirty="0">
                <a:solidFill>
                  <a:srgbClr val="3FB950"/>
                </a:solidFill>
                <a:latin typeface="Courier New" pitchFamily="34" charset="0"/>
                <a:ea typeface="Courier New" pitchFamily="34" charset="-122"/>
                <a:cs typeface="Courier New" pitchFamily="34" charset="-120"/>
              </a:rPr>
              <a:t>▶ </a:t>
            </a:r>
            <a:pPr algn="ctr" indent="0" marL="0">
              <a:buNone/>
            </a:pPr>
            <a:r>
              <a:rPr lang="en-US" sz="1000" dirty="0">
                <a:solidFill>
                  <a:srgbClr val="8B949E"/>
                </a:solidFill>
                <a:latin typeface="Courier New" pitchFamily="34" charset="0"/>
                <a:ea typeface="Courier New" pitchFamily="34" charset="-122"/>
                <a:cs typeface="Courier New" pitchFamily="34" charset="-120"/>
              </a:rPr>
              <a:t>06_class_vs_instance_attributes.py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B8BBE"/>
                </a:solidFill>
                <a:latin typeface="Courier New" pitchFamily="34" charset="0"/>
                <a:ea typeface="Courier New" pitchFamily="34" charset="-122"/>
                <a:cs typeface="Courier New" pitchFamily="34" charset="-120"/>
              </a:rPr>
              <a:t>09 · BEHAVIOR, CONTINUED</a:t>
            </a:r>
            <a:endParaRPr lang="en-US" sz="1200" dirty="0"/>
          </a:p>
        </p:txBody>
      </p:sp>
      <p:sp>
        <p:nvSpPr>
          <p:cNvPr id="3" name="Text 1"/>
          <p:cNvSpPr txBox="1"/>
          <p:nvPr/>
        </p:nvSpPr>
        <p:spPr>
          <a:xfrm>
            <a:off x="548640" y="777240"/>
            <a:ext cx="11094415" cy="822960"/>
          </a:xfrm>
          <a:prstGeom prst="rect">
            <a:avLst/>
          </a:prstGeom>
          <a:noFill/>
          <a:ln/>
        </p:spPr>
        <p:txBody>
          <a:bodyPr wrap="square" lIns="0" tIns="0" rIns="0" bIns="0" rtlCol="0" anchor="ctr"/>
          <a:lstStyle/>
          <a:p>
            <a:pPr indent="0" marL="0">
              <a:buNone/>
            </a:pPr>
            <a:r>
              <a:rPr lang="en-US" sz="3200" b="1" dirty="0">
                <a:solidFill>
                  <a:srgbClr val="E6EDF3"/>
                </a:solidFill>
                <a:latin typeface="Consolas" pitchFamily="34" charset="0"/>
                <a:ea typeface="Consolas" pitchFamily="34" charset="-122"/>
                <a:cs typeface="Consolas" pitchFamily="34" charset="-120"/>
              </a:rPr>
              <a:t>Instance Methods vs Class Methods</a:t>
            </a:r>
            <a:endParaRPr lang="en-US" sz="3200" dirty="0"/>
          </a:p>
        </p:txBody>
      </p:sp>
      <p:sp>
        <p:nvSpPr>
          <p:cNvPr id="4" name="Shape 2"/>
          <p:cNvSpPr/>
          <p:nvPr/>
        </p:nvSpPr>
        <p:spPr>
          <a:xfrm>
            <a:off x="548640" y="1600200"/>
            <a:ext cx="2788920" cy="3246120"/>
          </a:xfrm>
          <a:prstGeom prst="roundRect">
            <a:avLst>
              <a:gd name="adj" fmla="val 2623"/>
            </a:avLst>
          </a:prstGeom>
          <a:solidFill>
            <a:srgbClr val="161B22"/>
          </a:solidFill>
          <a:ln w="12700">
            <a:solidFill>
              <a:srgbClr val="30363D"/>
            </a:solidFill>
            <a:prstDash val="solid"/>
          </a:ln>
        </p:spPr>
      </p:sp>
      <p:sp>
        <p:nvSpPr>
          <p:cNvPr id="5" name="Text 3"/>
          <p:cNvSpPr txBox="1"/>
          <p:nvPr/>
        </p:nvSpPr>
        <p:spPr>
          <a:xfrm>
            <a:off x="731520" y="1737360"/>
            <a:ext cx="2423160" cy="320040"/>
          </a:xfrm>
          <a:prstGeom prst="rect">
            <a:avLst/>
          </a:prstGeom>
          <a:noFill/>
          <a:ln/>
        </p:spPr>
        <p:txBody>
          <a:bodyPr wrap="square" lIns="0" tIns="0" rIns="0" bIns="0" rtlCol="0" anchor="ctr"/>
          <a:lstStyle/>
          <a:p>
            <a:pPr indent="0" marL="0">
              <a:buNone/>
            </a:pPr>
            <a:r>
              <a:rPr lang="en-US" sz="1250" b="1" dirty="0">
                <a:solidFill>
                  <a:srgbClr val="58A6FF"/>
                </a:solidFill>
                <a:latin typeface="Courier New" pitchFamily="34" charset="0"/>
                <a:ea typeface="Courier New" pitchFamily="34" charset="-122"/>
                <a:cs typeface="Courier New" pitchFamily="34" charset="-120"/>
              </a:rPr>
              <a:t>INSTANCE METHOD</a:t>
            </a:r>
            <a:endParaRPr lang="en-US" sz="1250" dirty="0"/>
          </a:p>
        </p:txBody>
      </p:sp>
      <p:sp>
        <p:nvSpPr>
          <p:cNvPr id="6" name="Text 4"/>
          <p:cNvSpPr txBox="1"/>
          <p:nvPr/>
        </p:nvSpPr>
        <p:spPr>
          <a:xfrm>
            <a:off x="731520" y="2148840"/>
            <a:ext cx="2423160" cy="1188720"/>
          </a:xfrm>
          <a:prstGeom prst="rect">
            <a:avLst/>
          </a:prstGeom>
          <a:noFill/>
          <a:ln/>
        </p:spPr>
        <p:txBody>
          <a:bodyPr wrap="square" lIns="0" tIns="0" rIns="0" bIns="0" rtlCol="0" anchor="ctr"/>
          <a:lstStyle/>
          <a:p>
            <a:pPr indent="0" marL="0">
              <a:lnSpc>
                <a:spcPts val="2000"/>
              </a:lnSpc>
              <a:buNone/>
            </a:pPr>
            <a:r>
              <a:rPr lang="en-US" sz="1150" dirty="0">
                <a:solidFill>
                  <a:srgbClr val="8B949E"/>
                </a:solidFill>
                <a:latin typeface="Calibri" pitchFamily="34" charset="0"/>
                <a:ea typeface="Calibri" pitchFamily="34" charset="-122"/>
                <a:cs typeface="Calibri" pitchFamily="34" charset="-120"/>
              </a:rPr>
              <a:t>Decorator:  none</a:t>
            </a:r>
            <a:endParaRPr lang="en-US" sz="1150" dirty="0"/>
          </a:p>
          <a:p>
            <a:pPr indent="0" marL="0">
              <a:lnSpc>
                <a:spcPts val="2000"/>
              </a:lnSpc>
              <a:buNone/>
            </a:pPr>
            <a:r>
              <a:rPr lang="en-US" sz="1150" dirty="0">
                <a:solidFill>
                  <a:srgbClr val="8B949E"/>
                </a:solidFill>
                <a:latin typeface="Calibri" pitchFamily="34" charset="0"/>
                <a:ea typeface="Calibri" pitchFamily="34" charset="-122"/>
                <a:cs typeface="Calibri" pitchFamily="34" charset="-120"/>
              </a:rPr>
              <a:t>First param:  self</a:t>
            </a:r>
            <a:endParaRPr lang="en-US" sz="1150" dirty="0"/>
          </a:p>
          <a:p>
            <a:pPr indent="0" marL="0">
              <a:lnSpc>
                <a:spcPts val="2000"/>
              </a:lnSpc>
              <a:buNone/>
            </a:pPr>
            <a:r>
              <a:rPr lang="en-US" sz="1150" dirty="0">
                <a:solidFill>
                  <a:srgbClr val="8B949E"/>
                </a:solidFill>
                <a:latin typeface="Calibri" pitchFamily="34" charset="0"/>
                <a:ea typeface="Calibri" pitchFamily="34" charset="-122"/>
                <a:cs typeface="Calibri" pitchFamily="34" charset="-120"/>
              </a:rPr>
              <a:t>Works with:  a specific</a:t>
            </a:r>
            <a:endParaRPr lang="en-US" sz="1150" dirty="0"/>
          </a:p>
          <a:p>
            <a:pPr indent="0" marL="0">
              <a:lnSpc>
                <a:spcPts val="2000"/>
              </a:lnSpc>
              <a:buNone/>
            </a:pPr>
            <a:r>
              <a:rPr lang="en-US" sz="1150" dirty="0">
                <a:solidFill>
                  <a:srgbClr val="8B949E"/>
                </a:solidFill>
                <a:latin typeface="Calibri" pitchFamily="34" charset="0"/>
                <a:ea typeface="Calibri" pitchFamily="34" charset="-122"/>
                <a:cs typeface="Calibri" pitchFamily="34" charset="-120"/>
              </a:rPr>
              <a:t>  instance</a:t>
            </a:r>
            <a:endParaRPr lang="en-US" sz="1150" dirty="0"/>
          </a:p>
        </p:txBody>
      </p:sp>
      <p:sp>
        <p:nvSpPr>
          <p:cNvPr id="7" name="Shape 5"/>
          <p:cNvSpPr/>
          <p:nvPr/>
        </p:nvSpPr>
        <p:spPr>
          <a:xfrm>
            <a:off x="685800" y="3429000"/>
            <a:ext cx="2514600" cy="1234440"/>
          </a:xfrm>
          <a:prstGeom prst="roundRect">
            <a:avLst>
              <a:gd name="adj" fmla="val 5926"/>
            </a:avLst>
          </a:prstGeom>
          <a:solidFill>
            <a:srgbClr val="161B22"/>
          </a:solidFill>
          <a:ln w="12700">
            <a:solidFill>
              <a:srgbClr val="30363D"/>
            </a:solidFill>
            <a:prstDash val="solid"/>
          </a:ln>
        </p:spPr>
      </p:sp>
      <p:sp>
        <p:nvSpPr>
          <p:cNvPr id="8" name="Shape 6"/>
          <p:cNvSpPr/>
          <p:nvPr/>
        </p:nvSpPr>
        <p:spPr>
          <a:xfrm>
            <a:off x="886968" y="3593592"/>
            <a:ext cx="100584" cy="100584"/>
          </a:xfrm>
          <a:prstGeom prst="ellipse">
            <a:avLst/>
          </a:prstGeom>
          <a:solidFill>
            <a:srgbClr val="F85149"/>
          </a:solidFill>
          <a:ln/>
        </p:spPr>
      </p:sp>
      <p:sp>
        <p:nvSpPr>
          <p:cNvPr id="9" name="Shape 7"/>
          <p:cNvSpPr/>
          <p:nvPr/>
        </p:nvSpPr>
        <p:spPr>
          <a:xfrm>
            <a:off x="1088136" y="3593592"/>
            <a:ext cx="100584" cy="100584"/>
          </a:xfrm>
          <a:prstGeom prst="ellipse">
            <a:avLst/>
          </a:prstGeom>
          <a:solidFill>
            <a:srgbClr val="FFD43B"/>
          </a:solidFill>
          <a:ln/>
        </p:spPr>
      </p:sp>
      <p:sp>
        <p:nvSpPr>
          <p:cNvPr id="10" name="Shape 8"/>
          <p:cNvSpPr/>
          <p:nvPr/>
        </p:nvSpPr>
        <p:spPr>
          <a:xfrm>
            <a:off x="1289304" y="3593592"/>
            <a:ext cx="100584" cy="100584"/>
          </a:xfrm>
          <a:prstGeom prst="ellipse">
            <a:avLst/>
          </a:prstGeom>
          <a:solidFill>
            <a:srgbClr val="3FB950"/>
          </a:solidFill>
          <a:ln/>
        </p:spPr>
      </p:sp>
      <p:sp>
        <p:nvSpPr>
          <p:cNvPr id="11" name="Text 9"/>
          <p:cNvSpPr txBox="1"/>
          <p:nvPr/>
        </p:nvSpPr>
        <p:spPr>
          <a:xfrm>
            <a:off x="1005840" y="3813048"/>
            <a:ext cx="1965960" cy="226377"/>
          </a:xfrm>
          <a:prstGeom prst="rect">
            <a:avLst/>
          </a:prstGeom>
          <a:noFill/>
          <a:ln/>
        </p:spPr>
        <p:txBody>
          <a:bodyPr wrap="square" lIns="0" tIns="0" rIns="0" bIns="0" rtlCol="0" anchor="t"/>
          <a:lstStyle/>
          <a:p>
            <a:pPr indent="0" marL="0">
              <a:buNone/>
            </a:pPr>
            <a:r>
              <a:rPr lang="en-US" sz="1150" b="1" dirty="0">
                <a:solidFill>
                  <a:srgbClr val="4B8BBE"/>
                </a:solidFill>
                <a:latin typeface="Courier New" pitchFamily="34" charset="0"/>
                <a:ea typeface="Courier New" pitchFamily="34" charset="-122"/>
                <a:cs typeface="Courier New" pitchFamily="34" charset="-120"/>
              </a:rPr>
              <a:t>def </a:t>
            </a:r>
            <a:pPr indent="0" marL="0">
              <a:buNone/>
            </a:pPr>
            <a:r>
              <a:rPr lang="en-US" sz="1150" dirty="0">
                <a:solidFill>
                  <a:srgbClr val="58A6FF"/>
                </a:solidFill>
                <a:latin typeface="Courier New" pitchFamily="34" charset="0"/>
                <a:ea typeface="Courier New" pitchFamily="34" charset="-122"/>
                <a:cs typeface="Courier New" pitchFamily="34" charset="-120"/>
              </a:rPr>
              <a:t>display</a:t>
            </a:r>
            <a:pPr indent="0" marL="0">
              <a:buNone/>
            </a:pPr>
            <a:r>
              <a:rPr lang="en-US" sz="1150" dirty="0">
                <a:solidFill>
                  <a:srgbClr val="E6EDF3"/>
                </a:solidFill>
                <a:latin typeface="Courier New" pitchFamily="34" charset="0"/>
                <a:ea typeface="Courier New" pitchFamily="34" charset="-122"/>
                <a:cs typeface="Courier New" pitchFamily="34" charset="-120"/>
              </a:rPr>
              <a:t>(self):</a:t>
            </a:r>
            <a:endParaRPr lang="en-US" sz="1150" dirty="0"/>
          </a:p>
        </p:txBody>
      </p:sp>
      <p:sp>
        <p:nvSpPr>
          <p:cNvPr id="12" name="Text 10"/>
          <p:cNvSpPr txBox="1"/>
          <p:nvPr/>
        </p:nvSpPr>
        <p:spPr>
          <a:xfrm>
            <a:off x="1005840" y="4039426"/>
            <a:ext cx="1965960" cy="226377"/>
          </a:xfrm>
          <a:prstGeom prst="rect">
            <a:avLst/>
          </a:prstGeom>
          <a:noFill/>
          <a:ln/>
        </p:spPr>
        <p:txBody>
          <a:bodyPr wrap="square" lIns="0" tIns="0" rIns="0" bIns="0" rtlCol="0" anchor="t"/>
          <a:lstStyle/>
          <a:p>
            <a:pPr indent="0" marL="0">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p:txBody>
      </p:sp>
      <p:sp>
        <p:nvSpPr>
          <p:cNvPr id="13" name="Shape 11"/>
          <p:cNvSpPr/>
          <p:nvPr/>
        </p:nvSpPr>
        <p:spPr>
          <a:xfrm>
            <a:off x="3657600" y="1600200"/>
            <a:ext cx="2788920" cy="3246120"/>
          </a:xfrm>
          <a:prstGeom prst="roundRect">
            <a:avLst>
              <a:gd name="adj" fmla="val 2623"/>
            </a:avLst>
          </a:prstGeom>
          <a:solidFill>
            <a:srgbClr val="161B22"/>
          </a:solidFill>
          <a:ln w="12700">
            <a:solidFill>
              <a:srgbClr val="30363D"/>
            </a:solidFill>
            <a:prstDash val="solid"/>
          </a:ln>
        </p:spPr>
      </p:sp>
      <p:sp>
        <p:nvSpPr>
          <p:cNvPr id="14" name="Text 12"/>
          <p:cNvSpPr txBox="1"/>
          <p:nvPr/>
        </p:nvSpPr>
        <p:spPr>
          <a:xfrm>
            <a:off x="3840480" y="1737360"/>
            <a:ext cx="2423160" cy="320040"/>
          </a:xfrm>
          <a:prstGeom prst="rect">
            <a:avLst/>
          </a:prstGeom>
          <a:noFill/>
          <a:ln/>
        </p:spPr>
        <p:txBody>
          <a:bodyPr wrap="square" lIns="0" tIns="0" rIns="0" bIns="0" rtlCol="0" anchor="ctr"/>
          <a:lstStyle/>
          <a:p>
            <a:pPr indent="0" marL="0">
              <a:buNone/>
            </a:pPr>
            <a:r>
              <a:rPr lang="en-US" sz="1250" b="1" dirty="0">
                <a:solidFill>
                  <a:srgbClr val="FFD43B"/>
                </a:solidFill>
                <a:latin typeface="Courier New" pitchFamily="34" charset="0"/>
                <a:ea typeface="Courier New" pitchFamily="34" charset="-122"/>
                <a:cs typeface="Courier New" pitchFamily="34" charset="-120"/>
              </a:rPr>
              <a:t>CLASS METHOD</a:t>
            </a:r>
            <a:endParaRPr lang="en-US" sz="1250" dirty="0"/>
          </a:p>
        </p:txBody>
      </p:sp>
      <p:sp>
        <p:nvSpPr>
          <p:cNvPr id="15" name="Text 13"/>
          <p:cNvSpPr txBox="1"/>
          <p:nvPr/>
        </p:nvSpPr>
        <p:spPr>
          <a:xfrm>
            <a:off x="3840480" y="2148840"/>
            <a:ext cx="2423160" cy="1188720"/>
          </a:xfrm>
          <a:prstGeom prst="rect">
            <a:avLst/>
          </a:prstGeom>
          <a:noFill/>
          <a:ln/>
        </p:spPr>
        <p:txBody>
          <a:bodyPr wrap="square" lIns="0" tIns="0" rIns="0" bIns="0" rtlCol="0" anchor="ctr"/>
          <a:lstStyle/>
          <a:p>
            <a:pPr indent="0" marL="0">
              <a:lnSpc>
                <a:spcPts val="2000"/>
              </a:lnSpc>
              <a:buNone/>
            </a:pPr>
            <a:r>
              <a:rPr lang="en-US" sz="1150" dirty="0">
                <a:solidFill>
                  <a:srgbClr val="8B949E"/>
                </a:solidFill>
                <a:latin typeface="Calibri" pitchFamily="34" charset="0"/>
                <a:ea typeface="Calibri" pitchFamily="34" charset="-122"/>
                <a:cs typeface="Calibri" pitchFamily="34" charset="-120"/>
              </a:rPr>
              <a:t>Decorator:  @classmethod</a:t>
            </a:r>
            <a:endParaRPr lang="en-US" sz="1150" dirty="0"/>
          </a:p>
          <a:p>
            <a:pPr indent="0" marL="0">
              <a:lnSpc>
                <a:spcPts val="2000"/>
              </a:lnSpc>
              <a:buNone/>
            </a:pPr>
            <a:r>
              <a:rPr lang="en-US" sz="1150" dirty="0">
                <a:solidFill>
                  <a:srgbClr val="8B949E"/>
                </a:solidFill>
                <a:latin typeface="Calibri" pitchFamily="34" charset="0"/>
                <a:ea typeface="Calibri" pitchFamily="34" charset="-122"/>
                <a:cs typeface="Calibri" pitchFamily="34" charset="-120"/>
              </a:rPr>
              <a:t>First param:  cls</a:t>
            </a:r>
            <a:endParaRPr lang="en-US" sz="1150" dirty="0"/>
          </a:p>
          <a:p>
            <a:pPr indent="0" marL="0">
              <a:lnSpc>
                <a:spcPts val="2000"/>
              </a:lnSpc>
              <a:buNone/>
            </a:pPr>
            <a:r>
              <a:rPr lang="en-US" sz="1150" dirty="0">
                <a:solidFill>
                  <a:srgbClr val="8B949E"/>
                </a:solidFill>
                <a:latin typeface="Calibri" pitchFamily="34" charset="0"/>
                <a:ea typeface="Calibri" pitchFamily="34" charset="-122"/>
                <a:cs typeface="Calibri" pitchFamily="34" charset="-120"/>
              </a:rPr>
              <a:t>Works with:  the class</a:t>
            </a:r>
            <a:endParaRPr lang="en-US" sz="1150" dirty="0"/>
          </a:p>
          <a:p>
            <a:pPr indent="0" marL="0">
              <a:lnSpc>
                <a:spcPts val="2000"/>
              </a:lnSpc>
              <a:buNone/>
            </a:pPr>
            <a:r>
              <a:rPr lang="en-US" sz="1150" dirty="0">
                <a:solidFill>
                  <a:srgbClr val="8B949E"/>
                </a:solidFill>
                <a:latin typeface="Calibri" pitchFamily="34" charset="0"/>
                <a:ea typeface="Calibri" pitchFamily="34" charset="-122"/>
                <a:cs typeface="Calibri" pitchFamily="34" charset="-120"/>
              </a:rPr>
              <a:t>  itself</a:t>
            </a:r>
            <a:endParaRPr lang="en-US" sz="1150" dirty="0"/>
          </a:p>
        </p:txBody>
      </p:sp>
      <p:sp>
        <p:nvSpPr>
          <p:cNvPr id="16" name="Shape 14"/>
          <p:cNvSpPr/>
          <p:nvPr/>
        </p:nvSpPr>
        <p:spPr>
          <a:xfrm>
            <a:off x="3794760" y="3429000"/>
            <a:ext cx="2514600" cy="1417320"/>
          </a:xfrm>
          <a:prstGeom prst="roundRect">
            <a:avLst>
              <a:gd name="adj" fmla="val 5161"/>
            </a:avLst>
          </a:prstGeom>
          <a:solidFill>
            <a:srgbClr val="161B22"/>
          </a:solidFill>
          <a:ln w="12700">
            <a:solidFill>
              <a:srgbClr val="30363D"/>
            </a:solidFill>
            <a:prstDash val="solid"/>
          </a:ln>
        </p:spPr>
      </p:sp>
      <p:sp>
        <p:nvSpPr>
          <p:cNvPr id="17" name="Shape 15"/>
          <p:cNvSpPr/>
          <p:nvPr/>
        </p:nvSpPr>
        <p:spPr>
          <a:xfrm>
            <a:off x="3995928" y="3593592"/>
            <a:ext cx="100584" cy="100584"/>
          </a:xfrm>
          <a:prstGeom prst="ellipse">
            <a:avLst/>
          </a:prstGeom>
          <a:solidFill>
            <a:srgbClr val="F85149"/>
          </a:solidFill>
          <a:ln/>
        </p:spPr>
      </p:sp>
      <p:sp>
        <p:nvSpPr>
          <p:cNvPr id="18" name="Shape 16"/>
          <p:cNvSpPr/>
          <p:nvPr/>
        </p:nvSpPr>
        <p:spPr>
          <a:xfrm>
            <a:off x="4197096" y="3593592"/>
            <a:ext cx="100584" cy="100584"/>
          </a:xfrm>
          <a:prstGeom prst="ellipse">
            <a:avLst/>
          </a:prstGeom>
          <a:solidFill>
            <a:srgbClr val="FFD43B"/>
          </a:solidFill>
          <a:ln/>
        </p:spPr>
      </p:sp>
      <p:sp>
        <p:nvSpPr>
          <p:cNvPr id="19" name="Shape 17"/>
          <p:cNvSpPr/>
          <p:nvPr/>
        </p:nvSpPr>
        <p:spPr>
          <a:xfrm>
            <a:off x="4398264" y="3593592"/>
            <a:ext cx="100584" cy="100584"/>
          </a:xfrm>
          <a:prstGeom prst="ellipse">
            <a:avLst/>
          </a:prstGeom>
          <a:solidFill>
            <a:srgbClr val="3FB950"/>
          </a:solidFill>
          <a:ln/>
        </p:spPr>
      </p:sp>
      <p:sp>
        <p:nvSpPr>
          <p:cNvPr id="20" name="Text 18"/>
          <p:cNvSpPr txBox="1"/>
          <p:nvPr/>
        </p:nvSpPr>
        <p:spPr>
          <a:xfrm>
            <a:off x="4114800" y="3813048"/>
            <a:ext cx="1965960" cy="206693"/>
          </a:xfrm>
          <a:prstGeom prst="rect">
            <a:avLst/>
          </a:prstGeom>
          <a:noFill/>
          <a:ln/>
        </p:spPr>
        <p:txBody>
          <a:bodyPr wrap="square" lIns="0" tIns="0" rIns="0" bIns="0" rtlCol="0" anchor="t"/>
          <a:lstStyle/>
          <a:p>
            <a:pPr indent="0" marL="0">
              <a:buNone/>
            </a:pPr>
            <a:r>
              <a:rPr lang="en-US" sz="1050" b="1" dirty="0">
                <a:solidFill>
                  <a:srgbClr val="BC8CFF"/>
                </a:solidFill>
                <a:latin typeface="Courier New" pitchFamily="34" charset="0"/>
                <a:ea typeface="Courier New" pitchFamily="34" charset="-122"/>
                <a:cs typeface="Courier New" pitchFamily="34" charset="-120"/>
              </a:rPr>
              <a:t>@classmethod</a:t>
            </a:r>
            <a:endParaRPr lang="en-US" sz="1050" dirty="0"/>
          </a:p>
        </p:txBody>
      </p:sp>
      <p:sp>
        <p:nvSpPr>
          <p:cNvPr id="21" name="Text 19"/>
          <p:cNvSpPr txBox="1"/>
          <p:nvPr/>
        </p:nvSpPr>
        <p:spPr>
          <a:xfrm>
            <a:off x="4114800" y="4019741"/>
            <a:ext cx="1965960" cy="206693"/>
          </a:xfrm>
          <a:prstGeom prst="rect">
            <a:avLst/>
          </a:prstGeom>
          <a:noFill/>
          <a:ln/>
        </p:spPr>
        <p:txBody>
          <a:bodyPr wrap="square" lIns="0" tIns="0" rIns="0" bIns="0" rtlCol="0" anchor="t"/>
          <a:lstStyle/>
          <a:p>
            <a:pPr indent="0" marL="0">
              <a:buNone/>
            </a:pPr>
            <a:r>
              <a:rPr lang="en-US" sz="1050" b="1" dirty="0">
                <a:solidFill>
                  <a:srgbClr val="4B8BBE"/>
                </a:solidFill>
                <a:latin typeface="Courier New" pitchFamily="34" charset="0"/>
                <a:ea typeface="Courier New" pitchFamily="34" charset="-122"/>
                <a:cs typeface="Courier New" pitchFamily="34" charset="-120"/>
              </a:rPr>
              <a:t>def </a:t>
            </a:r>
            <a:pPr indent="0" marL="0">
              <a:buNone/>
            </a:pPr>
            <a:r>
              <a:rPr lang="en-US" sz="1050" dirty="0">
                <a:solidFill>
                  <a:srgbClr val="58A6FF"/>
                </a:solidFill>
                <a:latin typeface="Courier New" pitchFamily="34" charset="0"/>
                <a:ea typeface="Courier New" pitchFamily="34" charset="-122"/>
                <a:cs typeface="Courier New" pitchFamily="34" charset="-120"/>
              </a:rPr>
              <a:t>change_college</a:t>
            </a:r>
            <a:pPr indent="0" marL="0">
              <a:buNone/>
            </a:pPr>
            <a:r>
              <a:rPr lang="en-US" sz="1050" dirty="0">
                <a:solidFill>
                  <a:srgbClr val="E6EDF3"/>
                </a:solidFill>
                <a:latin typeface="Courier New" pitchFamily="34" charset="0"/>
                <a:ea typeface="Courier New" pitchFamily="34" charset="-122"/>
                <a:cs typeface="Courier New" pitchFamily="34" charset="-120"/>
              </a:rPr>
              <a:t>(cls,</a:t>
            </a:r>
            <a:endParaRPr lang="en-US" sz="1050" dirty="0"/>
          </a:p>
        </p:txBody>
      </p:sp>
      <p:sp>
        <p:nvSpPr>
          <p:cNvPr id="22" name="Text 20"/>
          <p:cNvSpPr txBox="1"/>
          <p:nvPr/>
        </p:nvSpPr>
        <p:spPr>
          <a:xfrm>
            <a:off x="4114800" y="4226433"/>
            <a:ext cx="1965960" cy="206693"/>
          </a:xfrm>
          <a:prstGeom prst="rect">
            <a:avLst/>
          </a:prstGeom>
          <a:noFill/>
          <a:ln/>
        </p:spPr>
        <p:txBody>
          <a:bodyPr wrap="square" lIns="0" tIns="0" rIns="0" bIns="0" rtlCol="0" anchor="t"/>
          <a:lstStyle/>
          <a:p>
            <a:pPr indent="0" marL="0">
              <a:buNone/>
            </a:pPr>
            <a:r>
              <a:rPr lang="en-US" sz="1050" dirty="0">
                <a:solidFill>
                  <a:srgbClr val="E6EDF3"/>
                </a:solidFill>
                <a:latin typeface="Courier New" pitchFamily="34" charset="0"/>
                <a:ea typeface="Courier New" pitchFamily="34" charset="-122"/>
                <a:cs typeface="Courier New" pitchFamily="34" charset="-120"/>
              </a:rPr>
              <a:t>             new_name):</a:t>
            </a:r>
            <a:endParaRPr lang="en-US" sz="1050" dirty="0"/>
          </a:p>
        </p:txBody>
      </p:sp>
      <p:sp>
        <p:nvSpPr>
          <p:cNvPr id="23" name="Shape 21"/>
          <p:cNvSpPr/>
          <p:nvPr/>
        </p:nvSpPr>
        <p:spPr>
          <a:xfrm>
            <a:off x="6903720" y="1600200"/>
            <a:ext cx="4739335" cy="1463040"/>
          </a:xfrm>
          <a:prstGeom prst="roundRect">
            <a:avLst>
              <a:gd name="adj" fmla="val 5000"/>
            </a:avLst>
          </a:prstGeom>
          <a:solidFill>
            <a:srgbClr val="1C2129"/>
          </a:solidFill>
          <a:ln w="12700">
            <a:solidFill>
              <a:srgbClr val="30363D"/>
            </a:solidFill>
            <a:prstDash val="solid"/>
          </a:ln>
        </p:spPr>
      </p:sp>
      <p:sp>
        <p:nvSpPr>
          <p:cNvPr id="24" name="Text 22"/>
          <p:cNvSpPr txBox="1"/>
          <p:nvPr/>
        </p:nvSpPr>
        <p:spPr>
          <a:xfrm>
            <a:off x="7086600" y="1783080"/>
            <a:ext cx="4373575" cy="365760"/>
          </a:xfrm>
          <a:prstGeom prst="rect">
            <a:avLst/>
          </a:prstGeom>
          <a:noFill/>
          <a:ln/>
        </p:spPr>
        <p:txBody>
          <a:bodyPr wrap="square" lIns="0" tIns="0" rIns="0" bIns="0" rtlCol="0" anchor="ctr"/>
          <a:lstStyle/>
          <a:p>
            <a:pPr indent="0" marL="0">
              <a:buNone/>
            </a:pPr>
            <a:r>
              <a:rPr lang="en-US" sz="1600" b="1" dirty="0">
                <a:solidFill>
                  <a:srgbClr val="58A6FF"/>
                </a:solidFill>
                <a:latin typeface="Courier New" pitchFamily="34" charset="0"/>
                <a:ea typeface="Courier New" pitchFamily="34" charset="-122"/>
                <a:cs typeface="Courier New" pitchFamily="34" charset="-120"/>
              </a:rPr>
              <a:t>self</a:t>
            </a:r>
            <a:pPr indent="0" marL="0">
              <a:buNone/>
            </a:pPr>
            <a:r>
              <a:rPr lang="en-US" sz="1300" dirty="0">
                <a:solidFill>
                  <a:srgbClr val="E6EDF3"/>
                </a:solidFill>
                <a:latin typeface="Courier New" pitchFamily="34" charset="0"/>
                <a:ea typeface="Courier New" pitchFamily="34" charset="-122"/>
                <a:cs typeface="Courier New" pitchFamily="34" charset="-120"/>
              </a:rPr>
              <a:t>  →  current object</a:t>
            </a:r>
            <a:endParaRPr lang="en-US" sz="1600" dirty="0"/>
          </a:p>
        </p:txBody>
      </p:sp>
      <p:sp>
        <p:nvSpPr>
          <p:cNvPr id="25" name="Text 23"/>
          <p:cNvSpPr txBox="1"/>
          <p:nvPr/>
        </p:nvSpPr>
        <p:spPr>
          <a:xfrm>
            <a:off x="7086600" y="2331720"/>
            <a:ext cx="4373575" cy="365760"/>
          </a:xfrm>
          <a:prstGeom prst="rect">
            <a:avLst/>
          </a:prstGeom>
          <a:noFill/>
          <a:ln/>
        </p:spPr>
        <p:txBody>
          <a:bodyPr wrap="square" lIns="0" tIns="0" rIns="0" bIns="0" rtlCol="0" anchor="ctr"/>
          <a:lstStyle/>
          <a:p>
            <a:pPr indent="0" marL="0">
              <a:buNone/>
            </a:pPr>
            <a:r>
              <a:rPr lang="en-US" sz="1600" b="1" dirty="0">
                <a:solidFill>
                  <a:srgbClr val="FFD43B"/>
                </a:solidFill>
                <a:latin typeface="Courier New" pitchFamily="34" charset="0"/>
                <a:ea typeface="Courier New" pitchFamily="34" charset="-122"/>
                <a:cs typeface="Courier New" pitchFamily="34" charset="-120"/>
              </a:rPr>
              <a:t>cls</a:t>
            </a:r>
            <a:pPr indent="0" marL="0">
              <a:buNone/>
            </a:pPr>
            <a:r>
              <a:rPr lang="en-US" sz="1300" dirty="0">
                <a:solidFill>
                  <a:srgbClr val="E6EDF3"/>
                </a:solidFill>
                <a:latin typeface="Courier New" pitchFamily="34" charset="0"/>
                <a:ea typeface="Courier New" pitchFamily="34" charset="-122"/>
                <a:cs typeface="Courier New" pitchFamily="34" charset="-120"/>
              </a:rPr>
              <a:t>  →  current class</a:t>
            </a:r>
            <a:endParaRPr lang="en-US" sz="1600" dirty="0"/>
          </a:p>
        </p:txBody>
      </p:sp>
      <p:sp>
        <p:nvSpPr>
          <p:cNvPr id="26" name="Text 24"/>
          <p:cNvSpPr txBox="1"/>
          <p:nvPr/>
        </p:nvSpPr>
        <p:spPr>
          <a:xfrm>
            <a:off x="7086600" y="2743200"/>
            <a:ext cx="4373575" cy="457200"/>
          </a:xfrm>
          <a:prstGeom prst="rect">
            <a:avLst/>
          </a:prstGeom>
          <a:noFill/>
          <a:ln/>
        </p:spPr>
        <p:txBody>
          <a:bodyPr wrap="square" lIns="0" tIns="0" rIns="0" bIns="0"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Both are passed in automatically — never written at the call site.</a:t>
            </a:r>
            <a:endParaRPr lang="en-US" sz="1100" dirty="0"/>
          </a:p>
        </p:txBody>
      </p:sp>
      <p:sp>
        <p:nvSpPr>
          <p:cNvPr id="27" name="Shape 25"/>
          <p:cNvSpPr/>
          <p:nvPr/>
        </p:nvSpPr>
        <p:spPr>
          <a:xfrm>
            <a:off x="6903720" y="3337560"/>
            <a:ext cx="4739335" cy="1325880"/>
          </a:xfrm>
          <a:prstGeom prst="roundRect">
            <a:avLst>
              <a:gd name="adj" fmla="val 5517"/>
            </a:avLst>
          </a:prstGeom>
          <a:solidFill>
            <a:srgbClr val="161B22"/>
          </a:solidFill>
          <a:ln w="12700">
            <a:solidFill>
              <a:srgbClr val="30363D"/>
            </a:solidFill>
            <a:prstDash val="solid"/>
          </a:ln>
        </p:spPr>
      </p:sp>
      <p:sp>
        <p:nvSpPr>
          <p:cNvPr id="28" name="Shape 26"/>
          <p:cNvSpPr/>
          <p:nvPr/>
        </p:nvSpPr>
        <p:spPr>
          <a:xfrm>
            <a:off x="7104888" y="3502152"/>
            <a:ext cx="100584" cy="100584"/>
          </a:xfrm>
          <a:prstGeom prst="ellipse">
            <a:avLst/>
          </a:prstGeom>
          <a:solidFill>
            <a:srgbClr val="F85149"/>
          </a:solidFill>
          <a:ln/>
        </p:spPr>
      </p:sp>
      <p:sp>
        <p:nvSpPr>
          <p:cNvPr id="29" name="Shape 27"/>
          <p:cNvSpPr/>
          <p:nvPr/>
        </p:nvSpPr>
        <p:spPr>
          <a:xfrm>
            <a:off x="7306056" y="3502152"/>
            <a:ext cx="100584" cy="100584"/>
          </a:xfrm>
          <a:prstGeom prst="ellipse">
            <a:avLst/>
          </a:prstGeom>
          <a:solidFill>
            <a:srgbClr val="FFD43B"/>
          </a:solidFill>
          <a:ln/>
        </p:spPr>
      </p:sp>
      <p:sp>
        <p:nvSpPr>
          <p:cNvPr id="30" name="Shape 28"/>
          <p:cNvSpPr/>
          <p:nvPr/>
        </p:nvSpPr>
        <p:spPr>
          <a:xfrm>
            <a:off x="7507224" y="3502152"/>
            <a:ext cx="100584" cy="100584"/>
          </a:xfrm>
          <a:prstGeom prst="ellipse">
            <a:avLst/>
          </a:prstGeom>
          <a:solidFill>
            <a:srgbClr val="3FB950"/>
          </a:solidFill>
          <a:ln/>
        </p:spPr>
      </p:sp>
      <p:sp>
        <p:nvSpPr>
          <p:cNvPr id="31" name="Text 29"/>
          <p:cNvSpPr txBox="1"/>
          <p:nvPr/>
        </p:nvSpPr>
        <p:spPr>
          <a:xfrm>
            <a:off x="7223760" y="3721608"/>
            <a:ext cx="4190695" cy="246063"/>
          </a:xfrm>
          <a:prstGeom prst="rect">
            <a:avLst/>
          </a:prstGeom>
          <a:noFill/>
          <a:ln/>
        </p:spPr>
        <p:txBody>
          <a:bodyPr wrap="square" lIns="0" tIns="0" rIns="0" bIns="0" rtlCol="0" anchor="t"/>
          <a:lstStyle/>
          <a:p>
            <a:pPr indent="0" marL="0">
              <a:buNone/>
            </a:pPr>
            <a:r>
              <a:rPr lang="en-US" sz="1250" dirty="0">
                <a:solidFill>
                  <a:srgbClr val="58A6FF"/>
                </a:solidFill>
                <a:latin typeface="Courier New" pitchFamily="34" charset="0"/>
                <a:ea typeface="Courier New" pitchFamily="34" charset="-122"/>
                <a:cs typeface="Courier New" pitchFamily="34" charset="-120"/>
              </a:rPr>
              <a:t>Student</a:t>
            </a:r>
            <a:pPr indent="0" marL="0">
              <a:buNone/>
            </a:pPr>
            <a:r>
              <a:rPr lang="en-US" sz="1250" dirty="0">
                <a:solidFill>
                  <a:srgbClr val="E6EDF3"/>
                </a:solidFill>
                <a:latin typeface="Courier New" pitchFamily="34" charset="0"/>
                <a:ea typeface="Courier New" pitchFamily="34" charset="-122"/>
                <a:cs typeface="Courier New" pitchFamily="34" charset="-120"/>
              </a:rPr>
              <a:t>.change_college(</a:t>
            </a:r>
            <a:endParaRPr lang="en-US" sz="1250" dirty="0"/>
          </a:p>
        </p:txBody>
      </p:sp>
      <p:sp>
        <p:nvSpPr>
          <p:cNvPr id="32" name="Text 30"/>
          <p:cNvSpPr txBox="1"/>
          <p:nvPr/>
        </p:nvSpPr>
        <p:spPr>
          <a:xfrm>
            <a:off x="7223760" y="3967671"/>
            <a:ext cx="4190695" cy="246063"/>
          </a:xfrm>
          <a:prstGeom prst="rect">
            <a:avLst/>
          </a:prstGeom>
          <a:noFill/>
          <a:ln/>
        </p:spPr>
        <p:txBody>
          <a:bodyPr wrap="square" lIns="0" tIns="0" rIns="0" bIns="0" rtlCol="0" anchor="t"/>
          <a:lstStyle/>
          <a:p>
            <a:pPr indent="0" marL="0">
              <a:buNone/>
            </a:pPr>
            <a:r>
              <a:rPr lang="en-US" sz="1250" dirty="0">
                <a:solidFill>
                  <a:srgbClr val="E6EDF3"/>
                </a:solidFill>
                <a:latin typeface="Courier New" pitchFamily="34" charset="0"/>
                <a:ea typeface="Courier New" pitchFamily="34" charset="-122"/>
                <a:cs typeface="Courier New" pitchFamily="34" charset="-120"/>
              </a:rPr>
              <a:t>    </a:t>
            </a:r>
            <a:pPr indent="0" marL="0">
              <a:buNone/>
            </a:pPr>
            <a:r>
              <a:rPr lang="en-US" sz="1250" dirty="0">
                <a:solidFill>
                  <a:srgbClr val="3FB950"/>
                </a:solidFill>
                <a:latin typeface="Courier New" pitchFamily="34" charset="0"/>
                <a:ea typeface="Courier New" pitchFamily="34" charset="-122"/>
                <a:cs typeface="Courier New" pitchFamily="34" charset="-120"/>
              </a:rPr>
              <a:t>"ABC College"</a:t>
            </a:r>
            <a:endParaRPr lang="en-US" sz="1250" dirty="0"/>
          </a:p>
        </p:txBody>
      </p:sp>
      <p:sp>
        <p:nvSpPr>
          <p:cNvPr id="33" name="Text 31"/>
          <p:cNvSpPr txBox="1"/>
          <p:nvPr/>
        </p:nvSpPr>
        <p:spPr>
          <a:xfrm>
            <a:off x="7223760" y="4213733"/>
            <a:ext cx="4190695" cy="246063"/>
          </a:xfrm>
          <a:prstGeom prst="rect">
            <a:avLst/>
          </a:prstGeom>
          <a:noFill/>
          <a:ln/>
        </p:spPr>
        <p:txBody>
          <a:bodyPr wrap="square" lIns="0" tIns="0" rIns="0" bIns="0" rtlCol="0" anchor="t"/>
          <a:lstStyle/>
          <a:p>
            <a:pPr indent="0" marL="0">
              <a:buNone/>
            </a:pPr>
            <a:r>
              <a:rPr lang="en-US" sz="1250" dirty="0">
                <a:solidFill>
                  <a:srgbClr val="E6EDF3"/>
                </a:solidFill>
                <a:latin typeface="Courier New" pitchFamily="34" charset="0"/>
                <a:ea typeface="Courier New" pitchFamily="34" charset="-122"/>
                <a:cs typeface="Courier New" pitchFamily="34" charset="-120"/>
              </a:rPr>
              <a:t>)</a:t>
            </a:r>
            <a:endParaRPr lang="en-US" sz="1250" dirty="0"/>
          </a:p>
        </p:txBody>
      </p:sp>
      <p:sp>
        <p:nvSpPr>
          <p:cNvPr id="34" name="Text 32"/>
          <p:cNvSpPr txBox="1"/>
          <p:nvPr/>
        </p:nvSpPr>
        <p:spPr>
          <a:xfrm>
            <a:off x="548640" y="5074920"/>
            <a:ext cx="11094415" cy="365760"/>
          </a:xfrm>
          <a:prstGeom prst="rect">
            <a:avLst/>
          </a:prstGeom>
          <a:noFill/>
          <a:ln/>
        </p:spPr>
        <p:txBody>
          <a:bodyPr wrap="square" lIns="0" tIns="0" rIns="0" bIns="0" rtlCol="0" anchor="ctr"/>
          <a:lstStyle/>
          <a:p>
            <a:pPr indent="0" marL="0">
              <a:buNone/>
            </a:pPr>
            <a:r>
              <a:rPr lang="en-US" sz="1250" i="1" dirty="0">
                <a:solidFill>
                  <a:srgbClr val="8B949E"/>
                </a:solidFill>
                <a:latin typeface="Calibri" pitchFamily="34" charset="0"/>
                <a:ea typeface="Calibri" pitchFamily="34" charset="-122"/>
                <a:cs typeface="Calibri" pitchFamily="34" charset="-120"/>
              </a:rPr>
              <a:t>Useful when the operation concerns class-level data, not one object's state.</a:t>
            </a:r>
            <a:endParaRPr lang="en-US" sz="1250" dirty="0"/>
          </a:p>
        </p:txBody>
      </p:sp>
      <p:sp>
        <p:nvSpPr>
          <p:cNvPr id="35" name="Text 33"/>
          <p:cNvSpPr txBox="1"/>
          <p:nvPr/>
        </p:nvSpPr>
        <p:spPr>
          <a:xfrm>
            <a:off x="10728655" y="502920"/>
            <a:ext cx="914400" cy="274320"/>
          </a:xfrm>
          <a:prstGeom prst="rect">
            <a:avLst/>
          </a:prstGeom>
          <a:noFill/>
          <a:ln/>
        </p:spPr>
        <p:txBody>
          <a:bodyPr wrap="square" lIns="0" tIns="0" rIns="0" bIns="0" rtlCol="0" anchor="ctr"/>
          <a:lstStyle/>
          <a:p>
            <a:pPr algn="r" indent="0" marL="0">
              <a:buNone/>
            </a:pPr>
            <a:r>
              <a:rPr lang="en-US" sz="900" dirty="0">
                <a:solidFill>
                  <a:srgbClr val="6E7681"/>
                </a:solidFill>
                <a:latin typeface="Courier New" pitchFamily="34" charset="0"/>
                <a:ea typeface="Courier New" pitchFamily="34" charset="-122"/>
                <a:cs typeface="Courier New" pitchFamily="34" charset="-120"/>
              </a:rPr>
              <a:t>10 / 14</a:t>
            </a:r>
            <a:endParaRPr lang="en-US" sz="900" dirty="0"/>
          </a:p>
        </p:txBody>
      </p:sp>
      <p:sp>
        <p:nvSpPr>
          <p:cNvPr id="36" name="Shape 34"/>
          <p:cNvSpPr/>
          <p:nvPr/>
        </p:nvSpPr>
        <p:spPr>
          <a:xfrm>
            <a:off x="9357055" y="6291072"/>
            <a:ext cx="2286000" cy="365760"/>
          </a:xfrm>
          <a:prstGeom prst="roundRect">
            <a:avLst>
              <a:gd name="adj" fmla="val 15000"/>
            </a:avLst>
          </a:prstGeom>
          <a:solidFill>
            <a:srgbClr val="1C2129"/>
          </a:solidFill>
          <a:ln w="9525">
            <a:solidFill>
              <a:srgbClr val="30363D"/>
            </a:solidFill>
            <a:prstDash val="solid"/>
          </a:ln>
        </p:spPr>
      </p:sp>
      <p:sp>
        <p:nvSpPr>
          <p:cNvPr id="37" name="Text 35"/>
          <p:cNvSpPr txBox="1"/>
          <p:nvPr/>
        </p:nvSpPr>
        <p:spPr>
          <a:xfrm>
            <a:off x="9357055" y="6291072"/>
            <a:ext cx="2286000" cy="365760"/>
          </a:xfrm>
          <a:prstGeom prst="rect">
            <a:avLst/>
          </a:prstGeom>
          <a:noFill/>
          <a:ln/>
        </p:spPr>
        <p:txBody>
          <a:bodyPr wrap="square" lIns="0" tIns="0" rIns="0" bIns="0" rtlCol="0" anchor="ctr"/>
          <a:lstStyle/>
          <a:p>
            <a:pPr algn="ctr" indent="0" marL="0">
              <a:buNone/>
            </a:pPr>
            <a:r>
              <a:rPr lang="en-US" sz="1000" dirty="0">
                <a:solidFill>
                  <a:srgbClr val="3FB950"/>
                </a:solidFill>
                <a:latin typeface="Courier New" pitchFamily="34" charset="0"/>
                <a:ea typeface="Courier New" pitchFamily="34" charset="-122"/>
                <a:cs typeface="Courier New" pitchFamily="34" charset="-120"/>
              </a:rPr>
              <a:t>▶ </a:t>
            </a:r>
            <a:pPr algn="ctr" indent="0" marL="0">
              <a:buNone/>
            </a:pPr>
            <a:r>
              <a:rPr lang="en-US" sz="1000" dirty="0">
                <a:solidFill>
                  <a:srgbClr val="8B949E"/>
                </a:solidFill>
                <a:latin typeface="Courier New" pitchFamily="34" charset="0"/>
                <a:ea typeface="Courier New" pitchFamily="34" charset="-122"/>
                <a:cs typeface="Courier New" pitchFamily="34" charset="-120"/>
              </a:rPr>
              <a:t>08_class_methods.py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B8BBE"/>
                </a:solidFill>
                <a:latin typeface="Courier New" pitchFamily="34" charset="0"/>
                <a:ea typeface="Courier New" pitchFamily="34" charset="-122"/>
                <a:cs typeface="Courier New" pitchFamily="34" charset="-120"/>
              </a:rPr>
              <a:t>10 · BEHAVIOR, CONTINUED</a:t>
            </a:r>
            <a:endParaRPr lang="en-US" sz="1200" dirty="0"/>
          </a:p>
        </p:txBody>
      </p:sp>
      <p:sp>
        <p:nvSpPr>
          <p:cNvPr id="3" name="Text 1"/>
          <p:cNvSpPr txBox="1"/>
          <p:nvPr/>
        </p:nvSpPr>
        <p:spPr>
          <a:xfrm>
            <a:off x="548640" y="777240"/>
            <a:ext cx="11094415" cy="822960"/>
          </a:xfrm>
          <a:prstGeom prst="rect">
            <a:avLst/>
          </a:prstGeom>
          <a:noFill/>
          <a:ln/>
        </p:spPr>
        <p:txBody>
          <a:bodyPr wrap="square" lIns="0" tIns="0" rIns="0" bIns="0" rtlCol="0" anchor="ctr"/>
          <a:lstStyle/>
          <a:p>
            <a:pPr indent="0" marL="0">
              <a:buNone/>
            </a:pPr>
            <a:r>
              <a:rPr lang="en-US" sz="3200" b="1" dirty="0">
                <a:solidFill>
                  <a:srgbClr val="E6EDF3"/>
                </a:solidFill>
                <a:latin typeface="Consolas" pitchFamily="34" charset="0"/>
                <a:ea typeface="Consolas" pitchFamily="34" charset="-122"/>
                <a:cs typeface="Consolas" pitchFamily="34" charset="-120"/>
              </a:rPr>
              <a:t>Static Methods — No self, No cls</a:t>
            </a:r>
            <a:endParaRPr lang="en-US" sz="3200" dirty="0"/>
          </a:p>
        </p:txBody>
      </p:sp>
      <p:sp>
        <p:nvSpPr>
          <p:cNvPr id="4" name="Shape 2"/>
          <p:cNvSpPr/>
          <p:nvPr/>
        </p:nvSpPr>
        <p:spPr>
          <a:xfrm>
            <a:off x="548640" y="1600200"/>
            <a:ext cx="5394960" cy="1417320"/>
          </a:xfrm>
          <a:prstGeom prst="roundRect">
            <a:avLst>
              <a:gd name="adj" fmla="val 5161"/>
            </a:avLst>
          </a:prstGeom>
          <a:solidFill>
            <a:srgbClr val="161B22"/>
          </a:solidFill>
          <a:ln w="12700">
            <a:solidFill>
              <a:srgbClr val="30363D"/>
            </a:solidFill>
            <a:prstDash val="solid"/>
          </a:ln>
        </p:spPr>
      </p:sp>
      <p:sp>
        <p:nvSpPr>
          <p:cNvPr id="5" name="Shape 3"/>
          <p:cNvSpPr/>
          <p:nvPr/>
        </p:nvSpPr>
        <p:spPr>
          <a:xfrm>
            <a:off x="749808" y="1764792"/>
            <a:ext cx="100584" cy="100584"/>
          </a:xfrm>
          <a:prstGeom prst="ellipse">
            <a:avLst/>
          </a:prstGeom>
          <a:solidFill>
            <a:srgbClr val="F85149"/>
          </a:solidFill>
          <a:ln/>
        </p:spPr>
      </p:sp>
      <p:sp>
        <p:nvSpPr>
          <p:cNvPr id="6" name="Shape 4"/>
          <p:cNvSpPr/>
          <p:nvPr/>
        </p:nvSpPr>
        <p:spPr>
          <a:xfrm>
            <a:off x="950976" y="1764792"/>
            <a:ext cx="100584" cy="100584"/>
          </a:xfrm>
          <a:prstGeom prst="ellipse">
            <a:avLst/>
          </a:prstGeom>
          <a:solidFill>
            <a:srgbClr val="FFD43B"/>
          </a:solidFill>
          <a:ln/>
        </p:spPr>
      </p:sp>
      <p:sp>
        <p:nvSpPr>
          <p:cNvPr id="7" name="Shape 5"/>
          <p:cNvSpPr/>
          <p:nvPr/>
        </p:nvSpPr>
        <p:spPr>
          <a:xfrm>
            <a:off x="1152144" y="1764792"/>
            <a:ext cx="100584" cy="100584"/>
          </a:xfrm>
          <a:prstGeom prst="ellipse">
            <a:avLst/>
          </a:prstGeom>
          <a:solidFill>
            <a:srgbClr val="3FB950"/>
          </a:solidFill>
          <a:ln/>
        </p:spPr>
      </p:sp>
      <p:sp>
        <p:nvSpPr>
          <p:cNvPr id="8" name="Text 6"/>
          <p:cNvSpPr txBox="1"/>
          <p:nvPr/>
        </p:nvSpPr>
        <p:spPr>
          <a:xfrm>
            <a:off x="868680" y="1984248"/>
            <a:ext cx="4846320" cy="295275"/>
          </a:xfrm>
          <a:prstGeom prst="rect">
            <a:avLst/>
          </a:prstGeom>
          <a:noFill/>
          <a:ln/>
        </p:spPr>
        <p:txBody>
          <a:bodyPr wrap="square" lIns="0" tIns="0" rIns="0" bIns="0" rtlCol="0" anchor="t"/>
          <a:lstStyle/>
          <a:p>
            <a:pPr indent="0" marL="0">
              <a:buNone/>
            </a:pPr>
            <a:r>
              <a:rPr lang="en-US" sz="1500" b="1" dirty="0">
                <a:solidFill>
                  <a:srgbClr val="BC8CFF"/>
                </a:solidFill>
                <a:latin typeface="Courier New" pitchFamily="34" charset="0"/>
                <a:ea typeface="Courier New" pitchFamily="34" charset="-122"/>
                <a:cs typeface="Courier New" pitchFamily="34" charset="-120"/>
              </a:rPr>
              <a:t>@staticmethod</a:t>
            </a:r>
            <a:endParaRPr lang="en-US" sz="1500" dirty="0"/>
          </a:p>
        </p:txBody>
      </p:sp>
      <p:sp>
        <p:nvSpPr>
          <p:cNvPr id="9" name="Text 7"/>
          <p:cNvSpPr txBox="1"/>
          <p:nvPr/>
        </p:nvSpPr>
        <p:spPr>
          <a:xfrm>
            <a:off x="868680" y="2279523"/>
            <a:ext cx="4846320" cy="295275"/>
          </a:xfrm>
          <a:prstGeom prst="rect">
            <a:avLst/>
          </a:prstGeom>
          <a:noFill/>
          <a:ln/>
        </p:spPr>
        <p:txBody>
          <a:bodyPr wrap="square" lIns="0" tIns="0" rIns="0" bIns="0" rtlCol="0" anchor="t"/>
          <a:lstStyle/>
          <a:p>
            <a:pPr indent="0" marL="0">
              <a:buNone/>
            </a:pPr>
            <a:r>
              <a:rPr lang="en-US" sz="1500" b="1" dirty="0">
                <a:solidFill>
                  <a:srgbClr val="4B8BBE"/>
                </a:solidFill>
                <a:latin typeface="Courier New" pitchFamily="34" charset="0"/>
                <a:ea typeface="Courier New" pitchFamily="34" charset="-122"/>
                <a:cs typeface="Courier New" pitchFamily="34" charset="-120"/>
              </a:rPr>
              <a:t>def </a:t>
            </a:r>
            <a:pPr indent="0" marL="0">
              <a:buNone/>
            </a:pPr>
            <a:r>
              <a:rPr lang="en-US" sz="1500" dirty="0">
                <a:solidFill>
                  <a:srgbClr val="58A6FF"/>
                </a:solidFill>
                <a:latin typeface="Courier New" pitchFamily="34" charset="0"/>
                <a:ea typeface="Courier New" pitchFamily="34" charset="-122"/>
                <a:cs typeface="Courier New" pitchFamily="34" charset="-120"/>
              </a:rPr>
              <a:t>is_valid_age</a:t>
            </a:r>
            <a:pPr indent="0" marL="0">
              <a:buNone/>
            </a:pPr>
            <a:r>
              <a:rPr lang="en-US" sz="1500" dirty="0">
                <a:solidFill>
                  <a:srgbClr val="E6EDF3"/>
                </a:solidFill>
                <a:latin typeface="Courier New" pitchFamily="34" charset="0"/>
                <a:ea typeface="Courier New" pitchFamily="34" charset="-122"/>
                <a:cs typeface="Courier New" pitchFamily="34" charset="-120"/>
              </a:rPr>
              <a:t>(age):</a:t>
            </a:r>
            <a:endParaRPr lang="en-US" sz="1500" dirty="0"/>
          </a:p>
        </p:txBody>
      </p:sp>
      <p:sp>
        <p:nvSpPr>
          <p:cNvPr id="10" name="Text 8"/>
          <p:cNvSpPr txBox="1"/>
          <p:nvPr/>
        </p:nvSpPr>
        <p:spPr>
          <a:xfrm>
            <a:off x="868680" y="2574798"/>
            <a:ext cx="4846320" cy="295275"/>
          </a:xfrm>
          <a:prstGeom prst="rect">
            <a:avLst/>
          </a:prstGeom>
          <a:noFill/>
          <a:ln/>
        </p:spPr>
        <p:txBody>
          <a:bodyPr wrap="square" lIns="0" tIns="0" rIns="0" bIns="0" rtlCol="0" anchor="t"/>
          <a:lstStyle/>
          <a:p>
            <a:pPr indent="0" marL="0">
              <a:buNone/>
            </a:pPr>
            <a:r>
              <a:rPr lang="en-US" sz="1500" dirty="0">
                <a:solidFill>
                  <a:srgbClr val="E6EDF3"/>
                </a:solidFill>
                <a:latin typeface="Courier New" pitchFamily="34" charset="0"/>
                <a:ea typeface="Courier New" pitchFamily="34" charset="-122"/>
                <a:cs typeface="Courier New" pitchFamily="34" charset="-120"/>
              </a:rPr>
              <a:t>    </a:t>
            </a:r>
            <a:pPr indent="0" marL="0">
              <a:buNone/>
            </a:pPr>
            <a:r>
              <a:rPr lang="en-US" sz="1500" b="1" dirty="0">
                <a:solidFill>
                  <a:srgbClr val="4B8BBE"/>
                </a:solidFill>
                <a:latin typeface="Courier New" pitchFamily="34" charset="0"/>
                <a:ea typeface="Courier New" pitchFamily="34" charset="-122"/>
                <a:cs typeface="Courier New" pitchFamily="34" charset="-120"/>
              </a:rPr>
              <a:t>return</a:t>
            </a:r>
            <a:pPr indent="0" marL="0">
              <a:buNone/>
            </a:pPr>
            <a:r>
              <a:rPr lang="en-US" sz="1500" dirty="0">
                <a:solidFill>
                  <a:srgbClr val="E6EDF3"/>
                </a:solidFill>
                <a:latin typeface="Courier New" pitchFamily="34" charset="0"/>
                <a:ea typeface="Courier New" pitchFamily="34" charset="-122"/>
                <a:cs typeface="Courier New" pitchFamily="34" charset="-120"/>
              </a:rPr>
              <a:t> 16 &lt;= age &lt;= 60</a:t>
            </a:r>
            <a:endParaRPr lang="en-US" sz="1500" dirty="0"/>
          </a:p>
        </p:txBody>
      </p:sp>
      <p:sp>
        <p:nvSpPr>
          <p:cNvPr id="11" name="Text 9"/>
          <p:cNvSpPr txBox="1"/>
          <p:nvPr/>
        </p:nvSpPr>
        <p:spPr>
          <a:xfrm>
            <a:off x="548640" y="3246120"/>
            <a:ext cx="5394960" cy="960120"/>
          </a:xfrm>
          <a:prstGeom prst="rect">
            <a:avLst/>
          </a:prstGeom>
          <a:noFill/>
          <a:ln/>
        </p:spPr>
        <p:txBody>
          <a:bodyPr wrap="square" lIns="0" tIns="0" rIns="0" bIns="0" rtlCol="0" anchor="ctr"/>
          <a:lstStyle/>
          <a:p>
            <a:pPr indent="0" marL="0">
              <a:buNone/>
            </a:pPr>
            <a:r>
              <a:rPr lang="en-US" sz="1350" dirty="0">
                <a:solidFill>
                  <a:srgbClr val="E6EDF3"/>
                </a:solidFill>
                <a:latin typeface="Calibri" pitchFamily="34" charset="0"/>
                <a:ea typeface="Calibri" pitchFamily="34" charset="-122"/>
                <a:cs typeface="Calibri" pitchFamily="34" charset="-120"/>
              </a:rPr>
              <a:t>A static method receives neither self nor cls automatically —</a:t>
            </a:r>
            <a:endParaRPr lang="en-US" sz="1350" dirty="0"/>
          </a:p>
          <a:p>
            <a:pPr indent="0" marL="0">
              <a:buNone/>
            </a:pPr>
            <a:r>
              <a:rPr lang="en-US" sz="1350" dirty="0">
                <a:solidFill>
                  <a:srgbClr val="E6EDF3"/>
                </a:solidFill>
                <a:latin typeface="Calibri" pitchFamily="34" charset="0"/>
                <a:ea typeface="Calibri" pitchFamily="34" charset="-122"/>
                <a:cs typeface="Calibri" pitchFamily="34" charset="-120"/>
              </a:rPr>
              <a:t>it behaves like a regular function that simply lives inside the class</a:t>
            </a:r>
            <a:endParaRPr lang="en-US" sz="1350" dirty="0"/>
          </a:p>
          <a:p>
            <a:pPr indent="0" marL="0">
              <a:buNone/>
            </a:pPr>
            <a:r>
              <a:rPr lang="en-US" sz="1350" dirty="0">
                <a:solidFill>
                  <a:srgbClr val="E6EDF3"/>
                </a:solidFill>
                <a:latin typeface="Calibri" pitchFamily="34" charset="0"/>
                <a:ea typeface="Calibri" pitchFamily="34" charset="-122"/>
                <a:cs typeface="Calibri" pitchFamily="34" charset="-120"/>
              </a:rPr>
              <a:t>because it's logically related to it.</a:t>
            </a:r>
            <a:endParaRPr lang="en-US" sz="1350" dirty="0"/>
          </a:p>
        </p:txBody>
      </p:sp>
      <p:sp>
        <p:nvSpPr>
          <p:cNvPr id="12" name="Shape 10"/>
          <p:cNvSpPr/>
          <p:nvPr/>
        </p:nvSpPr>
        <p:spPr>
          <a:xfrm>
            <a:off x="548640" y="4343400"/>
            <a:ext cx="5394960" cy="777240"/>
          </a:xfrm>
          <a:prstGeom prst="roundRect">
            <a:avLst>
              <a:gd name="adj" fmla="val 9412"/>
            </a:avLst>
          </a:prstGeom>
          <a:solidFill>
            <a:srgbClr val="161B22"/>
          </a:solidFill>
          <a:ln w="12700">
            <a:solidFill>
              <a:srgbClr val="30363D"/>
            </a:solidFill>
            <a:prstDash val="solid"/>
          </a:ln>
        </p:spPr>
      </p:sp>
      <p:sp>
        <p:nvSpPr>
          <p:cNvPr id="13" name="Shape 11"/>
          <p:cNvSpPr/>
          <p:nvPr/>
        </p:nvSpPr>
        <p:spPr>
          <a:xfrm>
            <a:off x="749808" y="4507992"/>
            <a:ext cx="100584" cy="100584"/>
          </a:xfrm>
          <a:prstGeom prst="ellipse">
            <a:avLst/>
          </a:prstGeom>
          <a:solidFill>
            <a:srgbClr val="F85149"/>
          </a:solidFill>
          <a:ln/>
        </p:spPr>
      </p:sp>
      <p:sp>
        <p:nvSpPr>
          <p:cNvPr id="14" name="Shape 12"/>
          <p:cNvSpPr/>
          <p:nvPr/>
        </p:nvSpPr>
        <p:spPr>
          <a:xfrm>
            <a:off x="950976" y="4507992"/>
            <a:ext cx="100584" cy="100584"/>
          </a:xfrm>
          <a:prstGeom prst="ellipse">
            <a:avLst/>
          </a:prstGeom>
          <a:solidFill>
            <a:srgbClr val="FFD43B"/>
          </a:solidFill>
          <a:ln/>
        </p:spPr>
      </p:sp>
      <p:sp>
        <p:nvSpPr>
          <p:cNvPr id="15" name="Shape 13"/>
          <p:cNvSpPr/>
          <p:nvPr/>
        </p:nvSpPr>
        <p:spPr>
          <a:xfrm>
            <a:off x="1152144" y="4507992"/>
            <a:ext cx="100584" cy="100584"/>
          </a:xfrm>
          <a:prstGeom prst="ellipse">
            <a:avLst/>
          </a:prstGeom>
          <a:solidFill>
            <a:srgbClr val="3FB950"/>
          </a:solidFill>
          <a:ln/>
        </p:spPr>
      </p:sp>
      <p:sp>
        <p:nvSpPr>
          <p:cNvPr id="16" name="Text 14"/>
          <p:cNvSpPr txBox="1"/>
          <p:nvPr/>
        </p:nvSpPr>
        <p:spPr>
          <a:xfrm>
            <a:off x="868680" y="4727448"/>
            <a:ext cx="4846320" cy="285433"/>
          </a:xfrm>
          <a:prstGeom prst="rect">
            <a:avLst/>
          </a:prstGeom>
          <a:noFill/>
          <a:ln/>
        </p:spPr>
        <p:txBody>
          <a:bodyPr wrap="square" lIns="0" tIns="0" rIns="0" bIns="0" rtlCol="0" anchor="t"/>
          <a:lstStyle/>
          <a:p>
            <a:pPr indent="0" marL="0">
              <a:buNone/>
            </a:pPr>
            <a:r>
              <a:rPr lang="en-US" sz="1450" dirty="0">
                <a:solidFill>
                  <a:srgbClr val="58A6FF"/>
                </a:solidFill>
                <a:latin typeface="Courier New" pitchFamily="34" charset="0"/>
                <a:ea typeface="Courier New" pitchFamily="34" charset="-122"/>
                <a:cs typeface="Courier New" pitchFamily="34" charset="-120"/>
              </a:rPr>
              <a:t>Student</a:t>
            </a:r>
            <a:pPr indent="0" marL="0">
              <a:buNone/>
            </a:pPr>
            <a:r>
              <a:rPr lang="en-US" sz="1450" dirty="0">
                <a:solidFill>
                  <a:srgbClr val="E6EDF3"/>
                </a:solidFill>
                <a:latin typeface="Courier New" pitchFamily="34" charset="0"/>
                <a:ea typeface="Courier New" pitchFamily="34" charset="-122"/>
                <a:cs typeface="Courier New" pitchFamily="34" charset="-120"/>
              </a:rPr>
              <a:t>.is_valid_age(</a:t>
            </a:r>
            <a:pPr indent="0" marL="0">
              <a:buNone/>
            </a:pPr>
            <a:r>
              <a:rPr lang="en-US" sz="1450" dirty="0">
                <a:solidFill>
                  <a:srgbClr val="FFD43B"/>
                </a:solidFill>
                <a:latin typeface="Courier New" pitchFamily="34" charset="0"/>
                <a:ea typeface="Courier New" pitchFamily="34" charset="-122"/>
                <a:cs typeface="Courier New" pitchFamily="34" charset="-120"/>
              </a:rPr>
              <a:t>20</a:t>
            </a:r>
            <a:pPr indent="0" marL="0">
              <a:buNone/>
            </a:pPr>
            <a:r>
              <a:rPr lang="en-US" sz="1450" dirty="0">
                <a:solidFill>
                  <a:srgbClr val="E6EDF3"/>
                </a:solidFill>
                <a:latin typeface="Courier New" pitchFamily="34" charset="0"/>
                <a:ea typeface="Courier New" pitchFamily="34" charset="-122"/>
                <a:cs typeface="Courier New" pitchFamily="34" charset="-120"/>
              </a:rPr>
              <a:t>)</a:t>
            </a:r>
            <a:endParaRPr lang="en-US" sz="1450" dirty="0"/>
          </a:p>
        </p:txBody>
      </p:sp>
      <p:sp>
        <p:nvSpPr>
          <p:cNvPr id="17" name="Shape 15"/>
          <p:cNvSpPr/>
          <p:nvPr/>
        </p:nvSpPr>
        <p:spPr>
          <a:xfrm>
            <a:off x="6858000" y="1600200"/>
            <a:ext cx="4754880" cy="960120"/>
          </a:xfrm>
          <a:prstGeom prst="roundRect">
            <a:avLst>
              <a:gd name="adj" fmla="val 7619"/>
            </a:avLst>
          </a:prstGeom>
          <a:solidFill>
            <a:srgbClr val="161B22"/>
          </a:solidFill>
          <a:ln w="12700">
            <a:solidFill>
              <a:srgbClr val="30363D"/>
            </a:solidFill>
            <a:prstDash val="solid"/>
          </a:ln>
        </p:spPr>
      </p:sp>
      <p:sp>
        <p:nvSpPr>
          <p:cNvPr id="18" name="Text 16"/>
          <p:cNvSpPr txBox="1"/>
          <p:nvPr/>
        </p:nvSpPr>
        <p:spPr>
          <a:xfrm>
            <a:off x="7086600" y="1719072"/>
            <a:ext cx="4297680" cy="274320"/>
          </a:xfrm>
          <a:prstGeom prst="rect">
            <a:avLst/>
          </a:prstGeom>
          <a:noFill/>
          <a:ln/>
        </p:spPr>
        <p:txBody>
          <a:bodyPr wrap="square" lIns="0" tIns="0" rIns="0" bIns="0" rtlCol="0" anchor="ctr"/>
          <a:lstStyle/>
          <a:p>
            <a:pPr indent="0" marL="0">
              <a:buNone/>
            </a:pPr>
            <a:r>
              <a:rPr lang="en-US" sz="1200" b="1" dirty="0">
                <a:solidFill>
                  <a:srgbClr val="58A6FF"/>
                </a:solidFill>
                <a:latin typeface="Courier New" pitchFamily="34" charset="0"/>
                <a:ea typeface="Courier New" pitchFamily="34" charset="-122"/>
                <a:cs typeface="Courier New" pitchFamily="34" charset="-120"/>
              </a:rPr>
              <a:t>INSTANCE METHOD</a:t>
            </a:r>
            <a:endParaRPr lang="en-US" sz="1200" dirty="0"/>
          </a:p>
        </p:txBody>
      </p:sp>
      <p:sp>
        <p:nvSpPr>
          <p:cNvPr id="19" name="Text 17"/>
          <p:cNvSpPr txBox="1"/>
          <p:nvPr/>
        </p:nvSpPr>
        <p:spPr>
          <a:xfrm>
            <a:off x="7086600" y="2011680"/>
            <a:ext cx="1901952" cy="320040"/>
          </a:xfrm>
          <a:prstGeom prst="rect">
            <a:avLst/>
          </a:prstGeom>
          <a:noFill/>
          <a:ln/>
        </p:spPr>
        <p:txBody>
          <a:bodyPr wrap="square" lIns="0" tIns="0" rIns="0" bIns="0" rtlCol="0" anchor="ctr"/>
          <a:lstStyle/>
          <a:p>
            <a:pPr indent="0" marL="0">
              <a:buNone/>
            </a:pPr>
            <a:r>
              <a:rPr lang="en-US" sz="1400" b="1" dirty="0">
                <a:solidFill>
                  <a:srgbClr val="E6EDF3"/>
                </a:solidFill>
                <a:latin typeface="Courier New" pitchFamily="34" charset="0"/>
                <a:ea typeface="Courier New" pitchFamily="34" charset="-122"/>
                <a:cs typeface="Courier New" pitchFamily="34" charset="-120"/>
              </a:rPr>
              <a:t>self</a:t>
            </a:r>
            <a:endParaRPr lang="en-US" sz="1400" dirty="0"/>
          </a:p>
        </p:txBody>
      </p:sp>
      <p:sp>
        <p:nvSpPr>
          <p:cNvPr id="20" name="Text 18"/>
          <p:cNvSpPr txBox="1"/>
          <p:nvPr/>
        </p:nvSpPr>
        <p:spPr>
          <a:xfrm>
            <a:off x="8988552" y="2002536"/>
            <a:ext cx="274320" cy="320040"/>
          </a:xfrm>
          <a:prstGeom prst="rect">
            <a:avLst/>
          </a:prstGeom>
          <a:noFill/>
          <a:ln/>
        </p:spPr>
        <p:txBody>
          <a:bodyPr wrap="square" lIns="0" tIns="0" rIns="0" bIns="0" rtlCol="0" anchor="ctr"/>
          <a:lstStyle/>
          <a:p>
            <a:pPr algn="ctr" indent="0" marL="0">
              <a:buNone/>
            </a:pPr>
            <a:r>
              <a:rPr lang="en-US" sz="1300" dirty="0">
                <a:solidFill>
                  <a:srgbClr val="6E7681"/>
                </a:solidFill>
                <a:latin typeface="Calibri" pitchFamily="34" charset="0"/>
                <a:ea typeface="Calibri" pitchFamily="34" charset="-122"/>
                <a:cs typeface="Calibri" pitchFamily="34" charset="-120"/>
              </a:rPr>
              <a:t>↓</a:t>
            </a:r>
            <a:endParaRPr lang="en-US" sz="1300" dirty="0"/>
          </a:p>
        </p:txBody>
      </p:sp>
      <p:sp>
        <p:nvSpPr>
          <p:cNvPr id="21" name="Text 19"/>
          <p:cNvSpPr txBox="1"/>
          <p:nvPr/>
        </p:nvSpPr>
        <p:spPr>
          <a:xfrm>
            <a:off x="9308592" y="2011680"/>
            <a:ext cx="2377440" cy="320040"/>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object</a:t>
            </a:r>
            <a:endParaRPr lang="en-US" sz="1300" dirty="0"/>
          </a:p>
        </p:txBody>
      </p:sp>
      <p:sp>
        <p:nvSpPr>
          <p:cNvPr id="22" name="Shape 20"/>
          <p:cNvSpPr/>
          <p:nvPr/>
        </p:nvSpPr>
        <p:spPr>
          <a:xfrm>
            <a:off x="6858000" y="2743200"/>
            <a:ext cx="4754880" cy="960120"/>
          </a:xfrm>
          <a:prstGeom prst="roundRect">
            <a:avLst>
              <a:gd name="adj" fmla="val 7619"/>
            </a:avLst>
          </a:prstGeom>
          <a:solidFill>
            <a:srgbClr val="161B22"/>
          </a:solidFill>
          <a:ln w="12700">
            <a:solidFill>
              <a:srgbClr val="30363D"/>
            </a:solidFill>
            <a:prstDash val="solid"/>
          </a:ln>
        </p:spPr>
      </p:sp>
      <p:sp>
        <p:nvSpPr>
          <p:cNvPr id="23" name="Text 21"/>
          <p:cNvSpPr txBox="1"/>
          <p:nvPr/>
        </p:nvSpPr>
        <p:spPr>
          <a:xfrm>
            <a:off x="7086600" y="2862072"/>
            <a:ext cx="4297680" cy="274320"/>
          </a:xfrm>
          <a:prstGeom prst="rect">
            <a:avLst/>
          </a:prstGeom>
          <a:noFill/>
          <a:ln/>
        </p:spPr>
        <p:txBody>
          <a:bodyPr wrap="square" lIns="0" tIns="0" rIns="0" bIns="0" rtlCol="0" anchor="ctr"/>
          <a:lstStyle/>
          <a:p>
            <a:pPr indent="0" marL="0">
              <a:buNone/>
            </a:pPr>
            <a:r>
              <a:rPr lang="en-US" sz="1200" b="1" dirty="0">
                <a:solidFill>
                  <a:srgbClr val="FFD43B"/>
                </a:solidFill>
                <a:latin typeface="Courier New" pitchFamily="34" charset="0"/>
                <a:ea typeface="Courier New" pitchFamily="34" charset="-122"/>
                <a:cs typeface="Courier New" pitchFamily="34" charset="-120"/>
              </a:rPr>
              <a:t>CLASS METHOD</a:t>
            </a:r>
            <a:endParaRPr lang="en-US" sz="1200" dirty="0"/>
          </a:p>
        </p:txBody>
      </p:sp>
      <p:sp>
        <p:nvSpPr>
          <p:cNvPr id="24" name="Text 22"/>
          <p:cNvSpPr txBox="1"/>
          <p:nvPr/>
        </p:nvSpPr>
        <p:spPr>
          <a:xfrm>
            <a:off x="7086600" y="3154680"/>
            <a:ext cx="1901952" cy="320040"/>
          </a:xfrm>
          <a:prstGeom prst="rect">
            <a:avLst/>
          </a:prstGeom>
          <a:noFill/>
          <a:ln/>
        </p:spPr>
        <p:txBody>
          <a:bodyPr wrap="square" lIns="0" tIns="0" rIns="0" bIns="0" rtlCol="0" anchor="ctr"/>
          <a:lstStyle/>
          <a:p>
            <a:pPr indent="0" marL="0">
              <a:buNone/>
            </a:pPr>
            <a:r>
              <a:rPr lang="en-US" sz="1400" b="1" dirty="0">
                <a:solidFill>
                  <a:srgbClr val="E6EDF3"/>
                </a:solidFill>
                <a:latin typeface="Courier New" pitchFamily="34" charset="0"/>
                <a:ea typeface="Courier New" pitchFamily="34" charset="-122"/>
                <a:cs typeface="Courier New" pitchFamily="34" charset="-120"/>
              </a:rPr>
              <a:t>cls</a:t>
            </a:r>
            <a:endParaRPr lang="en-US" sz="1400" dirty="0"/>
          </a:p>
        </p:txBody>
      </p:sp>
      <p:sp>
        <p:nvSpPr>
          <p:cNvPr id="25" name="Text 23"/>
          <p:cNvSpPr txBox="1"/>
          <p:nvPr/>
        </p:nvSpPr>
        <p:spPr>
          <a:xfrm>
            <a:off x="8988552" y="3145536"/>
            <a:ext cx="274320" cy="320040"/>
          </a:xfrm>
          <a:prstGeom prst="rect">
            <a:avLst/>
          </a:prstGeom>
          <a:noFill/>
          <a:ln/>
        </p:spPr>
        <p:txBody>
          <a:bodyPr wrap="square" lIns="0" tIns="0" rIns="0" bIns="0" rtlCol="0" anchor="ctr"/>
          <a:lstStyle/>
          <a:p>
            <a:pPr algn="ctr" indent="0" marL="0">
              <a:buNone/>
            </a:pPr>
            <a:r>
              <a:rPr lang="en-US" sz="1300" dirty="0">
                <a:solidFill>
                  <a:srgbClr val="6E7681"/>
                </a:solidFill>
                <a:latin typeface="Calibri" pitchFamily="34" charset="0"/>
                <a:ea typeface="Calibri" pitchFamily="34" charset="-122"/>
                <a:cs typeface="Calibri" pitchFamily="34" charset="-120"/>
              </a:rPr>
              <a:t>↓</a:t>
            </a:r>
            <a:endParaRPr lang="en-US" sz="1300" dirty="0"/>
          </a:p>
        </p:txBody>
      </p:sp>
      <p:sp>
        <p:nvSpPr>
          <p:cNvPr id="26" name="Text 24"/>
          <p:cNvSpPr txBox="1"/>
          <p:nvPr/>
        </p:nvSpPr>
        <p:spPr>
          <a:xfrm>
            <a:off x="9308592" y="3154680"/>
            <a:ext cx="2377440" cy="320040"/>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class</a:t>
            </a:r>
            <a:endParaRPr lang="en-US" sz="1300" dirty="0"/>
          </a:p>
        </p:txBody>
      </p:sp>
      <p:sp>
        <p:nvSpPr>
          <p:cNvPr id="27" name="Shape 25"/>
          <p:cNvSpPr/>
          <p:nvPr/>
        </p:nvSpPr>
        <p:spPr>
          <a:xfrm>
            <a:off x="6858000" y="3886200"/>
            <a:ext cx="4754880" cy="960120"/>
          </a:xfrm>
          <a:prstGeom prst="roundRect">
            <a:avLst>
              <a:gd name="adj" fmla="val 7619"/>
            </a:avLst>
          </a:prstGeom>
          <a:solidFill>
            <a:srgbClr val="161B22"/>
          </a:solidFill>
          <a:ln w="12700">
            <a:solidFill>
              <a:srgbClr val="30363D"/>
            </a:solidFill>
            <a:prstDash val="solid"/>
          </a:ln>
        </p:spPr>
      </p:sp>
      <p:sp>
        <p:nvSpPr>
          <p:cNvPr id="28" name="Text 26"/>
          <p:cNvSpPr txBox="1"/>
          <p:nvPr/>
        </p:nvSpPr>
        <p:spPr>
          <a:xfrm>
            <a:off x="7086600" y="4005072"/>
            <a:ext cx="4297680" cy="274320"/>
          </a:xfrm>
          <a:prstGeom prst="rect">
            <a:avLst/>
          </a:prstGeom>
          <a:noFill/>
          <a:ln/>
        </p:spPr>
        <p:txBody>
          <a:bodyPr wrap="square" lIns="0" tIns="0" rIns="0" bIns="0" rtlCol="0" anchor="ctr"/>
          <a:lstStyle/>
          <a:p>
            <a:pPr indent="0" marL="0">
              <a:buNone/>
            </a:pPr>
            <a:r>
              <a:rPr lang="en-US" sz="1200" b="1" dirty="0">
                <a:solidFill>
                  <a:srgbClr val="3FB950"/>
                </a:solidFill>
                <a:latin typeface="Courier New" pitchFamily="34" charset="0"/>
                <a:ea typeface="Courier New" pitchFamily="34" charset="-122"/>
                <a:cs typeface="Courier New" pitchFamily="34" charset="-120"/>
              </a:rPr>
              <a:t>STATIC METHOD</a:t>
            </a:r>
            <a:endParaRPr lang="en-US" sz="1200" dirty="0"/>
          </a:p>
        </p:txBody>
      </p:sp>
      <p:sp>
        <p:nvSpPr>
          <p:cNvPr id="29" name="Text 27"/>
          <p:cNvSpPr txBox="1"/>
          <p:nvPr/>
        </p:nvSpPr>
        <p:spPr>
          <a:xfrm>
            <a:off x="7086600" y="4297680"/>
            <a:ext cx="1901952" cy="320040"/>
          </a:xfrm>
          <a:prstGeom prst="rect">
            <a:avLst/>
          </a:prstGeom>
          <a:noFill/>
          <a:ln/>
        </p:spPr>
        <p:txBody>
          <a:bodyPr wrap="square" lIns="0" tIns="0" rIns="0" bIns="0" rtlCol="0" anchor="ctr"/>
          <a:lstStyle/>
          <a:p>
            <a:pPr indent="0" marL="0">
              <a:buNone/>
            </a:pPr>
            <a:r>
              <a:rPr lang="en-US" sz="1400" b="1" dirty="0">
                <a:solidFill>
                  <a:srgbClr val="E6EDF3"/>
                </a:solidFill>
                <a:latin typeface="Courier New" pitchFamily="34" charset="0"/>
                <a:ea typeface="Courier New" pitchFamily="34" charset="-122"/>
                <a:cs typeface="Courier New" pitchFamily="34" charset="-120"/>
              </a:rPr>
              <a:t>— (nothing)</a:t>
            </a:r>
            <a:endParaRPr lang="en-US" sz="1400" dirty="0"/>
          </a:p>
        </p:txBody>
      </p:sp>
      <p:sp>
        <p:nvSpPr>
          <p:cNvPr id="30" name="Text 28"/>
          <p:cNvSpPr txBox="1"/>
          <p:nvPr/>
        </p:nvSpPr>
        <p:spPr>
          <a:xfrm>
            <a:off x="8988552" y="4288536"/>
            <a:ext cx="274320" cy="320040"/>
          </a:xfrm>
          <a:prstGeom prst="rect">
            <a:avLst/>
          </a:prstGeom>
          <a:noFill/>
          <a:ln/>
        </p:spPr>
        <p:txBody>
          <a:bodyPr wrap="square" lIns="0" tIns="0" rIns="0" bIns="0" rtlCol="0" anchor="ctr"/>
          <a:lstStyle/>
          <a:p>
            <a:pPr algn="ctr" indent="0" marL="0">
              <a:buNone/>
            </a:pPr>
            <a:r>
              <a:rPr lang="en-US" sz="1300" dirty="0">
                <a:solidFill>
                  <a:srgbClr val="6E7681"/>
                </a:solidFill>
                <a:latin typeface="Calibri" pitchFamily="34" charset="0"/>
                <a:ea typeface="Calibri" pitchFamily="34" charset="-122"/>
                <a:cs typeface="Calibri" pitchFamily="34" charset="-120"/>
              </a:rPr>
              <a:t>↓</a:t>
            </a:r>
            <a:endParaRPr lang="en-US" sz="1300" dirty="0"/>
          </a:p>
        </p:txBody>
      </p:sp>
      <p:sp>
        <p:nvSpPr>
          <p:cNvPr id="31" name="Text 29"/>
          <p:cNvSpPr txBox="1"/>
          <p:nvPr/>
        </p:nvSpPr>
        <p:spPr>
          <a:xfrm>
            <a:off x="9308592" y="4297680"/>
            <a:ext cx="2377440" cy="320040"/>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independent logic</a:t>
            </a:r>
            <a:endParaRPr lang="en-US" sz="1300" dirty="0"/>
          </a:p>
        </p:txBody>
      </p:sp>
      <p:sp>
        <p:nvSpPr>
          <p:cNvPr id="32" name="Text 30"/>
          <p:cNvSpPr txBox="1"/>
          <p:nvPr/>
        </p:nvSpPr>
        <p:spPr>
          <a:xfrm>
            <a:off x="10728655" y="502920"/>
            <a:ext cx="914400" cy="274320"/>
          </a:xfrm>
          <a:prstGeom prst="rect">
            <a:avLst/>
          </a:prstGeom>
          <a:noFill/>
          <a:ln/>
        </p:spPr>
        <p:txBody>
          <a:bodyPr wrap="square" lIns="0" tIns="0" rIns="0" bIns="0" rtlCol="0" anchor="ctr"/>
          <a:lstStyle/>
          <a:p>
            <a:pPr algn="r" indent="0" marL="0">
              <a:buNone/>
            </a:pPr>
            <a:r>
              <a:rPr lang="en-US" sz="900" dirty="0">
                <a:solidFill>
                  <a:srgbClr val="6E7681"/>
                </a:solidFill>
                <a:latin typeface="Courier New" pitchFamily="34" charset="0"/>
                <a:ea typeface="Courier New" pitchFamily="34" charset="-122"/>
                <a:cs typeface="Courier New" pitchFamily="34" charset="-120"/>
              </a:rPr>
              <a:t>11 / 14</a:t>
            </a:r>
            <a:endParaRPr lang="en-US" sz="900" dirty="0"/>
          </a:p>
        </p:txBody>
      </p:sp>
      <p:sp>
        <p:nvSpPr>
          <p:cNvPr id="33" name="Shape 31"/>
          <p:cNvSpPr/>
          <p:nvPr/>
        </p:nvSpPr>
        <p:spPr>
          <a:xfrm>
            <a:off x="9302191" y="6291072"/>
            <a:ext cx="2340864" cy="365760"/>
          </a:xfrm>
          <a:prstGeom prst="roundRect">
            <a:avLst>
              <a:gd name="adj" fmla="val 15000"/>
            </a:avLst>
          </a:prstGeom>
          <a:solidFill>
            <a:srgbClr val="1C2129"/>
          </a:solidFill>
          <a:ln w="9525">
            <a:solidFill>
              <a:srgbClr val="30363D"/>
            </a:solidFill>
            <a:prstDash val="solid"/>
          </a:ln>
        </p:spPr>
      </p:sp>
      <p:sp>
        <p:nvSpPr>
          <p:cNvPr id="34" name="Text 32"/>
          <p:cNvSpPr txBox="1"/>
          <p:nvPr/>
        </p:nvSpPr>
        <p:spPr>
          <a:xfrm>
            <a:off x="9302191" y="6291072"/>
            <a:ext cx="2340864" cy="365760"/>
          </a:xfrm>
          <a:prstGeom prst="rect">
            <a:avLst/>
          </a:prstGeom>
          <a:noFill/>
          <a:ln/>
        </p:spPr>
        <p:txBody>
          <a:bodyPr wrap="square" lIns="0" tIns="0" rIns="0" bIns="0" rtlCol="0" anchor="ctr"/>
          <a:lstStyle/>
          <a:p>
            <a:pPr algn="ctr" indent="0" marL="0">
              <a:buNone/>
            </a:pPr>
            <a:r>
              <a:rPr lang="en-US" sz="1000" dirty="0">
                <a:solidFill>
                  <a:srgbClr val="3FB950"/>
                </a:solidFill>
                <a:latin typeface="Courier New" pitchFamily="34" charset="0"/>
                <a:ea typeface="Courier New" pitchFamily="34" charset="-122"/>
                <a:cs typeface="Courier New" pitchFamily="34" charset="-120"/>
              </a:rPr>
              <a:t>▶ </a:t>
            </a:r>
            <a:pPr algn="ctr" indent="0" marL="0">
              <a:buNone/>
            </a:pPr>
            <a:r>
              <a:rPr lang="en-US" sz="1000" dirty="0">
                <a:solidFill>
                  <a:srgbClr val="8B949E"/>
                </a:solidFill>
                <a:latin typeface="Courier New" pitchFamily="34" charset="0"/>
                <a:ea typeface="Courier New" pitchFamily="34" charset="-122"/>
                <a:cs typeface="Courier New" pitchFamily="34" charset="-120"/>
              </a:rPr>
              <a:t>09_static_methods.py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B8BBE"/>
                </a:solidFill>
                <a:latin typeface="Courier New" pitchFamily="34" charset="0"/>
                <a:ea typeface="Courier New" pitchFamily="34" charset="-122"/>
                <a:cs typeface="Courier New" pitchFamily="34" charset="-120"/>
              </a:rPr>
              <a:t>11 · UNDER THE HOOD</a:t>
            </a:r>
            <a:endParaRPr lang="en-US" sz="1200" dirty="0"/>
          </a:p>
        </p:txBody>
      </p:sp>
      <p:sp>
        <p:nvSpPr>
          <p:cNvPr id="3" name="Text 1"/>
          <p:cNvSpPr txBox="1"/>
          <p:nvPr/>
        </p:nvSpPr>
        <p:spPr>
          <a:xfrm>
            <a:off x="548640" y="777240"/>
            <a:ext cx="11094415" cy="822960"/>
          </a:xfrm>
          <a:prstGeom prst="rect">
            <a:avLst/>
          </a:prstGeom>
          <a:noFill/>
          <a:ln/>
        </p:spPr>
        <p:txBody>
          <a:bodyPr wrap="square" lIns="0" tIns="0" rIns="0" bIns="0" rtlCol="0" anchor="ctr"/>
          <a:lstStyle/>
          <a:p>
            <a:pPr indent="0" marL="0">
              <a:buNone/>
            </a:pPr>
            <a:r>
              <a:rPr lang="en-US" sz="3200" b="1" dirty="0">
                <a:solidFill>
                  <a:srgbClr val="E6EDF3"/>
                </a:solidFill>
                <a:latin typeface="Consolas" pitchFamily="34" charset="0"/>
                <a:ea typeface="Consolas" pitchFamily="34" charset="-122"/>
                <a:cs typeface="Consolas" pitchFamily="34" charset="-120"/>
              </a:rPr>
              <a:t>__new__() vs __init__()</a:t>
            </a:r>
            <a:endParaRPr lang="en-US" sz="3200" dirty="0"/>
          </a:p>
        </p:txBody>
      </p:sp>
      <p:sp>
        <p:nvSpPr>
          <p:cNvPr id="4" name="Shape 2"/>
          <p:cNvSpPr/>
          <p:nvPr/>
        </p:nvSpPr>
        <p:spPr>
          <a:xfrm>
            <a:off x="548640" y="1554480"/>
            <a:ext cx="3200400" cy="566928"/>
          </a:xfrm>
          <a:prstGeom prst="roundRect">
            <a:avLst>
              <a:gd name="adj" fmla="val 12903"/>
            </a:avLst>
          </a:prstGeom>
          <a:solidFill>
            <a:srgbClr val="161B22"/>
          </a:solidFill>
          <a:ln w="12700">
            <a:solidFill>
              <a:srgbClr val="30363D"/>
            </a:solidFill>
            <a:prstDash val="solid"/>
          </a:ln>
        </p:spPr>
      </p:sp>
      <p:sp>
        <p:nvSpPr>
          <p:cNvPr id="5" name="Text 3"/>
          <p:cNvSpPr txBox="1"/>
          <p:nvPr/>
        </p:nvSpPr>
        <p:spPr>
          <a:xfrm>
            <a:off x="548640" y="1554480"/>
            <a:ext cx="3200400" cy="566928"/>
          </a:xfrm>
          <a:prstGeom prst="rect">
            <a:avLst/>
          </a:prstGeom>
          <a:noFill/>
          <a:ln/>
        </p:spPr>
        <p:txBody>
          <a:bodyPr wrap="square" lIns="0" tIns="0" rIns="0" bIns="0" rtlCol="0" anchor="ctr"/>
          <a:lstStyle/>
          <a:p>
            <a:pPr algn="ctr" indent="0" marL="0">
              <a:buNone/>
            </a:pPr>
            <a:r>
              <a:rPr lang="en-US" sz="1300" dirty="0">
                <a:solidFill>
                  <a:srgbClr val="FFD43B"/>
                </a:solidFill>
                <a:latin typeface="Courier New" pitchFamily="34" charset="0"/>
                <a:ea typeface="Courier New" pitchFamily="34" charset="-122"/>
                <a:cs typeface="Courier New" pitchFamily="34" charset="-120"/>
              </a:rPr>
              <a:t>Student("Arun")</a:t>
            </a:r>
            <a:endParaRPr lang="en-US" sz="1300" dirty="0"/>
          </a:p>
        </p:txBody>
      </p:sp>
      <p:sp>
        <p:nvSpPr>
          <p:cNvPr id="6" name="Shape 4"/>
          <p:cNvSpPr/>
          <p:nvPr/>
        </p:nvSpPr>
        <p:spPr>
          <a:xfrm>
            <a:off x="2148840" y="2121408"/>
            <a:ext cx="0" cy="210312"/>
          </a:xfrm>
          <a:prstGeom prst="line">
            <a:avLst/>
          </a:prstGeom>
          <a:noFill/>
          <a:ln w="19050">
            <a:solidFill>
              <a:srgbClr val="6E7681"/>
            </a:solidFill>
            <a:prstDash val="solid"/>
            <a:tailEnd type="triangle"/>
          </a:ln>
        </p:spPr>
      </p:sp>
      <p:sp>
        <p:nvSpPr>
          <p:cNvPr id="7" name="Shape 5"/>
          <p:cNvSpPr/>
          <p:nvPr/>
        </p:nvSpPr>
        <p:spPr>
          <a:xfrm>
            <a:off x="548640" y="2331720"/>
            <a:ext cx="3200400" cy="566928"/>
          </a:xfrm>
          <a:prstGeom prst="roundRect">
            <a:avLst>
              <a:gd name="adj" fmla="val 12903"/>
            </a:avLst>
          </a:prstGeom>
          <a:solidFill>
            <a:srgbClr val="161B22"/>
          </a:solidFill>
          <a:ln w="12700">
            <a:solidFill>
              <a:srgbClr val="30363D"/>
            </a:solidFill>
            <a:prstDash val="solid"/>
          </a:ln>
        </p:spPr>
      </p:sp>
      <p:sp>
        <p:nvSpPr>
          <p:cNvPr id="8" name="Text 6"/>
          <p:cNvSpPr txBox="1"/>
          <p:nvPr/>
        </p:nvSpPr>
        <p:spPr>
          <a:xfrm>
            <a:off x="548640" y="2331720"/>
            <a:ext cx="3200400" cy="566928"/>
          </a:xfrm>
          <a:prstGeom prst="rect">
            <a:avLst/>
          </a:prstGeom>
          <a:noFill/>
          <a:ln/>
        </p:spPr>
        <p:txBody>
          <a:bodyPr wrap="square" lIns="0" tIns="0" rIns="0" bIns="0" rtlCol="0" anchor="ctr"/>
          <a:lstStyle/>
          <a:p>
            <a:pPr algn="ctr" indent="0" marL="0">
              <a:buNone/>
            </a:pPr>
            <a:r>
              <a:rPr lang="en-US" sz="1300" b="1" dirty="0">
                <a:solidFill>
                  <a:srgbClr val="BC8CFF"/>
                </a:solidFill>
                <a:latin typeface="Courier New" pitchFamily="34" charset="0"/>
                <a:ea typeface="Courier New" pitchFamily="34" charset="-122"/>
                <a:cs typeface="Courier New" pitchFamily="34" charset="-120"/>
              </a:rPr>
              <a:t>__new__()</a:t>
            </a:r>
            <a:endParaRPr lang="en-US" sz="1300" dirty="0"/>
          </a:p>
        </p:txBody>
      </p:sp>
      <p:sp>
        <p:nvSpPr>
          <p:cNvPr id="9" name="Shape 7"/>
          <p:cNvSpPr/>
          <p:nvPr/>
        </p:nvSpPr>
        <p:spPr>
          <a:xfrm>
            <a:off x="2148840" y="2898648"/>
            <a:ext cx="0" cy="210312"/>
          </a:xfrm>
          <a:prstGeom prst="line">
            <a:avLst/>
          </a:prstGeom>
          <a:noFill/>
          <a:ln w="19050">
            <a:solidFill>
              <a:srgbClr val="6E7681"/>
            </a:solidFill>
            <a:prstDash val="solid"/>
            <a:tailEnd type="triangle"/>
          </a:ln>
        </p:spPr>
      </p:sp>
      <p:sp>
        <p:nvSpPr>
          <p:cNvPr id="10" name="Shape 8"/>
          <p:cNvSpPr/>
          <p:nvPr/>
        </p:nvSpPr>
        <p:spPr>
          <a:xfrm>
            <a:off x="548640" y="3108960"/>
            <a:ext cx="3200400" cy="566928"/>
          </a:xfrm>
          <a:prstGeom prst="roundRect">
            <a:avLst>
              <a:gd name="adj" fmla="val 12903"/>
            </a:avLst>
          </a:prstGeom>
          <a:solidFill>
            <a:srgbClr val="161B22"/>
          </a:solidFill>
          <a:ln w="12700">
            <a:solidFill>
              <a:srgbClr val="30363D"/>
            </a:solidFill>
            <a:prstDash val="solid"/>
          </a:ln>
        </p:spPr>
      </p:sp>
      <p:sp>
        <p:nvSpPr>
          <p:cNvPr id="11" name="Text 9"/>
          <p:cNvSpPr txBox="1"/>
          <p:nvPr/>
        </p:nvSpPr>
        <p:spPr>
          <a:xfrm>
            <a:off x="548640" y="3108960"/>
            <a:ext cx="3200400" cy="566928"/>
          </a:xfrm>
          <a:prstGeom prst="rect">
            <a:avLst/>
          </a:prstGeom>
          <a:noFill/>
          <a:ln/>
        </p:spPr>
        <p:txBody>
          <a:bodyPr wrap="square" lIns="0" tIns="0" rIns="0" bIns="0" rtlCol="0" anchor="ctr"/>
          <a:lstStyle/>
          <a:p>
            <a:pPr algn="ctr" indent="0" marL="0">
              <a:buNone/>
            </a:pPr>
            <a:r>
              <a:rPr lang="en-US" sz="1300" dirty="0">
                <a:solidFill>
                  <a:srgbClr val="8B949E"/>
                </a:solidFill>
                <a:latin typeface="Courier New" pitchFamily="34" charset="0"/>
                <a:ea typeface="Courier New" pitchFamily="34" charset="-122"/>
                <a:cs typeface="Courier New" pitchFamily="34" charset="-120"/>
              </a:rPr>
              <a:t>instance created</a:t>
            </a:r>
            <a:endParaRPr lang="en-US" sz="1300" dirty="0"/>
          </a:p>
        </p:txBody>
      </p:sp>
      <p:sp>
        <p:nvSpPr>
          <p:cNvPr id="12" name="Shape 10"/>
          <p:cNvSpPr/>
          <p:nvPr/>
        </p:nvSpPr>
        <p:spPr>
          <a:xfrm>
            <a:off x="2148840" y="3675888"/>
            <a:ext cx="0" cy="210312"/>
          </a:xfrm>
          <a:prstGeom prst="line">
            <a:avLst/>
          </a:prstGeom>
          <a:noFill/>
          <a:ln w="19050">
            <a:solidFill>
              <a:srgbClr val="6E7681"/>
            </a:solidFill>
            <a:prstDash val="solid"/>
            <a:tailEnd type="triangle"/>
          </a:ln>
        </p:spPr>
      </p:sp>
      <p:sp>
        <p:nvSpPr>
          <p:cNvPr id="13" name="Shape 11"/>
          <p:cNvSpPr/>
          <p:nvPr/>
        </p:nvSpPr>
        <p:spPr>
          <a:xfrm>
            <a:off x="548640" y="3886200"/>
            <a:ext cx="3200400" cy="566928"/>
          </a:xfrm>
          <a:prstGeom prst="roundRect">
            <a:avLst>
              <a:gd name="adj" fmla="val 12903"/>
            </a:avLst>
          </a:prstGeom>
          <a:solidFill>
            <a:srgbClr val="161B22"/>
          </a:solidFill>
          <a:ln w="12700">
            <a:solidFill>
              <a:srgbClr val="30363D"/>
            </a:solidFill>
            <a:prstDash val="solid"/>
          </a:ln>
        </p:spPr>
      </p:sp>
      <p:sp>
        <p:nvSpPr>
          <p:cNvPr id="14" name="Text 12"/>
          <p:cNvSpPr txBox="1"/>
          <p:nvPr/>
        </p:nvSpPr>
        <p:spPr>
          <a:xfrm>
            <a:off x="548640" y="3886200"/>
            <a:ext cx="3200400" cy="566928"/>
          </a:xfrm>
          <a:prstGeom prst="rect">
            <a:avLst/>
          </a:prstGeom>
          <a:noFill/>
          <a:ln/>
        </p:spPr>
        <p:txBody>
          <a:bodyPr wrap="square" lIns="0" tIns="0" rIns="0" bIns="0" rtlCol="0" anchor="ctr"/>
          <a:lstStyle/>
          <a:p>
            <a:pPr algn="ctr" indent="0" marL="0">
              <a:buNone/>
            </a:pPr>
            <a:r>
              <a:rPr lang="en-US" sz="1300" b="1" dirty="0">
                <a:solidFill>
                  <a:srgbClr val="4B8BBE"/>
                </a:solidFill>
                <a:latin typeface="Courier New" pitchFamily="34" charset="0"/>
                <a:ea typeface="Courier New" pitchFamily="34" charset="-122"/>
                <a:cs typeface="Courier New" pitchFamily="34" charset="-120"/>
              </a:rPr>
              <a:t>__init__()</a:t>
            </a:r>
            <a:endParaRPr lang="en-US" sz="1300" dirty="0"/>
          </a:p>
        </p:txBody>
      </p:sp>
      <p:sp>
        <p:nvSpPr>
          <p:cNvPr id="15" name="Shape 13"/>
          <p:cNvSpPr/>
          <p:nvPr/>
        </p:nvSpPr>
        <p:spPr>
          <a:xfrm>
            <a:off x="2148840" y="4453128"/>
            <a:ext cx="0" cy="210312"/>
          </a:xfrm>
          <a:prstGeom prst="line">
            <a:avLst/>
          </a:prstGeom>
          <a:noFill/>
          <a:ln w="19050">
            <a:solidFill>
              <a:srgbClr val="6E7681"/>
            </a:solidFill>
            <a:prstDash val="solid"/>
            <a:tailEnd type="triangle"/>
          </a:ln>
        </p:spPr>
      </p:sp>
      <p:sp>
        <p:nvSpPr>
          <p:cNvPr id="16" name="Shape 14"/>
          <p:cNvSpPr/>
          <p:nvPr/>
        </p:nvSpPr>
        <p:spPr>
          <a:xfrm>
            <a:off x="548640" y="4663440"/>
            <a:ext cx="3200400" cy="566928"/>
          </a:xfrm>
          <a:prstGeom prst="roundRect">
            <a:avLst>
              <a:gd name="adj" fmla="val 12903"/>
            </a:avLst>
          </a:prstGeom>
          <a:solidFill>
            <a:srgbClr val="161B22"/>
          </a:solidFill>
          <a:ln w="12700">
            <a:solidFill>
              <a:srgbClr val="30363D"/>
            </a:solidFill>
            <a:prstDash val="solid"/>
          </a:ln>
        </p:spPr>
      </p:sp>
      <p:sp>
        <p:nvSpPr>
          <p:cNvPr id="17" name="Text 15"/>
          <p:cNvSpPr txBox="1"/>
          <p:nvPr/>
        </p:nvSpPr>
        <p:spPr>
          <a:xfrm>
            <a:off x="548640" y="4663440"/>
            <a:ext cx="3200400" cy="566928"/>
          </a:xfrm>
          <a:prstGeom prst="rect">
            <a:avLst/>
          </a:prstGeom>
          <a:noFill/>
          <a:ln/>
        </p:spPr>
        <p:txBody>
          <a:bodyPr wrap="square" lIns="0" tIns="0" rIns="0" bIns="0" rtlCol="0" anchor="ctr"/>
          <a:lstStyle/>
          <a:p>
            <a:pPr algn="ctr" indent="0" marL="0">
              <a:buNone/>
            </a:pPr>
            <a:r>
              <a:rPr lang="en-US" sz="1300" dirty="0">
                <a:solidFill>
                  <a:srgbClr val="3FB950"/>
                </a:solidFill>
                <a:latin typeface="Courier New" pitchFamily="34" charset="0"/>
                <a:ea typeface="Courier New" pitchFamily="34" charset="-122"/>
                <a:cs typeface="Courier New" pitchFamily="34" charset="-120"/>
              </a:rPr>
              <a:t>instance initialized</a:t>
            </a:r>
            <a:endParaRPr lang="en-US" sz="1300" dirty="0"/>
          </a:p>
        </p:txBody>
      </p:sp>
      <p:sp>
        <p:nvSpPr>
          <p:cNvPr id="18" name="Shape 16"/>
          <p:cNvSpPr/>
          <p:nvPr/>
        </p:nvSpPr>
        <p:spPr>
          <a:xfrm>
            <a:off x="4114800" y="1554480"/>
            <a:ext cx="3429000" cy="1371600"/>
          </a:xfrm>
          <a:prstGeom prst="roundRect">
            <a:avLst>
              <a:gd name="adj" fmla="val 5333"/>
            </a:avLst>
          </a:prstGeom>
          <a:solidFill>
            <a:srgbClr val="1C2129"/>
          </a:solidFill>
          <a:ln w="12700">
            <a:solidFill>
              <a:srgbClr val="30363D"/>
            </a:solidFill>
            <a:prstDash val="solid"/>
          </a:ln>
        </p:spPr>
      </p:sp>
      <p:sp>
        <p:nvSpPr>
          <p:cNvPr id="19" name="Text 17"/>
          <p:cNvSpPr txBox="1"/>
          <p:nvPr/>
        </p:nvSpPr>
        <p:spPr>
          <a:xfrm>
            <a:off x="4297680" y="1691640"/>
            <a:ext cx="3108960" cy="320040"/>
          </a:xfrm>
          <a:prstGeom prst="rect">
            <a:avLst/>
          </a:prstGeom>
          <a:noFill/>
          <a:ln/>
        </p:spPr>
        <p:txBody>
          <a:bodyPr wrap="square" lIns="0" tIns="0" rIns="0" bIns="0" rtlCol="0" anchor="ctr"/>
          <a:lstStyle/>
          <a:p>
            <a:pPr indent="0" marL="0">
              <a:buNone/>
            </a:pPr>
            <a:r>
              <a:rPr lang="en-US" sz="1400" b="1" dirty="0">
                <a:solidFill>
                  <a:srgbClr val="BC8CFF"/>
                </a:solidFill>
                <a:latin typeface="Courier New" pitchFamily="34" charset="0"/>
                <a:ea typeface="Courier New" pitchFamily="34" charset="-122"/>
                <a:cs typeface="Courier New" pitchFamily="34" charset="-120"/>
              </a:rPr>
              <a:t>__new__()</a:t>
            </a:r>
            <a:endParaRPr lang="en-US" sz="1400" dirty="0"/>
          </a:p>
        </p:txBody>
      </p:sp>
      <p:sp>
        <p:nvSpPr>
          <p:cNvPr id="20" name="Text 18"/>
          <p:cNvSpPr txBox="1"/>
          <p:nvPr/>
        </p:nvSpPr>
        <p:spPr>
          <a:xfrm>
            <a:off x="4297680" y="2011680"/>
            <a:ext cx="3108960" cy="8229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responsible for creating</a:t>
            </a:r>
            <a:endParaRPr lang="en-US" sz="1200" dirty="0"/>
          </a:p>
          <a:p>
            <a:pPr indent="0" marL="0">
              <a:buNone/>
            </a:pPr>
            <a:r>
              <a:rPr lang="en-US" sz="1200" dirty="0">
                <a:solidFill>
                  <a:srgbClr val="8B949E"/>
                </a:solidFill>
                <a:latin typeface="Calibri" pitchFamily="34" charset="0"/>
                <a:ea typeface="Calibri" pitchFamily="34" charset="-122"/>
                <a:cs typeface="Calibri" pitchFamily="34" charset="-120"/>
              </a:rPr>
              <a:t>and returning the instance</a:t>
            </a:r>
            <a:endParaRPr lang="en-US" sz="1200" dirty="0"/>
          </a:p>
        </p:txBody>
      </p:sp>
      <p:sp>
        <p:nvSpPr>
          <p:cNvPr id="21" name="Shape 19"/>
          <p:cNvSpPr/>
          <p:nvPr/>
        </p:nvSpPr>
        <p:spPr>
          <a:xfrm>
            <a:off x="4114800" y="3108960"/>
            <a:ext cx="3429000" cy="1371600"/>
          </a:xfrm>
          <a:prstGeom prst="roundRect">
            <a:avLst>
              <a:gd name="adj" fmla="val 5333"/>
            </a:avLst>
          </a:prstGeom>
          <a:solidFill>
            <a:srgbClr val="1C2129"/>
          </a:solidFill>
          <a:ln w="12700">
            <a:solidFill>
              <a:srgbClr val="30363D"/>
            </a:solidFill>
            <a:prstDash val="solid"/>
          </a:ln>
        </p:spPr>
      </p:sp>
      <p:sp>
        <p:nvSpPr>
          <p:cNvPr id="22" name="Text 20"/>
          <p:cNvSpPr txBox="1"/>
          <p:nvPr/>
        </p:nvSpPr>
        <p:spPr>
          <a:xfrm>
            <a:off x="4297680" y="3246120"/>
            <a:ext cx="3108960" cy="320040"/>
          </a:xfrm>
          <a:prstGeom prst="rect">
            <a:avLst/>
          </a:prstGeom>
          <a:noFill/>
          <a:ln/>
        </p:spPr>
        <p:txBody>
          <a:bodyPr wrap="square" lIns="0" tIns="0" rIns="0" bIns="0" rtlCol="0" anchor="ctr"/>
          <a:lstStyle/>
          <a:p>
            <a:pPr indent="0" marL="0">
              <a:buNone/>
            </a:pPr>
            <a:r>
              <a:rPr lang="en-US" sz="1400" b="1" dirty="0">
                <a:solidFill>
                  <a:srgbClr val="4B8BBE"/>
                </a:solidFill>
                <a:latin typeface="Courier New" pitchFamily="34" charset="0"/>
                <a:ea typeface="Courier New" pitchFamily="34" charset="-122"/>
                <a:cs typeface="Courier New" pitchFamily="34" charset="-120"/>
              </a:rPr>
              <a:t>__init__()</a:t>
            </a:r>
            <a:endParaRPr lang="en-US" sz="1400" dirty="0"/>
          </a:p>
        </p:txBody>
      </p:sp>
      <p:sp>
        <p:nvSpPr>
          <p:cNvPr id="23" name="Text 21"/>
          <p:cNvSpPr txBox="1"/>
          <p:nvPr/>
        </p:nvSpPr>
        <p:spPr>
          <a:xfrm>
            <a:off x="4297680" y="3566160"/>
            <a:ext cx="3108960" cy="8229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initializes the instance</a:t>
            </a:r>
            <a:endParaRPr lang="en-US" sz="1200" dirty="0"/>
          </a:p>
          <a:p>
            <a:pPr indent="0" marL="0">
              <a:buNone/>
            </a:pPr>
            <a:r>
              <a:rPr lang="en-US" sz="1200" dirty="0">
                <a:solidFill>
                  <a:srgbClr val="8B949E"/>
                </a:solidFill>
                <a:latin typeface="Calibri" pitchFamily="34" charset="0"/>
                <a:ea typeface="Calibri" pitchFamily="34" charset="-122"/>
                <a:cs typeface="Calibri" pitchFamily="34" charset="-120"/>
              </a:rPr>
              <a:t>that already exists</a:t>
            </a:r>
            <a:endParaRPr lang="en-US" sz="1200" dirty="0"/>
          </a:p>
        </p:txBody>
      </p:sp>
      <p:sp>
        <p:nvSpPr>
          <p:cNvPr id="24" name="Shape 22"/>
          <p:cNvSpPr/>
          <p:nvPr/>
        </p:nvSpPr>
        <p:spPr>
          <a:xfrm>
            <a:off x="7909560" y="1554480"/>
            <a:ext cx="3733495" cy="2971800"/>
          </a:xfrm>
          <a:prstGeom prst="roundRect">
            <a:avLst>
              <a:gd name="adj" fmla="val 2462"/>
            </a:avLst>
          </a:prstGeom>
          <a:solidFill>
            <a:srgbClr val="161B22"/>
          </a:solidFill>
          <a:ln w="12700">
            <a:solidFill>
              <a:srgbClr val="30363D"/>
            </a:solidFill>
            <a:prstDash val="solid"/>
          </a:ln>
        </p:spPr>
      </p:sp>
      <p:sp>
        <p:nvSpPr>
          <p:cNvPr id="25" name="Shape 23"/>
          <p:cNvSpPr/>
          <p:nvPr/>
        </p:nvSpPr>
        <p:spPr>
          <a:xfrm>
            <a:off x="8110728" y="1719072"/>
            <a:ext cx="100584" cy="100584"/>
          </a:xfrm>
          <a:prstGeom prst="ellipse">
            <a:avLst/>
          </a:prstGeom>
          <a:solidFill>
            <a:srgbClr val="F85149"/>
          </a:solidFill>
          <a:ln/>
        </p:spPr>
      </p:sp>
      <p:sp>
        <p:nvSpPr>
          <p:cNvPr id="26" name="Shape 24"/>
          <p:cNvSpPr/>
          <p:nvPr/>
        </p:nvSpPr>
        <p:spPr>
          <a:xfrm>
            <a:off x="8311896" y="1719072"/>
            <a:ext cx="100584" cy="100584"/>
          </a:xfrm>
          <a:prstGeom prst="ellipse">
            <a:avLst/>
          </a:prstGeom>
          <a:solidFill>
            <a:srgbClr val="FFD43B"/>
          </a:solidFill>
          <a:ln/>
        </p:spPr>
      </p:sp>
      <p:sp>
        <p:nvSpPr>
          <p:cNvPr id="27" name="Shape 25"/>
          <p:cNvSpPr/>
          <p:nvPr/>
        </p:nvSpPr>
        <p:spPr>
          <a:xfrm>
            <a:off x="8513064" y="1719072"/>
            <a:ext cx="100584" cy="100584"/>
          </a:xfrm>
          <a:prstGeom prst="ellipse">
            <a:avLst/>
          </a:prstGeom>
          <a:solidFill>
            <a:srgbClr val="3FB950"/>
          </a:solidFill>
          <a:ln/>
        </p:spPr>
      </p:sp>
      <p:sp>
        <p:nvSpPr>
          <p:cNvPr id="28" name="Text 26"/>
          <p:cNvSpPr txBox="1"/>
          <p:nvPr/>
        </p:nvSpPr>
        <p:spPr>
          <a:xfrm>
            <a:off x="8229600" y="1938528"/>
            <a:ext cx="3184855" cy="292608"/>
          </a:xfrm>
          <a:prstGeom prst="rect">
            <a:avLst/>
          </a:prstGeom>
          <a:noFill/>
          <a:ln/>
        </p:spPr>
        <p:txBody>
          <a:bodyPr wrap="square" lIns="0" tIns="0" rIns="0" bIns="0" rtlCol="0" anchor="t"/>
          <a:lstStyle/>
          <a:p>
            <a:pPr indent="0" marL="0">
              <a:buNone/>
            </a:pPr>
            <a:r>
              <a:rPr lang="en-US" sz="1080" b="1" dirty="0">
                <a:solidFill>
                  <a:srgbClr val="4B8BBE"/>
                </a:solidFill>
                <a:latin typeface="Courier New" pitchFamily="34" charset="0"/>
                <a:ea typeface="Courier New" pitchFamily="34" charset="-122"/>
                <a:cs typeface="Courier New" pitchFamily="34" charset="-120"/>
              </a:rPr>
              <a:t>class</a:t>
            </a:r>
            <a:pPr indent="0" marL="0">
              <a:buNone/>
            </a:pPr>
            <a:r>
              <a:rPr lang="en-US" sz="1080" dirty="0">
                <a:solidFill>
                  <a:srgbClr val="E6EDF3"/>
                </a:solidFill>
                <a:latin typeface="Courier New" pitchFamily="34" charset="0"/>
                <a:ea typeface="Courier New" pitchFamily="34" charset="-122"/>
                <a:cs typeface="Courier New" pitchFamily="34" charset="-120"/>
              </a:rPr>
              <a:t> </a:t>
            </a:r>
            <a:pPr indent="0" marL="0">
              <a:buNone/>
            </a:pPr>
            <a:r>
              <a:rPr lang="en-US" sz="1080" dirty="0">
                <a:solidFill>
                  <a:srgbClr val="58A6FF"/>
                </a:solidFill>
                <a:latin typeface="Courier New" pitchFamily="34" charset="0"/>
                <a:ea typeface="Courier New" pitchFamily="34" charset="-122"/>
                <a:cs typeface="Courier New" pitchFamily="34" charset="-120"/>
              </a:rPr>
              <a:t>Student</a:t>
            </a:r>
            <a:pPr indent="0" marL="0">
              <a:buNone/>
            </a:pPr>
            <a:r>
              <a:rPr lang="en-US" sz="1080" dirty="0">
                <a:solidFill>
                  <a:srgbClr val="E6EDF3"/>
                </a:solidFill>
                <a:latin typeface="Courier New" pitchFamily="34" charset="0"/>
                <a:ea typeface="Courier New" pitchFamily="34" charset="-122"/>
                <a:cs typeface="Courier New" pitchFamily="34" charset="-120"/>
              </a:rPr>
              <a:t>:</a:t>
            </a:r>
            <a:endParaRPr lang="en-US" sz="1080" dirty="0"/>
          </a:p>
        </p:txBody>
      </p:sp>
      <p:sp>
        <p:nvSpPr>
          <p:cNvPr id="29" name="Text 27"/>
          <p:cNvSpPr txBox="1"/>
          <p:nvPr/>
        </p:nvSpPr>
        <p:spPr>
          <a:xfrm>
            <a:off x="8229600" y="2231136"/>
            <a:ext cx="3184855" cy="292608"/>
          </a:xfrm>
          <a:prstGeom prst="rect">
            <a:avLst/>
          </a:prstGeom>
          <a:noFill/>
          <a:ln/>
        </p:spPr>
        <p:txBody>
          <a:bodyPr wrap="square" lIns="0" tIns="0" rIns="0" bIns="0" rtlCol="0" anchor="t"/>
          <a:lstStyle/>
          <a:p>
            <a:pPr indent="0" marL="0">
              <a:buNone/>
            </a:pPr>
            <a:r>
              <a:rPr lang="en-US" sz="1080" dirty="0">
                <a:solidFill>
                  <a:srgbClr val="E6EDF3"/>
                </a:solidFill>
                <a:latin typeface="Courier New" pitchFamily="34" charset="0"/>
                <a:ea typeface="Courier New" pitchFamily="34" charset="-122"/>
                <a:cs typeface="Courier New" pitchFamily="34" charset="-120"/>
              </a:rPr>
              <a:t>  </a:t>
            </a:r>
            <a:pPr indent="0" marL="0">
              <a:buNone/>
            </a:pPr>
            <a:r>
              <a:rPr lang="en-US" sz="1080" b="1" dirty="0">
                <a:solidFill>
                  <a:srgbClr val="4B8BBE"/>
                </a:solidFill>
                <a:latin typeface="Courier New" pitchFamily="34" charset="0"/>
                <a:ea typeface="Courier New" pitchFamily="34" charset="-122"/>
                <a:cs typeface="Courier New" pitchFamily="34" charset="-120"/>
              </a:rPr>
              <a:t>def </a:t>
            </a:r>
            <a:pPr indent="0" marL="0">
              <a:buNone/>
            </a:pPr>
            <a:r>
              <a:rPr lang="en-US" sz="1080" dirty="0">
                <a:solidFill>
                  <a:srgbClr val="58A6FF"/>
                </a:solidFill>
                <a:latin typeface="Courier New" pitchFamily="34" charset="0"/>
                <a:ea typeface="Courier New" pitchFamily="34" charset="-122"/>
                <a:cs typeface="Courier New" pitchFamily="34" charset="-120"/>
              </a:rPr>
              <a:t>__new__</a:t>
            </a:r>
            <a:pPr indent="0" marL="0">
              <a:buNone/>
            </a:pPr>
            <a:r>
              <a:rPr lang="en-US" sz="1080" dirty="0">
                <a:solidFill>
                  <a:srgbClr val="E6EDF3"/>
                </a:solidFill>
                <a:latin typeface="Courier New" pitchFamily="34" charset="0"/>
                <a:ea typeface="Courier New" pitchFamily="34" charset="-122"/>
                <a:cs typeface="Courier New" pitchFamily="34" charset="-120"/>
              </a:rPr>
              <a:t>(cls, name):</a:t>
            </a:r>
            <a:endParaRPr lang="en-US" sz="1080" dirty="0"/>
          </a:p>
        </p:txBody>
      </p:sp>
      <p:sp>
        <p:nvSpPr>
          <p:cNvPr id="30" name="Text 28"/>
          <p:cNvSpPr txBox="1"/>
          <p:nvPr/>
        </p:nvSpPr>
        <p:spPr>
          <a:xfrm>
            <a:off x="8229600" y="2523744"/>
            <a:ext cx="3184855" cy="292608"/>
          </a:xfrm>
          <a:prstGeom prst="rect">
            <a:avLst/>
          </a:prstGeom>
          <a:noFill/>
          <a:ln/>
        </p:spPr>
        <p:txBody>
          <a:bodyPr wrap="square" lIns="0" tIns="0" rIns="0" bIns="0" rtlCol="0" anchor="t"/>
          <a:lstStyle/>
          <a:p>
            <a:pPr indent="0" marL="0">
              <a:buNone/>
            </a:pPr>
            <a:r>
              <a:rPr lang="en-US" sz="1080" dirty="0">
                <a:solidFill>
                  <a:srgbClr val="E6EDF3"/>
                </a:solidFill>
                <a:latin typeface="Courier New" pitchFamily="34" charset="0"/>
                <a:ea typeface="Courier New" pitchFamily="34" charset="-122"/>
                <a:cs typeface="Courier New" pitchFamily="34" charset="-120"/>
              </a:rPr>
              <a:t>    print("__new__ called")</a:t>
            </a:r>
            <a:endParaRPr lang="en-US" sz="1080" dirty="0"/>
          </a:p>
        </p:txBody>
      </p:sp>
      <p:sp>
        <p:nvSpPr>
          <p:cNvPr id="31" name="Text 29"/>
          <p:cNvSpPr txBox="1"/>
          <p:nvPr/>
        </p:nvSpPr>
        <p:spPr>
          <a:xfrm>
            <a:off x="8229600" y="2816352"/>
            <a:ext cx="3184855" cy="292608"/>
          </a:xfrm>
          <a:prstGeom prst="rect">
            <a:avLst/>
          </a:prstGeom>
          <a:noFill/>
          <a:ln/>
        </p:spPr>
        <p:txBody>
          <a:bodyPr wrap="square" lIns="0" tIns="0" rIns="0" bIns="0" rtlCol="0" anchor="t"/>
          <a:lstStyle/>
          <a:p>
            <a:pPr indent="0" marL="0">
              <a:buNone/>
            </a:pPr>
            <a:r>
              <a:rPr lang="en-US" sz="1080" dirty="0">
                <a:solidFill>
                  <a:srgbClr val="E6EDF3"/>
                </a:solidFill>
                <a:latin typeface="Courier New" pitchFamily="34" charset="0"/>
                <a:ea typeface="Courier New" pitchFamily="34" charset="-122"/>
                <a:cs typeface="Courier New" pitchFamily="34" charset="-120"/>
              </a:rPr>
              <a:t>    </a:t>
            </a:r>
            <a:pPr indent="0" marL="0">
              <a:buNone/>
            </a:pPr>
            <a:r>
              <a:rPr lang="en-US" sz="1080" b="1" dirty="0">
                <a:solidFill>
                  <a:srgbClr val="4B8BBE"/>
                </a:solidFill>
                <a:latin typeface="Courier New" pitchFamily="34" charset="0"/>
                <a:ea typeface="Courier New" pitchFamily="34" charset="-122"/>
                <a:cs typeface="Courier New" pitchFamily="34" charset="-120"/>
              </a:rPr>
              <a:t>return</a:t>
            </a:r>
            <a:pPr indent="0" marL="0">
              <a:buNone/>
            </a:pPr>
            <a:r>
              <a:rPr lang="en-US" sz="1080" dirty="0">
                <a:solidFill>
                  <a:srgbClr val="E6EDF3"/>
                </a:solidFill>
                <a:latin typeface="Courier New" pitchFamily="34" charset="0"/>
                <a:ea typeface="Courier New" pitchFamily="34" charset="-122"/>
                <a:cs typeface="Courier New" pitchFamily="34" charset="-120"/>
              </a:rPr>
              <a:t> super().__new__(cls)</a:t>
            </a:r>
            <a:endParaRPr lang="en-US" sz="1080" dirty="0"/>
          </a:p>
        </p:txBody>
      </p:sp>
      <p:sp>
        <p:nvSpPr>
          <p:cNvPr id="32" name="Text 30"/>
          <p:cNvSpPr txBox="1"/>
          <p:nvPr/>
        </p:nvSpPr>
        <p:spPr>
          <a:xfrm>
            <a:off x="8229600" y="3108960"/>
            <a:ext cx="3184855" cy="292608"/>
          </a:xfrm>
          <a:prstGeom prst="rect">
            <a:avLst/>
          </a:prstGeom>
          <a:noFill/>
          <a:ln/>
        </p:spPr>
        <p:txBody>
          <a:bodyPr wrap="square" lIns="0" tIns="0" rIns="0" bIns="0" rtlCol="0" anchor="t"/>
          <a:lstStyle/>
          <a:p>
            <a:pPr indent="0" marL="0">
              <a:buNone/>
            </a:pPr>
            <a:endParaRPr lang="en-US" sz="1080" dirty="0"/>
          </a:p>
        </p:txBody>
      </p:sp>
      <p:sp>
        <p:nvSpPr>
          <p:cNvPr id="33" name="Text 31"/>
          <p:cNvSpPr txBox="1"/>
          <p:nvPr/>
        </p:nvSpPr>
        <p:spPr>
          <a:xfrm>
            <a:off x="8229600" y="3401568"/>
            <a:ext cx="3184855" cy="292608"/>
          </a:xfrm>
          <a:prstGeom prst="rect">
            <a:avLst/>
          </a:prstGeom>
          <a:noFill/>
          <a:ln/>
        </p:spPr>
        <p:txBody>
          <a:bodyPr wrap="square" lIns="0" tIns="0" rIns="0" bIns="0" rtlCol="0" anchor="t"/>
          <a:lstStyle/>
          <a:p>
            <a:pPr indent="0" marL="0">
              <a:buNone/>
            </a:pPr>
            <a:r>
              <a:rPr lang="en-US" sz="1080" dirty="0">
                <a:solidFill>
                  <a:srgbClr val="E6EDF3"/>
                </a:solidFill>
                <a:latin typeface="Courier New" pitchFamily="34" charset="0"/>
                <a:ea typeface="Courier New" pitchFamily="34" charset="-122"/>
                <a:cs typeface="Courier New" pitchFamily="34" charset="-120"/>
              </a:rPr>
              <a:t>  </a:t>
            </a:r>
            <a:pPr indent="0" marL="0">
              <a:buNone/>
            </a:pPr>
            <a:r>
              <a:rPr lang="en-US" sz="1080" b="1" dirty="0">
                <a:solidFill>
                  <a:srgbClr val="4B8BBE"/>
                </a:solidFill>
                <a:latin typeface="Courier New" pitchFamily="34" charset="0"/>
                <a:ea typeface="Courier New" pitchFamily="34" charset="-122"/>
                <a:cs typeface="Courier New" pitchFamily="34" charset="-120"/>
              </a:rPr>
              <a:t>def </a:t>
            </a:r>
            <a:pPr indent="0" marL="0">
              <a:buNone/>
            </a:pPr>
            <a:r>
              <a:rPr lang="en-US" sz="1080" dirty="0">
                <a:solidFill>
                  <a:srgbClr val="58A6FF"/>
                </a:solidFill>
                <a:latin typeface="Courier New" pitchFamily="34" charset="0"/>
                <a:ea typeface="Courier New" pitchFamily="34" charset="-122"/>
                <a:cs typeface="Courier New" pitchFamily="34" charset="-120"/>
              </a:rPr>
              <a:t>__init__</a:t>
            </a:r>
            <a:pPr indent="0" marL="0">
              <a:buNone/>
            </a:pPr>
            <a:r>
              <a:rPr lang="en-US" sz="1080" dirty="0">
                <a:solidFill>
                  <a:srgbClr val="E6EDF3"/>
                </a:solidFill>
                <a:latin typeface="Courier New" pitchFamily="34" charset="0"/>
                <a:ea typeface="Courier New" pitchFamily="34" charset="-122"/>
                <a:cs typeface="Courier New" pitchFamily="34" charset="-120"/>
              </a:rPr>
              <a:t>(self, name):</a:t>
            </a:r>
            <a:endParaRPr lang="en-US" sz="1080" dirty="0"/>
          </a:p>
        </p:txBody>
      </p:sp>
      <p:sp>
        <p:nvSpPr>
          <p:cNvPr id="34" name="Text 32"/>
          <p:cNvSpPr txBox="1"/>
          <p:nvPr/>
        </p:nvSpPr>
        <p:spPr>
          <a:xfrm>
            <a:off x="8229600" y="3694176"/>
            <a:ext cx="3184855" cy="292608"/>
          </a:xfrm>
          <a:prstGeom prst="rect">
            <a:avLst/>
          </a:prstGeom>
          <a:noFill/>
          <a:ln/>
        </p:spPr>
        <p:txBody>
          <a:bodyPr wrap="square" lIns="0" tIns="0" rIns="0" bIns="0" rtlCol="0" anchor="t"/>
          <a:lstStyle/>
          <a:p>
            <a:pPr indent="0" marL="0">
              <a:buNone/>
            </a:pPr>
            <a:r>
              <a:rPr lang="en-US" sz="1080" dirty="0">
                <a:solidFill>
                  <a:srgbClr val="E6EDF3"/>
                </a:solidFill>
                <a:latin typeface="Courier New" pitchFamily="34" charset="0"/>
                <a:ea typeface="Courier New" pitchFamily="34" charset="-122"/>
                <a:cs typeface="Courier New" pitchFamily="34" charset="-120"/>
              </a:rPr>
              <a:t>    print("__init__ called")</a:t>
            </a:r>
            <a:endParaRPr lang="en-US" sz="1080" dirty="0"/>
          </a:p>
        </p:txBody>
      </p:sp>
      <p:sp>
        <p:nvSpPr>
          <p:cNvPr id="35" name="Text 33"/>
          <p:cNvSpPr txBox="1"/>
          <p:nvPr/>
        </p:nvSpPr>
        <p:spPr>
          <a:xfrm>
            <a:off x="8229600" y="3986784"/>
            <a:ext cx="3184855" cy="292608"/>
          </a:xfrm>
          <a:prstGeom prst="rect">
            <a:avLst/>
          </a:prstGeom>
          <a:noFill/>
          <a:ln/>
        </p:spPr>
        <p:txBody>
          <a:bodyPr wrap="square" lIns="0" tIns="0" rIns="0" bIns="0" rtlCol="0" anchor="t"/>
          <a:lstStyle/>
          <a:p>
            <a:pPr indent="0" marL="0">
              <a:buNone/>
            </a:pPr>
            <a:r>
              <a:rPr lang="en-US" sz="1080" dirty="0">
                <a:solidFill>
                  <a:srgbClr val="E6EDF3"/>
                </a:solidFill>
                <a:latin typeface="Courier New" pitchFamily="34" charset="0"/>
                <a:ea typeface="Courier New" pitchFamily="34" charset="-122"/>
                <a:cs typeface="Courier New" pitchFamily="34" charset="-120"/>
              </a:rPr>
              <a:t>    self.name = name</a:t>
            </a:r>
            <a:endParaRPr lang="en-US" sz="1080" dirty="0"/>
          </a:p>
        </p:txBody>
      </p:sp>
      <p:sp>
        <p:nvSpPr>
          <p:cNvPr id="36" name="Shape 34"/>
          <p:cNvSpPr/>
          <p:nvPr/>
        </p:nvSpPr>
        <p:spPr>
          <a:xfrm>
            <a:off x="7909560" y="4663440"/>
            <a:ext cx="3733495" cy="1005840"/>
          </a:xfrm>
          <a:prstGeom prst="roundRect">
            <a:avLst>
              <a:gd name="adj" fmla="val 7273"/>
            </a:avLst>
          </a:prstGeom>
          <a:solidFill>
            <a:srgbClr val="161B22"/>
          </a:solidFill>
          <a:ln w="12700">
            <a:solidFill>
              <a:srgbClr val="30363D"/>
            </a:solidFill>
            <a:prstDash val="solid"/>
          </a:ln>
        </p:spPr>
      </p:sp>
      <p:sp>
        <p:nvSpPr>
          <p:cNvPr id="37" name="Shape 35"/>
          <p:cNvSpPr/>
          <p:nvPr/>
        </p:nvSpPr>
        <p:spPr>
          <a:xfrm>
            <a:off x="8110728" y="4828032"/>
            <a:ext cx="100584" cy="100584"/>
          </a:xfrm>
          <a:prstGeom prst="ellipse">
            <a:avLst/>
          </a:prstGeom>
          <a:solidFill>
            <a:srgbClr val="F85149"/>
          </a:solidFill>
          <a:ln/>
        </p:spPr>
      </p:sp>
      <p:sp>
        <p:nvSpPr>
          <p:cNvPr id="38" name="Shape 36"/>
          <p:cNvSpPr/>
          <p:nvPr/>
        </p:nvSpPr>
        <p:spPr>
          <a:xfrm>
            <a:off x="8311896" y="4828032"/>
            <a:ext cx="100584" cy="100584"/>
          </a:xfrm>
          <a:prstGeom prst="ellipse">
            <a:avLst/>
          </a:prstGeom>
          <a:solidFill>
            <a:srgbClr val="FFD43B"/>
          </a:solidFill>
          <a:ln/>
        </p:spPr>
      </p:sp>
      <p:sp>
        <p:nvSpPr>
          <p:cNvPr id="39" name="Shape 37"/>
          <p:cNvSpPr/>
          <p:nvPr/>
        </p:nvSpPr>
        <p:spPr>
          <a:xfrm>
            <a:off x="8513064" y="4828032"/>
            <a:ext cx="100584" cy="100584"/>
          </a:xfrm>
          <a:prstGeom prst="ellipse">
            <a:avLst/>
          </a:prstGeom>
          <a:solidFill>
            <a:srgbClr val="3FB950"/>
          </a:solidFill>
          <a:ln/>
        </p:spPr>
      </p:sp>
      <p:sp>
        <p:nvSpPr>
          <p:cNvPr id="40" name="Text 38"/>
          <p:cNvSpPr txBox="1"/>
          <p:nvPr/>
        </p:nvSpPr>
        <p:spPr>
          <a:xfrm>
            <a:off x="8229600" y="5047488"/>
            <a:ext cx="3184855" cy="226377"/>
          </a:xfrm>
          <a:prstGeom prst="rect">
            <a:avLst/>
          </a:prstGeom>
          <a:noFill/>
          <a:ln/>
        </p:spPr>
        <p:txBody>
          <a:bodyPr wrap="square" lIns="0" tIns="0" rIns="0" bIns="0" rtlCol="0" anchor="t"/>
          <a:lstStyle/>
          <a:p>
            <a:pPr indent="0" marL="0">
              <a:buNone/>
            </a:pPr>
            <a:r>
              <a:rPr lang="en-US" sz="1150" dirty="0">
                <a:solidFill>
                  <a:srgbClr val="6E7681"/>
                </a:solidFill>
                <a:latin typeface="Courier New" pitchFamily="34" charset="0"/>
                <a:ea typeface="Courier New" pitchFamily="34" charset="-122"/>
                <a:cs typeface="Courier New" pitchFamily="34" charset="-120"/>
              </a:rPr>
              <a:t># Output:</a:t>
            </a:r>
            <a:endParaRPr lang="en-US" sz="1150" dirty="0"/>
          </a:p>
        </p:txBody>
      </p:sp>
      <p:sp>
        <p:nvSpPr>
          <p:cNvPr id="41" name="Text 39"/>
          <p:cNvSpPr txBox="1"/>
          <p:nvPr/>
        </p:nvSpPr>
        <p:spPr>
          <a:xfrm>
            <a:off x="8229600" y="5273865"/>
            <a:ext cx="3184855" cy="226377"/>
          </a:xfrm>
          <a:prstGeom prst="rect">
            <a:avLst/>
          </a:prstGeom>
          <a:noFill/>
          <a:ln/>
        </p:spPr>
        <p:txBody>
          <a:bodyPr wrap="square" lIns="0" tIns="0" rIns="0" bIns="0" rtlCol="0" anchor="t"/>
          <a:lstStyle/>
          <a:p>
            <a:pPr indent="0" marL="0">
              <a:buNone/>
            </a:pPr>
            <a:r>
              <a:rPr lang="en-US" sz="1150" dirty="0">
                <a:solidFill>
                  <a:srgbClr val="E6EDF3"/>
                </a:solidFill>
                <a:latin typeface="Courier New" pitchFamily="34" charset="0"/>
                <a:ea typeface="Courier New" pitchFamily="34" charset="-122"/>
                <a:cs typeface="Courier New" pitchFamily="34" charset="-120"/>
              </a:rPr>
              <a:t>__new__ called</a:t>
            </a:r>
            <a:endParaRPr lang="en-US" sz="1150" dirty="0"/>
          </a:p>
        </p:txBody>
      </p:sp>
      <p:sp>
        <p:nvSpPr>
          <p:cNvPr id="42" name="Text 40"/>
          <p:cNvSpPr txBox="1"/>
          <p:nvPr/>
        </p:nvSpPr>
        <p:spPr>
          <a:xfrm>
            <a:off x="8229600" y="5500243"/>
            <a:ext cx="3184855" cy="226377"/>
          </a:xfrm>
          <a:prstGeom prst="rect">
            <a:avLst/>
          </a:prstGeom>
          <a:noFill/>
          <a:ln/>
        </p:spPr>
        <p:txBody>
          <a:bodyPr wrap="square" lIns="0" tIns="0" rIns="0" bIns="0" rtlCol="0" anchor="t"/>
          <a:lstStyle/>
          <a:p>
            <a:pPr indent="0" marL="0">
              <a:buNone/>
            </a:pPr>
            <a:r>
              <a:rPr lang="en-US" sz="1150" dirty="0">
                <a:solidFill>
                  <a:srgbClr val="E6EDF3"/>
                </a:solidFill>
                <a:latin typeface="Courier New" pitchFamily="34" charset="0"/>
                <a:ea typeface="Courier New" pitchFamily="34" charset="-122"/>
                <a:cs typeface="Courier New" pitchFamily="34" charset="-120"/>
              </a:rPr>
              <a:t>__init__ called</a:t>
            </a:r>
            <a:endParaRPr lang="en-US" sz="1150" dirty="0"/>
          </a:p>
        </p:txBody>
      </p:sp>
      <p:sp>
        <p:nvSpPr>
          <p:cNvPr id="43" name="Text 41"/>
          <p:cNvSpPr txBox="1"/>
          <p:nvPr/>
        </p:nvSpPr>
        <p:spPr>
          <a:xfrm>
            <a:off x="10728655" y="502920"/>
            <a:ext cx="914400" cy="274320"/>
          </a:xfrm>
          <a:prstGeom prst="rect">
            <a:avLst/>
          </a:prstGeom>
          <a:noFill/>
          <a:ln/>
        </p:spPr>
        <p:txBody>
          <a:bodyPr wrap="square" lIns="0" tIns="0" rIns="0" bIns="0" rtlCol="0" anchor="ctr"/>
          <a:lstStyle/>
          <a:p>
            <a:pPr algn="r" indent="0" marL="0">
              <a:buNone/>
            </a:pPr>
            <a:r>
              <a:rPr lang="en-US" sz="900" dirty="0">
                <a:solidFill>
                  <a:srgbClr val="6E7681"/>
                </a:solidFill>
                <a:latin typeface="Courier New" pitchFamily="34" charset="0"/>
                <a:ea typeface="Courier New" pitchFamily="34" charset="-122"/>
                <a:cs typeface="Courier New" pitchFamily="34" charset="-120"/>
              </a:rPr>
              <a:t>12 / 14</a:t>
            </a:r>
            <a:endParaRPr lang="en-US" sz="900" dirty="0"/>
          </a:p>
        </p:txBody>
      </p:sp>
      <p:sp>
        <p:nvSpPr>
          <p:cNvPr id="44" name="Shape 42"/>
          <p:cNvSpPr/>
          <p:nvPr/>
        </p:nvSpPr>
        <p:spPr>
          <a:xfrm>
            <a:off x="9357055" y="6291072"/>
            <a:ext cx="2286000" cy="365760"/>
          </a:xfrm>
          <a:prstGeom prst="roundRect">
            <a:avLst>
              <a:gd name="adj" fmla="val 15000"/>
            </a:avLst>
          </a:prstGeom>
          <a:solidFill>
            <a:srgbClr val="1C2129"/>
          </a:solidFill>
          <a:ln w="9525">
            <a:solidFill>
              <a:srgbClr val="30363D"/>
            </a:solidFill>
            <a:prstDash val="solid"/>
          </a:ln>
        </p:spPr>
      </p:sp>
      <p:sp>
        <p:nvSpPr>
          <p:cNvPr id="45" name="Text 43"/>
          <p:cNvSpPr txBox="1"/>
          <p:nvPr/>
        </p:nvSpPr>
        <p:spPr>
          <a:xfrm>
            <a:off x="9357055" y="6291072"/>
            <a:ext cx="2286000" cy="365760"/>
          </a:xfrm>
          <a:prstGeom prst="rect">
            <a:avLst/>
          </a:prstGeom>
          <a:noFill/>
          <a:ln/>
        </p:spPr>
        <p:txBody>
          <a:bodyPr wrap="square" lIns="0" tIns="0" rIns="0" bIns="0" rtlCol="0" anchor="ctr"/>
          <a:lstStyle/>
          <a:p>
            <a:pPr algn="ctr" indent="0" marL="0">
              <a:buNone/>
            </a:pPr>
            <a:r>
              <a:rPr lang="en-US" sz="1000" dirty="0">
                <a:solidFill>
                  <a:srgbClr val="3FB950"/>
                </a:solidFill>
                <a:latin typeface="Courier New" pitchFamily="34" charset="0"/>
                <a:ea typeface="Courier New" pitchFamily="34" charset="-122"/>
                <a:cs typeface="Courier New" pitchFamily="34" charset="-120"/>
              </a:rPr>
              <a:t>▶ </a:t>
            </a:r>
            <a:pPr algn="ctr" indent="0" marL="0">
              <a:buNone/>
            </a:pPr>
            <a:r>
              <a:rPr lang="en-US" sz="1000" dirty="0">
                <a:solidFill>
                  <a:srgbClr val="8B949E"/>
                </a:solidFill>
                <a:latin typeface="Courier New" pitchFamily="34" charset="0"/>
                <a:ea typeface="Courier New" pitchFamily="34" charset="-122"/>
                <a:cs typeface="Courier New" pitchFamily="34" charset="-120"/>
              </a:rPr>
              <a:t>10_new_vs_init.py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B8BBE"/>
                </a:solidFill>
                <a:latin typeface="Courier New" pitchFamily="34" charset="0"/>
                <a:ea typeface="Courier New" pitchFamily="34" charset="-122"/>
                <a:cs typeface="Courier New" pitchFamily="34" charset="-120"/>
              </a:rPr>
              <a:t>12 · SYNTHESIS</a:t>
            </a:r>
            <a:endParaRPr lang="en-US" sz="1200" dirty="0"/>
          </a:p>
        </p:txBody>
      </p:sp>
      <p:sp>
        <p:nvSpPr>
          <p:cNvPr id="3" name="Text 1"/>
          <p:cNvSpPr txBox="1"/>
          <p:nvPr/>
        </p:nvSpPr>
        <p:spPr>
          <a:xfrm>
            <a:off x="548640" y="777240"/>
            <a:ext cx="11094415" cy="822960"/>
          </a:xfrm>
          <a:prstGeom prst="rect">
            <a:avLst/>
          </a:prstGeom>
          <a:noFill/>
          <a:ln/>
        </p:spPr>
        <p:txBody>
          <a:bodyPr wrap="square" lIns="0" tIns="0" rIns="0" bIns="0" rtlCol="0" anchor="ctr"/>
          <a:lstStyle/>
          <a:p>
            <a:pPr indent="0" marL="0">
              <a:buNone/>
            </a:pPr>
            <a:r>
              <a:rPr lang="en-US" sz="3200" b="1" dirty="0">
                <a:solidFill>
                  <a:srgbClr val="E6EDF3"/>
                </a:solidFill>
                <a:latin typeface="Consolas" pitchFamily="34" charset="0"/>
                <a:ea typeface="Consolas" pitchFamily="34" charset="-122"/>
                <a:cs typeface="Consolas" pitchFamily="34" charset="-120"/>
              </a:rPr>
              <a:t>Putting Everything Together</a:t>
            </a:r>
            <a:endParaRPr lang="en-US" sz="3200" dirty="0"/>
          </a:p>
        </p:txBody>
      </p:sp>
      <p:sp>
        <p:nvSpPr>
          <p:cNvPr id="4" name="Shape 2"/>
          <p:cNvSpPr/>
          <p:nvPr/>
        </p:nvSpPr>
        <p:spPr>
          <a:xfrm>
            <a:off x="548640" y="1508760"/>
            <a:ext cx="2468880" cy="594360"/>
          </a:xfrm>
          <a:prstGeom prst="roundRect">
            <a:avLst>
              <a:gd name="adj" fmla="val 12308"/>
            </a:avLst>
          </a:prstGeom>
          <a:solidFill>
            <a:srgbClr val="1C2129"/>
          </a:solidFill>
          <a:ln w="12700">
            <a:solidFill>
              <a:srgbClr val="4B8BBE"/>
            </a:solidFill>
            <a:prstDash val="solid"/>
          </a:ln>
        </p:spPr>
      </p:sp>
      <p:sp>
        <p:nvSpPr>
          <p:cNvPr id="5" name="Text 3"/>
          <p:cNvSpPr txBox="1"/>
          <p:nvPr/>
        </p:nvSpPr>
        <p:spPr>
          <a:xfrm>
            <a:off x="548640" y="1508760"/>
            <a:ext cx="2468880" cy="594360"/>
          </a:xfrm>
          <a:prstGeom prst="rect">
            <a:avLst/>
          </a:prstGeom>
          <a:noFill/>
          <a:ln/>
        </p:spPr>
        <p:txBody>
          <a:bodyPr wrap="square" lIns="0" tIns="0" rIns="0" bIns="0" rtlCol="0" anchor="ctr"/>
          <a:lstStyle/>
          <a:p>
            <a:pPr algn="ctr" indent="0" marL="0">
              <a:buNone/>
            </a:pPr>
            <a:r>
              <a:rPr lang="en-US" sz="1350" b="1" dirty="0">
                <a:solidFill>
                  <a:srgbClr val="E6EDF3"/>
                </a:solidFill>
                <a:latin typeface="Courier New" pitchFamily="34" charset="0"/>
                <a:ea typeface="Courier New" pitchFamily="34" charset="-122"/>
                <a:cs typeface="Courier New" pitchFamily="34" charset="-120"/>
              </a:rPr>
              <a:t>class Student</a:t>
            </a:r>
            <a:endParaRPr lang="en-US" sz="1350" dirty="0"/>
          </a:p>
        </p:txBody>
      </p:sp>
      <p:sp>
        <p:nvSpPr>
          <p:cNvPr id="6" name="Shape 4"/>
          <p:cNvSpPr/>
          <p:nvPr/>
        </p:nvSpPr>
        <p:spPr>
          <a:xfrm>
            <a:off x="1783080" y="2103120"/>
            <a:ext cx="0" cy="274320"/>
          </a:xfrm>
          <a:prstGeom prst="line">
            <a:avLst/>
          </a:prstGeom>
          <a:noFill/>
          <a:ln w="19050">
            <a:solidFill>
              <a:srgbClr val="6E7681"/>
            </a:solidFill>
            <a:prstDash val="solid"/>
            <a:tailEnd type="triangle"/>
          </a:ln>
        </p:spPr>
      </p:sp>
      <p:sp>
        <p:nvSpPr>
          <p:cNvPr id="7" name="Text 5"/>
          <p:cNvSpPr txBox="1"/>
          <p:nvPr/>
        </p:nvSpPr>
        <p:spPr>
          <a:xfrm>
            <a:off x="1965960" y="2148840"/>
            <a:ext cx="1097280" cy="274320"/>
          </a:xfrm>
          <a:prstGeom prst="rect">
            <a:avLst/>
          </a:prstGeom>
          <a:noFill/>
          <a:ln/>
        </p:spPr>
        <p:txBody>
          <a:bodyPr wrap="square" lIns="0" tIns="0" rIns="0" bIns="0" rtlCol="0" anchor="ctr"/>
          <a:lstStyle/>
          <a:p>
            <a:pPr indent="0" marL="0">
              <a:buNone/>
            </a:pPr>
            <a:r>
              <a:rPr lang="en-US" sz="1000" i="1" dirty="0">
                <a:solidFill>
                  <a:srgbClr val="6E7681"/>
                </a:solidFill>
                <a:latin typeface="Calibri" pitchFamily="34" charset="0"/>
                <a:ea typeface="Calibri" pitchFamily="34" charset="-122"/>
                <a:cs typeface="Calibri" pitchFamily="34" charset="-120"/>
              </a:rPr>
              <a:t>creates</a:t>
            </a:r>
            <a:endParaRPr lang="en-US" sz="1000" dirty="0"/>
          </a:p>
        </p:txBody>
      </p:sp>
      <p:sp>
        <p:nvSpPr>
          <p:cNvPr id="8" name="Shape 6"/>
          <p:cNvSpPr/>
          <p:nvPr/>
        </p:nvSpPr>
        <p:spPr>
          <a:xfrm>
            <a:off x="548640" y="2377440"/>
            <a:ext cx="2468880" cy="594360"/>
          </a:xfrm>
          <a:prstGeom prst="roundRect">
            <a:avLst>
              <a:gd name="adj" fmla="val 12308"/>
            </a:avLst>
          </a:prstGeom>
          <a:solidFill>
            <a:srgbClr val="1C2129"/>
          </a:solidFill>
          <a:ln w="12700">
            <a:solidFill>
              <a:srgbClr val="FFD43B"/>
            </a:solidFill>
            <a:prstDash val="solid"/>
          </a:ln>
        </p:spPr>
      </p:sp>
      <p:sp>
        <p:nvSpPr>
          <p:cNvPr id="9" name="Text 7"/>
          <p:cNvSpPr txBox="1"/>
          <p:nvPr/>
        </p:nvSpPr>
        <p:spPr>
          <a:xfrm>
            <a:off x="548640" y="2377440"/>
            <a:ext cx="2468880" cy="594360"/>
          </a:xfrm>
          <a:prstGeom prst="rect">
            <a:avLst/>
          </a:prstGeom>
          <a:noFill/>
          <a:ln/>
        </p:spPr>
        <p:txBody>
          <a:bodyPr wrap="square" lIns="0" tIns="0" rIns="0" bIns="0" rtlCol="0" anchor="ctr"/>
          <a:lstStyle/>
          <a:p>
            <a:pPr algn="ctr" indent="0" marL="0">
              <a:buNone/>
            </a:pPr>
            <a:r>
              <a:rPr lang="en-US" sz="1350" b="1" dirty="0">
                <a:solidFill>
                  <a:srgbClr val="E6EDF3"/>
                </a:solidFill>
                <a:latin typeface="Courier New" pitchFamily="34" charset="0"/>
                <a:ea typeface="Courier New" pitchFamily="34" charset="-122"/>
                <a:cs typeface="Courier New" pitchFamily="34" charset="-120"/>
              </a:rPr>
              <a:t>object</a:t>
            </a:r>
            <a:endParaRPr lang="en-US" sz="1350" dirty="0"/>
          </a:p>
        </p:txBody>
      </p:sp>
      <p:sp>
        <p:nvSpPr>
          <p:cNvPr id="10" name="Shape 8"/>
          <p:cNvSpPr/>
          <p:nvPr/>
        </p:nvSpPr>
        <p:spPr>
          <a:xfrm>
            <a:off x="1783080" y="2971800"/>
            <a:ext cx="-822960" cy="457200"/>
          </a:xfrm>
          <a:prstGeom prst="line">
            <a:avLst/>
          </a:prstGeom>
          <a:noFill/>
          <a:ln w="15875">
            <a:solidFill>
              <a:srgbClr val="6E7681"/>
            </a:solidFill>
            <a:prstDash val="solid"/>
            <a:tailEnd type="triangle"/>
          </a:ln>
        </p:spPr>
      </p:sp>
      <p:sp>
        <p:nvSpPr>
          <p:cNvPr id="11" name="Shape 9"/>
          <p:cNvSpPr/>
          <p:nvPr/>
        </p:nvSpPr>
        <p:spPr>
          <a:xfrm>
            <a:off x="1783080" y="2971800"/>
            <a:ext cx="822960" cy="457200"/>
          </a:xfrm>
          <a:prstGeom prst="line">
            <a:avLst/>
          </a:prstGeom>
          <a:noFill/>
          <a:ln w="15875">
            <a:solidFill>
              <a:srgbClr val="6E7681"/>
            </a:solidFill>
            <a:prstDash val="solid"/>
            <a:tailEnd type="triangle"/>
          </a:ln>
        </p:spPr>
      </p:sp>
      <p:sp>
        <p:nvSpPr>
          <p:cNvPr id="12" name="Shape 10"/>
          <p:cNvSpPr/>
          <p:nvPr/>
        </p:nvSpPr>
        <p:spPr>
          <a:xfrm>
            <a:off x="45720" y="3566160"/>
            <a:ext cx="1737360" cy="777240"/>
          </a:xfrm>
          <a:prstGeom prst="roundRect">
            <a:avLst>
              <a:gd name="adj" fmla="val 9412"/>
            </a:avLst>
          </a:prstGeom>
          <a:solidFill>
            <a:srgbClr val="161B22"/>
          </a:solidFill>
          <a:ln w="12700">
            <a:solidFill>
              <a:srgbClr val="30363D"/>
            </a:solidFill>
            <a:prstDash val="solid"/>
          </a:ln>
        </p:spPr>
      </p:sp>
      <p:sp>
        <p:nvSpPr>
          <p:cNvPr id="13" name="Text 11"/>
          <p:cNvSpPr txBox="1"/>
          <p:nvPr/>
        </p:nvSpPr>
        <p:spPr>
          <a:xfrm>
            <a:off x="45720" y="3639312"/>
            <a:ext cx="1737360" cy="274320"/>
          </a:xfrm>
          <a:prstGeom prst="rect">
            <a:avLst/>
          </a:prstGeom>
          <a:noFill/>
          <a:ln/>
        </p:spPr>
        <p:txBody>
          <a:bodyPr wrap="square" lIns="0" tIns="0" rIns="0" bIns="0" rtlCol="0" anchor="ctr"/>
          <a:lstStyle/>
          <a:p>
            <a:pPr algn="ctr" indent="0" marL="0">
              <a:buNone/>
            </a:pPr>
            <a:r>
              <a:rPr lang="en-US" sz="1100" b="1" dirty="0">
                <a:solidFill>
                  <a:srgbClr val="58A6FF"/>
                </a:solidFill>
                <a:latin typeface="Courier New" pitchFamily="34" charset="0"/>
                <a:ea typeface="Courier New" pitchFamily="34" charset="-122"/>
                <a:cs typeface="Courier New" pitchFamily="34" charset="-120"/>
              </a:rPr>
              <a:t>STATE</a:t>
            </a:r>
            <a:endParaRPr lang="en-US" sz="1100" dirty="0"/>
          </a:p>
        </p:txBody>
      </p:sp>
      <p:sp>
        <p:nvSpPr>
          <p:cNvPr id="14" name="Text 12"/>
          <p:cNvSpPr txBox="1"/>
          <p:nvPr/>
        </p:nvSpPr>
        <p:spPr>
          <a:xfrm>
            <a:off x="45720" y="3913632"/>
            <a:ext cx="1737360" cy="274320"/>
          </a:xfrm>
          <a:prstGeom prst="rect">
            <a:avLst/>
          </a:prstGeom>
          <a:noFill/>
          <a:ln/>
        </p:spPr>
        <p:txBody>
          <a:bodyPr wrap="square" lIns="0" tIns="0" rIns="0" bIns="0" rtlCol="0" anchor="ctr"/>
          <a:lstStyle/>
          <a:p>
            <a:pPr algn="ctr" indent="0" marL="0">
              <a:buNone/>
            </a:pPr>
            <a:r>
              <a:rPr lang="en-US" sz="1050" dirty="0">
                <a:solidFill>
                  <a:srgbClr val="8B949E"/>
                </a:solidFill>
                <a:latin typeface="Calibri" pitchFamily="34" charset="0"/>
                <a:ea typeface="Calibri" pitchFamily="34" charset="-122"/>
                <a:cs typeface="Calibri" pitchFamily="34" charset="-120"/>
              </a:rPr>
              <a:t>instance attrs</a:t>
            </a:r>
            <a:endParaRPr lang="en-US" sz="1050" dirty="0"/>
          </a:p>
        </p:txBody>
      </p:sp>
      <p:sp>
        <p:nvSpPr>
          <p:cNvPr id="15" name="Shape 13"/>
          <p:cNvSpPr/>
          <p:nvPr/>
        </p:nvSpPr>
        <p:spPr>
          <a:xfrm>
            <a:off x="1828800" y="3566160"/>
            <a:ext cx="1737360" cy="777240"/>
          </a:xfrm>
          <a:prstGeom prst="roundRect">
            <a:avLst>
              <a:gd name="adj" fmla="val 9412"/>
            </a:avLst>
          </a:prstGeom>
          <a:solidFill>
            <a:srgbClr val="161B22"/>
          </a:solidFill>
          <a:ln w="12700">
            <a:solidFill>
              <a:srgbClr val="30363D"/>
            </a:solidFill>
            <a:prstDash val="solid"/>
          </a:ln>
        </p:spPr>
      </p:sp>
      <p:sp>
        <p:nvSpPr>
          <p:cNvPr id="16" name="Text 14"/>
          <p:cNvSpPr txBox="1"/>
          <p:nvPr/>
        </p:nvSpPr>
        <p:spPr>
          <a:xfrm>
            <a:off x="1828800" y="3639312"/>
            <a:ext cx="1737360" cy="274320"/>
          </a:xfrm>
          <a:prstGeom prst="rect">
            <a:avLst/>
          </a:prstGeom>
          <a:noFill/>
          <a:ln/>
        </p:spPr>
        <p:txBody>
          <a:bodyPr wrap="square" lIns="0" tIns="0" rIns="0" bIns="0" rtlCol="0" anchor="ctr"/>
          <a:lstStyle/>
          <a:p>
            <a:pPr algn="ctr" indent="0" marL="0">
              <a:buNone/>
            </a:pPr>
            <a:r>
              <a:rPr lang="en-US" sz="1100" b="1" dirty="0">
                <a:solidFill>
                  <a:srgbClr val="3FB950"/>
                </a:solidFill>
                <a:latin typeface="Courier New" pitchFamily="34" charset="0"/>
                <a:ea typeface="Courier New" pitchFamily="34" charset="-122"/>
                <a:cs typeface="Courier New" pitchFamily="34" charset="-120"/>
              </a:rPr>
              <a:t>BEHAVIOR</a:t>
            </a:r>
            <a:endParaRPr lang="en-US" sz="1100" dirty="0"/>
          </a:p>
        </p:txBody>
      </p:sp>
      <p:sp>
        <p:nvSpPr>
          <p:cNvPr id="17" name="Text 15"/>
          <p:cNvSpPr txBox="1"/>
          <p:nvPr/>
        </p:nvSpPr>
        <p:spPr>
          <a:xfrm>
            <a:off x="1828800" y="3913632"/>
            <a:ext cx="1737360" cy="274320"/>
          </a:xfrm>
          <a:prstGeom prst="rect">
            <a:avLst/>
          </a:prstGeom>
          <a:noFill/>
          <a:ln/>
        </p:spPr>
        <p:txBody>
          <a:bodyPr wrap="square" lIns="0" tIns="0" rIns="0" bIns="0" rtlCol="0" anchor="ctr"/>
          <a:lstStyle/>
          <a:p>
            <a:pPr algn="ctr" indent="0" marL="0">
              <a:buNone/>
            </a:pPr>
            <a:r>
              <a:rPr lang="en-US" sz="1050" dirty="0">
                <a:solidFill>
                  <a:srgbClr val="8B949E"/>
                </a:solidFill>
                <a:latin typeface="Calibri" pitchFamily="34" charset="0"/>
                <a:ea typeface="Calibri" pitchFamily="34" charset="-122"/>
                <a:cs typeface="Calibri" pitchFamily="34" charset="-120"/>
              </a:rPr>
              <a:t>instance methods</a:t>
            </a:r>
            <a:endParaRPr lang="en-US" sz="1050" dirty="0"/>
          </a:p>
        </p:txBody>
      </p:sp>
      <p:sp>
        <p:nvSpPr>
          <p:cNvPr id="18" name="Text 16"/>
          <p:cNvSpPr txBox="1"/>
          <p:nvPr/>
        </p:nvSpPr>
        <p:spPr>
          <a:xfrm>
            <a:off x="45720" y="4572000"/>
            <a:ext cx="3520440" cy="731520"/>
          </a:xfrm>
          <a:prstGeom prst="rect">
            <a:avLst/>
          </a:prstGeom>
          <a:noFill/>
          <a:ln/>
        </p:spPr>
        <p:txBody>
          <a:bodyPr wrap="square" lIns="0" tIns="0" rIns="0" bIns="0" rtlCol="0" anchor="ctr"/>
          <a:lstStyle/>
          <a:p>
            <a:pPr indent="0" marL="0">
              <a:buNone/>
            </a:pPr>
            <a:r>
              <a:rPr lang="en-US" sz="1150" i="1" dirty="0">
                <a:solidFill>
                  <a:srgbClr val="8B949E"/>
                </a:solidFill>
                <a:latin typeface="Calibri" pitchFamily="34" charset="0"/>
                <a:ea typeface="Calibri" pitchFamily="34" charset="-122"/>
                <a:cs typeface="Calibri" pitchFamily="34" charset="-120"/>
              </a:rPr>
              <a:t>self → the current instance, used everywhere inside methods to refer</a:t>
            </a:r>
            <a:endParaRPr lang="en-US" sz="1150" dirty="0"/>
          </a:p>
          <a:p>
            <a:pPr indent="0" marL="0">
              <a:buNone/>
            </a:pPr>
            <a:r>
              <a:rPr lang="en-US" sz="1150" i="1" dirty="0">
                <a:solidFill>
                  <a:srgbClr val="8B949E"/>
                </a:solidFill>
                <a:latin typeface="Calibri" pitchFamily="34" charset="0"/>
                <a:ea typeface="Calibri" pitchFamily="34" charset="-122"/>
                <a:cs typeface="Calibri" pitchFamily="34" charset="-120"/>
              </a:rPr>
              <a:t>back to whichever object made the call.</a:t>
            </a:r>
            <a:endParaRPr lang="en-US" sz="1150" dirty="0"/>
          </a:p>
        </p:txBody>
      </p:sp>
      <p:sp>
        <p:nvSpPr>
          <p:cNvPr id="19" name="Shape 17"/>
          <p:cNvSpPr/>
          <p:nvPr/>
        </p:nvSpPr>
        <p:spPr>
          <a:xfrm>
            <a:off x="4663440" y="1508760"/>
            <a:ext cx="3474720" cy="1024128"/>
          </a:xfrm>
          <a:prstGeom prst="roundRect">
            <a:avLst>
              <a:gd name="adj" fmla="val 7143"/>
            </a:avLst>
          </a:prstGeom>
          <a:solidFill>
            <a:srgbClr val="161B22"/>
          </a:solidFill>
          <a:ln w="12700">
            <a:solidFill>
              <a:srgbClr val="30363D"/>
            </a:solidFill>
            <a:prstDash val="solid"/>
          </a:ln>
        </p:spPr>
      </p:sp>
      <p:sp>
        <p:nvSpPr>
          <p:cNvPr id="20" name="Text 18"/>
          <p:cNvSpPr txBox="1"/>
          <p:nvPr/>
        </p:nvSpPr>
        <p:spPr>
          <a:xfrm>
            <a:off x="4846320" y="1636776"/>
            <a:ext cx="3108960" cy="292608"/>
          </a:xfrm>
          <a:prstGeom prst="rect">
            <a:avLst/>
          </a:prstGeom>
          <a:noFill/>
          <a:ln/>
        </p:spPr>
        <p:txBody>
          <a:bodyPr wrap="square" lIns="0" tIns="0" rIns="0" bIns="0" rtlCol="0" anchor="ctr"/>
          <a:lstStyle/>
          <a:p>
            <a:pPr indent="0" marL="0">
              <a:buNone/>
            </a:pPr>
            <a:r>
              <a:rPr lang="en-US" sz="1300" b="1" dirty="0">
                <a:solidFill>
                  <a:srgbClr val="FFD43B"/>
                </a:solidFill>
                <a:latin typeface="Courier New" pitchFamily="34" charset="0"/>
                <a:ea typeface="Courier New" pitchFamily="34" charset="-122"/>
                <a:cs typeface="Courier New" pitchFamily="34" charset="-120"/>
              </a:rPr>
              <a:t>Class Attribute</a:t>
            </a:r>
            <a:endParaRPr lang="en-US" sz="1300" dirty="0"/>
          </a:p>
        </p:txBody>
      </p:sp>
      <p:sp>
        <p:nvSpPr>
          <p:cNvPr id="21" name="Text 19"/>
          <p:cNvSpPr txBox="1"/>
          <p:nvPr/>
        </p:nvSpPr>
        <p:spPr>
          <a:xfrm>
            <a:off x="4846320" y="1965960"/>
            <a:ext cx="3108960" cy="502920"/>
          </a:xfrm>
          <a:prstGeom prst="rect">
            <a:avLst/>
          </a:prstGeom>
          <a:noFill/>
          <a:ln/>
        </p:spPr>
        <p:txBody>
          <a:bodyPr wrap="square" lIns="0" tIns="0" rIns="0" bIns="0" rtlCol="0" anchor="ctr"/>
          <a:lstStyle/>
          <a:p>
            <a:pPr indent="0" marL="0">
              <a:buNone/>
            </a:pPr>
            <a:r>
              <a:rPr lang="en-US" sz="1150" dirty="0">
                <a:solidFill>
                  <a:srgbClr val="8B949E"/>
                </a:solidFill>
                <a:latin typeface="Calibri" pitchFamily="34" charset="0"/>
                <a:ea typeface="Calibri" pitchFamily="34" charset="-122"/>
                <a:cs typeface="Calibri" pitchFamily="34" charset="-120"/>
              </a:rPr>
              <a:t>shared class-level information</a:t>
            </a:r>
            <a:endParaRPr lang="en-US" sz="1150" dirty="0"/>
          </a:p>
        </p:txBody>
      </p:sp>
      <p:sp>
        <p:nvSpPr>
          <p:cNvPr id="22" name="Shape 20"/>
          <p:cNvSpPr/>
          <p:nvPr/>
        </p:nvSpPr>
        <p:spPr>
          <a:xfrm>
            <a:off x="4663440" y="2715768"/>
            <a:ext cx="3474720" cy="1024128"/>
          </a:xfrm>
          <a:prstGeom prst="roundRect">
            <a:avLst>
              <a:gd name="adj" fmla="val 7143"/>
            </a:avLst>
          </a:prstGeom>
          <a:solidFill>
            <a:srgbClr val="161B22"/>
          </a:solidFill>
          <a:ln w="12700">
            <a:solidFill>
              <a:srgbClr val="30363D"/>
            </a:solidFill>
            <a:prstDash val="solid"/>
          </a:ln>
        </p:spPr>
      </p:sp>
      <p:sp>
        <p:nvSpPr>
          <p:cNvPr id="23" name="Text 21"/>
          <p:cNvSpPr txBox="1"/>
          <p:nvPr/>
        </p:nvSpPr>
        <p:spPr>
          <a:xfrm>
            <a:off x="4846320" y="2843784"/>
            <a:ext cx="3108960" cy="292608"/>
          </a:xfrm>
          <a:prstGeom prst="rect">
            <a:avLst/>
          </a:prstGeom>
          <a:noFill/>
          <a:ln/>
        </p:spPr>
        <p:txBody>
          <a:bodyPr wrap="square" lIns="0" tIns="0" rIns="0" bIns="0" rtlCol="0" anchor="ctr"/>
          <a:lstStyle/>
          <a:p>
            <a:pPr indent="0" marL="0">
              <a:buNone/>
            </a:pPr>
            <a:r>
              <a:rPr lang="en-US" sz="1300" b="1" dirty="0">
                <a:solidFill>
                  <a:srgbClr val="58A6FF"/>
                </a:solidFill>
                <a:latin typeface="Courier New" pitchFamily="34" charset="0"/>
                <a:ea typeface="Courier New" pitchFamily="34" charset="-122"/>
                <a:cs typeface="Courier New" pitchFamily="34" charset="-120"/>
              </a:rPr>
              <a:t>Class Method</a:t>
            </a:r>
            <a:endParaRPr lang="en-US" sz="1300" dirty="0"/>
          </a:p>
        </p:txBody>
      </p:sp>
      <p:sp>
        <p:nvSpPr>
          <p:cNvPr id="24" name="Text 22"/>
          <p:cNvSpPr txBox="1"/>
          <p:nvPr/>
        </p:nvSpPr>
        <p:spPr>
          <a:xfrm>
            <a:off x="4846320" y="3172968"/>
            <a:ext cx="3108960" cy="502920"/>
          </a:xfrm>
          <a:prstGeom prst="rect">
            <a:avLst/>
          </a:prstGeom>
          <a:noFill/>
          <a:ln/>
        </p:spPr>
        <p:txBody>
          <a:bodyPr wrap="square" lIns="0" tIns="0" rIns="0" bIns="0" rtlCol="0" anchor="ctr"/>
          <a:lstStyle/>
          <a:p>
            <a:pPr indent="0" marL="0">
              <a:buNone/>
            </a:pPr>
            <a:r>
              <a:rPr lang="en-US" sz="1150" dirty="0">
                <a:solidFill>
                  <a:srgbClr val="8B949E"/>
                </a:solidFill>
                <a:latin typeface="Calibri" pitchFamily="34" charset="0"/>
                <a:ea typeface="Calibri" pitchFamily="34" charset="-122"/>
                <a:cs typeface="Calibri" pitchFamily="34" charset="-120"/>
              </a:rPr>
              <a:t>@classmethod — works with the class</a:t>
            </a:r>
            <a:endParaRPr lang="en-US" sz="1150" dirty="0"/>
          </a:p>
        </p:txBody>
      </p:sp>
      <p:sp>
        <p:nvSpPr>
          <p:cNvPr id="25" name="Shape 23"/>
          <p:cNvSpPr/>
          <p:nvPr/>
        </p:nvSpPr>
        <p:spPr>
          <a:xfrm>
            <a:off x="4663440" y="3922776"/>
            <a:ext cx="3474720" cy="1024128"/>
          </a:xfrm>
          <a:prstGeom prst="roundRect">
            <a:avLst>
              <a:gd name="adj" fmla="val 7143"/>
            </a:avLst>
          </a:prstGeom>
          <a:solidFill>
            <a:srgbClr val="161B22"/>
          </a:solidFill>
          <a:ln w="12700">
            <a:solidFill>
              <a:srgbClr val="30363D"/>
            </a:solidFill>
            <a:prstDash val="solid"/>
          </a:ln>
        </p:spPr>
      </p:sp>
      <p:sp>
        <p:nvSpPr>
          <p:cNvPr id="26" name="Text 24"/>
          <p:cNvSpPr txBox="1"/>
          <p:nvPr/>
        </p:nvSpPr>
        <p:spPr>
          <a:xfrm>
            <a:off x="4846320" y="4050792"/>
            <a:ext cx="3108960" cy="292608"/>
          </a:xfrm>
          <a:prstGeom prst="rect">
            <a:avLst/>
          </a:prstGeom>
          <a:noFill/>
          <a:ln/>
        </p:spPr>
        <p:txBody>
          <a:bodyPr wrap="square" lIns="0" tIns="0" rIns="0" bIns="0" rtlCol="0" anchor="ctr"/>
          <a:lstStyle/>
          <a:p>
            <a:pPr indent="0" marL="0">
              <a:buNone/>
            </a:pPr>
            <a:r>
              <a:rPr lang="en-US" sz="1300" b="1" dirty="0">
                <a:solidFill>
                  <a:srgbClr val="3FB950"/>
                </a:solidFill>
                <a:latin typeface="Courier New" pitchFamily="34" charset="0"/>
                <a:ea typeface="Courier New" pitchFamily="34" charset="-122"/>
                <a:cs typeface="Courier New" pitchFamily="34" charset="-120"/>
              </a:rPr>
              <a:t>Static Method</a:t>
            </a:r>
            <a:endParaRPr lang="en-US" sz="1300" dirty="0"/>
          </a:p>
        </p:txBody>
      </p:sp>
      <p:sp>
        <p:nvSpPr>
          <p:cNvPr id="27" name="Text 25"/>
          <p:cNvSpPr txBox="1"/>
          <p:nvPr/>
        </p:nvSpPr>
        <p:spPr>
          <a:xfrm>
            <a:off x="4846320" y="4379976"/>
            <a:ext cx="3108960" cy="502920"/>
          </a:xfrm>
          <a:prstGeom prst="rect">
            <a:avLst/>
          </a:prstGeom>
          <a:noFill/>
          <a:ln/>
        </p:spPr>
        <p:txBody>
          <a:bodyPr wrap="square" lIns="0" tIns="0" rIns="0" bIns="0" rtlCol="0" anchor="ctr"/>
          <a:lstStyle/>
          <a:p>
            <a:pPr indent="0" marL="0">
              <a:buNone/>
            </a:pPr>
            <a:r>
              <a:rPr lang="en-US" sz="1150" dirty="0">
                <a:solidFill>
                  <a:srgbClr val="8B949E"/>
                </a:solidFill>
                <a:latin typeface="Calibri" pitchFamily="34" charset="0"/>
                <a:ea typeface="Calibri" pitchFamily="34" charset="-122"/>
                <a:cs typeface="Calibri" pitchFamily="34" charset="-120"/>
              </a:rPr>
              <a:t>@staticmethod — utility logic related to the class</a:t>
            </a:r>
            <a:endParaRPr lang="en-US" sz="1150" dirty="0"/>
          </a:p>
        </p:txBody>
      </p:sp>
      <p:sp>
        <p:nvSpPr>
          <p:cNvPr id="28" name="Shape 26"/>
          <p:cNvSpPr/>
          <p:nvPr/>
        </p:nvSpPr>
        <p:spPr>
          <a:xfrm>
            <a:off x="4663440" y="5129784"/>
            <a:ext cx="3474720" cy="1024128"/>
          </a:xfrm>
          <a:prstGeom prst="roundRect">
            <a:avLst>
              <a:gd name="adj" fmla="val 7143"/>
            </a:avLst>
          </a:prstGeom>
          <a:solidFill>
            <a:srgbClr val="161B22"/>
          </a:solidFill>
          <a:ln w="12700">
            <a:solidFill>
              <a:srgbClr val="30363D"/>
            </a:solidFill>
            <a:prstDash val="solid"/>
          </a:ln>
        </p:spPr>
      </p:sp>
      <p:sp>
        <p:nvSpPr>
          <p:cNvPr id="29" name="Text 27"/>
          <p:cNvSpPr txBox="1"/>
          <p:nvPr/>
        </p:nvSpPr>
        <p:spPr>
          <a:xfrm>
            <a:off x="4846320" y="5257800"/>
            <a:ext cx="3108960" cy="292608"/>
          </a:xfrm>
          <a:prstGeom prst="rect">
            <a:avLst/>
          </a:prstGeom>
          <a:noFill/>
          <a:ln/>
        </p:spPr>
        <p:txBody>
          <a:bodyPr wrap="square" lIns="0" tIns="0" rIns="0" bIns="0" rtlCol="0" anchor="ctr"/>
          <a:lstStyle/>
          <a:p>
            <a:pPr indent="0" marL="0">
              <a:buNone/>
            </a:pPr>
            <a:r>
              <a:rPr lang="en-US" sz="1300" b="1" dirty="0">
                <a:solidFill>
                  <a:srgbClr val="4B8BBE"/>
                </a:solidFill>
                <a:latin typeface="Courier New" pitchFamily="34" charset="0"/>
                <a:ea typeface="Courier New" pitchFamily="34" charset="-122"/>
                <a:cs typeface="Courier New" pitchFamily="34" charset="-120"/>
              </a:rPr>
              <a:t>Constructor</a:t>
            </a:r>
            <a:endParaRPr lang="en-US" sz="1300" dirty="0"/>
          </a:p>
        </p:txBody>
      </p:sp>
      <p:sp>
        <p:nvSpPr>
          <p:cNvPr id="30" name="Text 28"/>
          <p:cNvSpPr txBox="1"/>
          <p:nvPr/>
        </p:nvSpPr>
        <p:spPr>
          <a:xfrm>
            <a:off x="4846320" y="5586984"/>
            <a:ext cx="3108960" cy="502920"/>
          </a:xfrm>
          <a:prstGeom prst="rect">
            <a:avLst/>
          </a:prstGeom>
          <a:noFill/>
          <a:ln/>
        </p:spPr>
        <p:txBody>
          <a:bodyPr wrap="square" lIns="0" tIns="0" rIns="0" bIns="0" rtlCol="0" anchor="ctr"/>
          <a:lstStyle/>
          <a:p>
            <a:pPr indent="0" marL="0">
              <a:buNone/>
            </a:pPr>
            <a:r>
              <a:rPr lang="en-US" sz="1150" dirty="0">
                <a:solidFill>
                  <a:srgbClr val="8B949E"/>
                </a:solidFill>
                <a:latin typeface="Calibri" pitchFamily="34" charset="0"/>
                <a:ea typeface="Calibri" pitchFamily="34" charset="-122"/>
                <a:cs typeface="Calibri" pitchFamily="34" charset="-120"/>
              </a:rPr>
              <a:t>__init__() initializes a new object</a:t>
            </a:r>
            <a:endParaRPr lang="en-US" sz="1150" dirty="0"/>
          </a:p>
        </p:txBody>
      </p:sp>
      <p:sp>
        <p:nvSpPr>
          <p:cNvPr id="31" name="Shape 29"/>
          <p:cNvSpPr/>
          <p:nvPr/>
        </p:nvSpPr>
        <p:spPr>
          <a:xfrm>
            <a:off x="8503920" y="1508760"/>
            <a:ext cx="3139135" cy="1463040"/>
          </a:xfrm>
          <a:prstGeom prst="roundRect">
            <a:avLst>
              <a:gd name="adj" fmla="val 5000"/>
            </a:avLst>
          </a:prstGeom>
          <a:solidFill>
            <a:srgbClr val="1C2129"/>
          </a:solidFill>
          <a:ln w="12700">
            <a:solidFill>
              <a:srgbClr val="30363D"/>
            </a:solidFill>
            <a:prstDash val="solid"/>
          </a:ln>
        </p:spPr>
      </p:sp>
      <p:sp>
        <p:nvSpPr>
          <p:cNvPr id="32" name="Text 30"/>
          <p:cNvSpPr txBox="1"/>
          <p:nvPr/>
        </p:nvSpPr>
        <p:spPr>
          <a:xfrm>
            <a:off x="8686800" y="1645920"/>
            <a:ext cx="2773375" cy="365760"/>
          </a:xfrm>
          <a:prstGeom prst="rect">
            <a:avLst/>
          </a:prstGeom>
          <a:noFill/>
          <a:ln/>
        </p:spPr>
        <p:txBody>
          <a:bodyPr wrap="square" lIns="0" tIns="0" rIns="0" bIns="0" rtlCol="0" anchor="ctr"/>
          <a:lstStyle/>
          <a:p>
            <a:pPr indent="0" marL="0">
              <a:buNone/>
            </a:pPr>
            <a:r>
              <a:rPr lang="en-US" sz="1500" b="1" dirty="0">
                <a:solidFill>
                  <a:srgbClr val="FFD43B"/>
                </a:solidFill>
                <a:latin typeface="Courier New" pitchFamily="34" charset="0"/>
                <a:ea typeface="Courier New" pitchFamily="34" charset="-122"/>
                <a:cs typeface="Courier New" pitchFamily="34" charset="-120"/>
              </a:rPr>
              <a:t>self</a:t>
            </a:r>
            <a:pPr indent="0" marL="0">
              <a:buNone/>
            </a:pPr>
            <a:r>
              <a:rPr lang="en-US" sz="1200" dirty="0">
                <a:solidFill>
                  <a:srgbClr val="E6EDF3"/>
                </a:solidFill>
              </a:rPr>
              <a:t>  current object</a:t>
            </a:r>
            <a:endParaRPr lang="en-US" sz="1500" dirty="0"/>
          </a:p>
        </p:txBody>
      </p:sp>
      <p:sp>
        <p:nvSpPr>
          <p:cNvPr id="33" name="Text 31"/>
          <p:cNvSpPr txBox="1"/>
          <p:nvPr/>
        </p:nvSpPr>
        <p:spPr>
          <a:xfrm>
            <a:off x="8686800" y="2103120"/>
            <a:ext cx="2773375" cy="365760"/>
          </a:xfrm>
          <a:prstGeom prst="rect">
            <a:avLst/>
          </a:prstGeom>
          <a:noFill/>
          <a:ln/>
        </p:spPr>
        <p:txBody>
          <a:bodyPr wrap="square" lIns="0" tIns="0" rIns="0" bIns="0" rtlCol="0" anchor="ctr"/>
          <a:lstStyle/>
          <a:p>
            <a:pPr indent="0" marL="0">
              <a:buNone/>
            </a:pPr>
            <a:r>
              <a:rPr lang="en-US" sz="1500" b="1" dirty="0">
                <a:solidFill>
                  <a:srgbClr val="58A6FF"/>
                </a:solidFill>
                <a:latin typeface="Courier New" pitchFamily="34" charset="0"/>
                <a:ea typeface="Courier New" pitchFamily="34" charset="-122"/>
                <a:cs typeface="Courier New" pitchFamily="34" charset="-120"/>
              </a:rPr>
              <a:t>cls</a:t>
            </a:r>
            <a:pPr indent="0" marL="0">
              <a:buNone/>
            </a:pPr>
            <a:r>
              <a:rPr lang="en-US" sz="1200" dirty="0">
                <a:solidFill>
                  <a:srgbClr val="E6EDF3"/>
                </a:solidFill>
              </a:rPr>
              <a:t>  current class</a:t>
            </a:r>
            <a:endParaRPr lang="en-US" sz="1500" dirty="0"/>
          </a:p>
        </p:txBody>
      </p:sp>
      <p:sp>
        <p:nvSpPr>
          <p:cNvPr id="34" name="Text 32"/>
          <p:cNvSpPr txBox="1"/>
          <p:nvPr/>
        </p:nvSpPr>
        <p:spPr>
          <a:xfrm>
            <a:off x="8686800" y="2560320"/>
            <a:ext cx="2773375" cy="365760"/>
          </a:xfrm>
          <a:prstGeom prst="rect">
            <a:avLst/>
          </a:prstGeom>
          <a:noFill/>
          <a:ln/>
        </p:spPr>
        <p:txBody>
          <a:bodyPr wrap="square" lIns="0" tIns="0" rIns="0" bIns="0" rtlCol="0" anchor="ctr"/>
          <a:lstStyle/>
          <a:p>
            <a:pPr indent="0" marL="0">
              <a:buNone/>
            </a:pPr>
            <a:r>
              <a:rPr lang="en-US" sz="1400" b="1" dirty="0">
                <a:solidFill>
                  <a:srgbClr val="BC8CFF"/>
                </a:solidFill>
                <a:latin typeface="Courier New" pitchFamily="34" charset="0"/>
                <a:ea typeface="Courier New" pitchFamily="34" charset="-122"/>
                <a:cs typeface="Courier New" pitchFamily="34" charset="-120"/>
              </a:rPr>
              <a:t>__new__()</a:t>
            </a:r>
            <a:pPr indent="0" marL="0">
              <a:buNone/>
            </a:pPr>
            <a:r>
              <a:rPr lang="en-US" sz="1150" dirty="0">
                <a:solidFill>
                  <a:srgbClr val="E6EDF3"/>
                </a:solidFill>
              </a:rPr>
              <a:t>  creates instance</a:t>
            </a:r>
            <a:endParaRPr lang="en-US" sz="1400" dirty="0"/>
          </a:p>
        </p:txBody>
      </p:sp>
      <p:sp>
        <p:nvSpPr>
          <p:cNvPr id="35" name="Shape 33"/>
          <p:cNvSpPr/>
          <p:nvPr/>
        </p:nvSpPr>
        <p:spPr>
          <a:xfrm>
            <a:off x="8503920" y="3154680"/>
            <a:ext cx="3139135" cy="2377440"/>
          </a:xfrm>
          <a:prstGeom prst="roundRect">
            <a:avLst>
              <a:gd name="adj" fmla="val 3077"/>
            </a:avLst>
          </a:prstGeom>
          <a:solidFill>
            <a:srgbClr val="161B22"/>
          </a:solidFill>
          <a:ln w="12700">
            <a:solidFill>
              <a:srgbClr val="30363D"/>
            </a:solidFill>
            <a:prstDash val="solid"/>
          </a:ln>
        </p:spPr>
      </p:sp>
      <p:sp>
        <p:nvSpPr>
          <p:cNvPr id="36" name="Text 34"/>
          <p:cNvSpPr txBox="1"/>
          <p:nvPr/>
        </p:nvSpPr>
        <p:spPr>
          <a:xfrm>
            <a:off x="8686800" y="3291840"/>
            <a:ext cx="2773375" cy="274320"/>
          </a:xfrm>
          <a:prstGeom prst="rect">
            <a:avLst/>
          </a:prstGeom>
          <a:noFill/>
          <a:ln/>
        </p:spPr>
        <p:txBody>
          <a:bodyPr wrap="square" lIns="0" tIns="0" rIns="0" bIns="0" rtlCol="0" anchor="ctr"/>
          <a:lstStyle/>
          <a:p>
            <a:pPr indent="0" marL="0">
              <a:buNone/>
            </a:pPr>
            <a:r>
              <a:rPr lang="en-US" sz="1150" b="1" dirty="0">
                <a:solidFill>
                  <a:srgbClr val="8B949E"/>
                </a:solidFill>
                <a:latin typeface="Courier New" pitchFamily="34" charset="0"/>
                <a:ea typeface="Courier New" pitchFamily="34" charset="-122"/>
                <a:cs typeface="Courier New" pitchFamily="34" charset="-120"/>
              </a:rPr>
              <a:t>One mental model:</a:t>
            </a:r>
            <a:endParaRPr lang="en-US" sz="1150" dirty="0"/>
          </a:p>
        </p:txBody>
      </p:sp>
      <p:sp>
        <p:nvSpPr>
          <p:cNvPr id="37" name="Text 35"/>
          <p:cNvSpPr txBox="1"/>
          <p:nvPr/>
        </p:nvSpPr>
        <p:spPr>
          <a:xfrm>
            <a:off x="8686800" y="3611880"/>
            <a:ext cx="2773375" cy="1828800"/>
          </a:xfrm>
          <a:prstGeom prst="rect">
            <a:avLst/>
          </a:prstGeom>
          <a:noFill/>
          <a:ln/>
        </p:spPr>
        <p:txBody>
          <a:bodyPr wrap="square" lIns="0" tIns="0" rIns="0" bIns="0" rtlCol="0" anchor="ctr"/>
          <a:lstStyle/>
          <a:p>
            <a:pPr indent="0" marL="0">
              <a:lnSpc>
                <a:spcPts val="2100"/>
              </a:lnSpc>
              <a:buNone/>
            </a:pPr>
            <a:r>
              <a:rPr lang="en-US" sz="1250" dirty="0">
                <a:solidFill>
                  <a:srgbClr val="E6EDF3"/>
                </a:solidFill>
                <a:latin typeface="Calibri" pitchFamily="34" charset="0"/>
                <a:ea typeface="Calibri" pitchFamily="34" charset="-122"/>
                <a:cs typeface="Calibri" pitchFamily="34" charset="-120"/>
              </a:rPr>
              <a:t>A class defines structure.</a:t>
            </a:r>
            <a:endParaRPr lang="en-US" sz="1250" dirty="0"/>
          </a:p>
          <a:p>
            <a:pPr indent="0" marL="0">
              <a:lnSpc>
                <a:spcPts val="2100"/>
              </a:lnSpc>
              <a:buNone/>
            </a:pPr>
            <a:r>
              <a:rPr lang="en-US" sz="1250" dirty="0">
                <a:solidFill>
                  <a:srgbClr val="E6EDF3"/>
                </a:solidFill>
                <a:latin typeface="Calibri" pitchFamily="34" charset="0"/>
                <a:ea typeface="Calibri" pitchFamily="34" charset="-122"/>
                <a:cs typeface="Calibri" pitchFamily="34" charset="-120"/>
              </a:rPr>
              <a:t>An object carries state.</a:t>
            </a:r>
            <a:endParaRPr lang="en-US" sz="1250" dirty="0"/>
          </a:p>
          <a:p>
            <a:pPr indent="0" marL="0">
              <a:lnSpc>
                <a:spcPts val="2100"/>
              </a:lnSpc>
              <a:buNone/>
            </a:pPr>
            <a:r>
              <a:rPr lang="en-US" sz="1250" dirty="0">
                <a:solidFill>
                  <a:srgbClr val="E6EDF3"/>
                </a:solidFill>
                <a:latin typeface="Calibri" pitchFamily="34" charset="0"/>
                <a:ea typeface="Calibri" pitchFamily="34" charset="-122"/>
                <a:cs typeface="Calibri" pitchFamily="34" charset="-120"/>
              </a:rPr>
              <a:t>Methods define behavior.</a:t>
            </a:r>
            <a:endParaRPr lang="en-US" sz="1250" dirty="0"/>
          </a:p>
          <a:p>
            <a:pPr indent="0" marL="0">
              <a:lnSpc>
                <a:spcPts val="2100"/>
              </a:lnSpc>
              <a:buNone/>
            </a:pPr>
            <a:r>
              <a:rPr lang="en-US" sz="1250" dirty="0">
                <a:solidFill>
                  <a:srgbClr val="E6EDF3"/>
                </a:solidFill>
                <a:latin typeface="Calibri" pitchFamily="34" charset="0"/>
                <a:ea typeface="Calibri" pitchFamily="34" charset="-122"/>
                <a:cs typeface="Calibri" pitchFamily="34" charset="-120"/>
              </a:rPr>
              <a:t>Construction wires it all</a:t>
            </a:r>
            <a:endParaRPr lang="en-US" sz="1250" dirty="0"/>
          </a:p>
          <a:p>
            <a:pPr indent="0" marL="0">
              <a:lnSpc>
                <a:spcPts val="2100"/>
              </a:lnSpc>
              <a:buNone/>
            </a:pPr>
            <a:r>
              <a:rPr lang="en-US" sz="1250" dirty="0">
                <a:solidFill>
                  <a:srgbClr val="E6EDF3"/>
                </a:solidFill>
                <a:latin typeface="Calibri" pitchFamily="34" charset="0"/>
                <a:ea typeface="Calibri" pitchFamily="34" charset="-122"/>
                <a:cs typeface="Calibri" pitchFamily="34" charset="-120"/>
              </a:rPr>
              <a:t>together at creation time.</a:t>
            </a:r>
            <a:endParaRPr lang="en-US" sz="1250" dirty="0"/>
          </a:p>
        </p:txBody>
      </p:sp>
      <p:sp>
        <p:nvSpPr>
          <p:cNvPr id="38" name="Text 36"/>
          <p:cNvSpPr txBox="1"/>
          <p:nvPr/>
        </p:nvSpPr>
        <p:spPr>
          <a:xfrm>
            <a:off x="10728655" y="502920"/>
            <a:ext cx="914400" cy="274320"/>
          </a:xfrm>
          <a:prstGeom prst="rect">
            <a:avLst/>
          </a:prstGeom>
          <a:noFill/>
          <a:ln/>
        </p:spPr>
        <p:txBody>
          <a:bodyPr wrap="square" lIns="0" tIns="0" rIns="0" bIns="0" rtlCol="0" anchor="ctr"/>
          <a:lstStyle/>
          <a:p>
            <a:pPr algn="r" indent="0" marL="0">
              <a:buNone/>
            </a:pPr>
            <a:r>
              <a:rPr lang="en-US" sz="900" dirty="0">
                <a:solidFill>
                  <a:srgbClr val="6E7681"/>
                </a:solidFill>
                <a:latin typeface="Courier New" pitchFamily="34" charset="0"/>
                <a:ea typeface="Courier New" pitchFamily="34" charset="-122"/>
                <a:cs typeface="Courier New" pitchFamily="34" charset="-120"/>
              </a:rPr>
              <a:t>13 / 14</a:t>
            </a:r>
            <a:endParaRPr lang="en-US" sz="900" dirty="0"/>
          </a:p>
        </p:txBody>
      </p:sp>
      <p:sp>
        <p:nvSpPr>
          <p:cNvPr id="39" name="Shape 37"/>
          <p:cNvSpPr/>
          <p:nvPr/>
        </p:nvSpPr>
        <p:spPr>
          <a:xfrm>
            <a:off x="9357055" y="6291072"/>
            <a:ext cx="2286000" cy="365760"/>
          </a:xfrm>
          <a:prstGeom prst="roundRect">
            <a:avLst>
              <a:gd name="adj" fmla="val 15000"/>
            </a:avLst>
          </a:prstGeom>
          <a:solidFill>
            <a:srgbClr val="1C2129"/>
          </a:solidFill>
          <a:ln w="9525">
            <a:solidFill>
              <a:srgbClr val="30363D"/>
            </a:solidFill>
            <a:prstDash val="solid"/>
          </a:ln>
        </p:spPr>
      </p:sp>
      <p:sp>
        <p:nvSpPr>
          <p:cNvPr id="40" name="Text 38"/>
          <p:cNvSpPr txBox="1"/>
          <p:nvPr/>
        </p:nvSpPr>
        <p:spPr>
          <a:xfrm>
            <a:off x="9357055" y="6291072"/>
            <a:ext cx="2286000" cy="365760"/>
          </a:xfrm>
          <a:prstGeom prst="rect">
            <a:avLst/>
          </a:prstGeom>
          <a:noFill/>
          <a:ln/>
        </p:spPr>
        <p:txBody>
          <a:bodyPr wrap="square" lIns="0" tIns="0" rIns="0" bIns="0" rtlCol="0" anchor="ctr"/>
          <a:lstStyle/>
          <a:p>
            <a:pPr algn="ctr" indent="0" marL="0">
              <a:buNone/>
            </a:pPr>
            <a:r>
              <a:rPr lang="en-US" sz="1000" dirty="0">
                <a:solidFill>
                  <a:srgbClr val="3FB950"/>
                </a:solidFill>
                <a:latin typeface="Courier New" pitchFamily="34" charset="0"/>
                <a:ea typeface="Courier New" pitchFamily="34" charset="-122"/>
                <a:cs typeface="Courier New" pitchFamily="34" charset="-120"/>
              </a:rPr>
              <a:t>▶ </a:t>
            </a:r>
            <a:pPr algn="ctr" indent="0" marL="0">
              <a:buNone/>
            </a:pPr>
            <a:r>
              <a:rPr lang="en-US" sz="1000" dirty="0">
                <a:solidFill>
                  <a:srgbClr val="8B949E"/>
                </a:solidFill>
                <a:latin typeface="Courier New" pitchFamily="34" charset="0"/>
                <a:ea typeface="Courier New" pitchFamily="34" charset="-122"/>
                <a:cs typeface="Courier New" pitchFamily="34" charset="-120"/>
              </a:rPr>
              <a:t>all demo files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4B8BBE"/>
                </a:solidFill>
                <a:latin typeface="Courier New" pitchFamily="34" charset="0"/>
                <a:ea typeface="Courier New" pitchFamily="34" charset="-122"/>
                <a:cs typeface="Courier New" pitchFamily="34" charset="-120"/>
              </a:rPr>
              <a:t>13 · RECAP</a:t>
            </a:r>
            <a:endParaRPr lang="en-US" sz="1200" dirty="0"/>
          </a:p>
        </p:txBody>
      </p:sp>
      <p:sp>
        <p:nvSpPr>
          <p:cNvPr id="3" name="Text 1"/>
          <p:cNvSpPr txBox="1"/>
          <p:nvPr/>
        </p:nvSpPr>
        <p:spPr>
          <a:xfrm>
            <a:off x="548640" y="777240"/>
            <a:ext cx="7315200" cy="731520"/>
          </a:xfrm>
          <a:prstGeom prst="rect">
            <a:avLst/>
          </a:prstGeom>
          <a:noFill/>
          <a:ln/>
        </p:spPr>
        <p:txBody>
          <a:bodyPr wrap="square" lIns="0" tIns="0" rIns="0" bIns="0" rtlCol="0" anchor="ctr"/>
          <a:lstStyle/>
          <a:p>
            <a:pPr indent="0" marL="0">
              <a:buNone/>
            </a:pPr>
            <a:r>
              <a:rPr lang="en-US" sz="3200" b="1" dirty="0">
                <a:solidFill>
                  <a:srgbClr val="E6EDF3"/>
                </a:solidFill>
                <a:latin typeface="Consolas" pitchFamily="34" charset="0"/>
                <a:ea typeface="Consolas" pitchFamily="34" charset="-122"/>
                <a:cs typeface="Consolas" pitchFamily="34" charset="-120"/>
              </a:rPr>
              <a:t>Final Recap</a:t>
            </a:r>
            <a:endParaRPr lang="en-US" sz="3200" dirty="0"/>
          </a:p>
        </p:txBody>
      </p:sp>
      <p:sp>
        <p:nvSpPr>
          <p:cNvPr id="4" name="Shape 2"/>
          <p:cNvSpPr/>
          <p:nvPr/>
        </p:nvSpPr>
        <p:spPr>
          <a:xfrm>
            <a:off x="548640" y="1691640"/>
            <a:ext cx="2651760" cy="1051560"/>
          </a:xfrm>
          <a:prstGeom prst="roundRect">
            <a:avLst>
              <a:gd name="adj" fmla="val 6957"/>
            </a:avLst>
          </a:prstGeom>
          <a:solidFill>
            <a:srgbClr val="161B22"/>
          </a:solidFill>
          <a:ln w="12700">
            <a:solidFill>
              <a:srgbClr val="30363D"/>
            </a:solidFill>
            <a:prstDash val="solid"/>
          </a:ln>
        </p:spPr>
      </p:sp>
      <p:sp>
        <p:nvSpPr>
          <p:cNvPr id="5" name="Text 3"/>
          <p:cNvSpPr txBox="1"/>
          <p:nvPr/>
        </p:nvSpPr>
        <p:spPr>
          <a:xfrm>
            <a:off x="713232" y="1819656"/>
            <a:ext cx="2322576" cy="320040"/>
          </a:xfrm>
          <a:prstGeom prst="rect">
            <a:avLst/>
          </a:prstGeom>
          <a:noFill/>
          <a:ln/>
        </p:spPr>
        <p:txBody>
          <a:bodyPr wrap="square" lIns="0" tIns="0" rIns="0" bIns="0" rtlCol="0" anchor="ctr"/>
          <a:lstStyle/>
          <a:p>
            <a:pPr indent="0" marL="0">
              <a:buNone/>
            </a:pPr>
            <a:r>
              <a:rPr lang="en-US" sz="1400" b="1" dirty="0">
                <a:solidFill>
                  <a:srgbClr val="4B8BBE"/>
                </a:solidFill>
                <a:latin typeface="Courier New" pitchFamily="34" charset="0"/>
                <a:ea typeface="Courier New" pitchFamily="34" charset="-122"/>
                <a:cs typeface="Courier New" pitchFamily="34" charset="-120"/>
              </a:rPr>
              <a:t>CLASS</a:t>
            </a:r>
            <a:endParaRPr lang="en-US" sz="1400" dirty="0"/>
          </a:p>
        </p:txBody>
      </p:sp>
      <p:sp>
        <p:nvSpPr>
          <p:cNvPr id="6" name="Text 4"/>
          <p:cNvSpPr txBox="1"/>
          <p:nvPr/>
        </p:nvSpPr>
        <p:spPr>
          <a:xfrm>
            <a:off x="713232" y="2194560"/>
            <a:ext cx="2322576"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defines structure and behavior</a:t>
            </a:r>
            <a:endParaRPr lang="en-US" sz="1100" dirty="0"/>
          </a:p>
        </p:txBody>
      </p:sp>
      <p:sp>
        <p:nvSpPr>
          <p:cNvPr id="7" name="Shape 5"/>
          <p:cNvSpPr/>
          <p:nvPr/>
        </p:nvSpPr>
        <p:spPr>
          <a:xfrm>
            <a:off x="3383280" y="1691640"/>
            <a:ext cx="2651760" cy="1051560"/>
          </a:xfrm>
          <a:prstGeom prst="roundRect">
            <a:avLst>
              <a:gd name="adj" fmla="val 6957"/>
            </a:avLst>
          </a:prstGeom>
          <a:solidFill>
            <a:srgbClr val="161B22"/>
          </a:solidFill>
          <a:ln w="12700">
            <a:solidFill>
              <a:srgbClr val="30363D"/>
            </a:solidFill>
            <a:prstDash val="solid"/>
          </a:ln>
        </p:spPr>
      </p:sp>
      <p:sp>
        <p:nvSpPr>
          <p:cNvPr id="8" name="Text 6"/>
          <p:cNvSpPr txBox="1"/>
          <p:nvPr/>
        </p:nvSpPr>
        <p:spPr>
          <a:xfrm>
            <a:off x="3547872" y="1819656"/>
            <a:ext cx="2322576" cy="320040"/>
          </a:xfrm>
          <a:prstGeom prst="rect">
            <a:avLst/>
          </a:prstGeom>
          <a:noFill/>
          <a:ln/>
        </p:spPr>
        <p:txBody>
          <a:bodyPr wrap="square" lIns="0" tIns="0" rIns="0" bIns="0" rtlCol="0" anchor="ctr"/>
          <a:lstStyle/>
          <a:p>
            <a:pPr indent="0" marL="0">
              <a:buNone/>
            </a:pPr>
            <a:r>
              <a:rPr lang="en-US" sz="1400" b="1" dirty="0">
                <a:solidFill>
                  <a:srgbClr val="FFD43B"/>
                </a:solidFill>
                <a:latin typeface="Courier New" pitchFamily="34" charset="0"/>
                <a:ea typeface="Courier New" pitchFamily="34" charset="-122"/>
                <a:cs typeface="Courier New" pitchFamily="34" charset="-120"/>
              </a:rPr>
              <a:t>OBJECT</a:t>
            </a:r>
            <a:endParaRPr lang="en-US" sz="1400" dirty="0"/>
          </a:p>
        </p:txBody>
      </p:sp>
      <p:sp>
        <p:nvSpPr>
          <p:cNvPr id="9" name="Text 7"/>
          <p:cNvSpPr txBox="1"/>
          <p:nvPr/>
        </p:nvSpPr>
        <p:spPr>
          <a:xfrm>
            <a:off x="3547872" y="2194560"/>
            <a:ext cx="2322576"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an instance of a class</a:t>
            </a:r>
            <a:endParaRPr lang="en-US" sz="1100" dirty="0"/>
          </a:p>
        </p:txBody>
      </p:sp>
      <p:sp>
        <p:nvSpPr>
          <p:cNvPr id="10" name="Shape 8"/>
          <p:cNvSpPr/>
          <p:nvPr/>
        </p:nvSpPr>
        <p:spPr>
          <a:xfrm>
            <a:off x="6217920" y="1691640"/>
            <a:ext cx="2651760" cy="1051560"/>
          </a:xfrm>
          <a:prstGeom prst="roundRect">
            <a:avLst>
              <a:gd name="adj" fmla="val 6957"/>
            </a:avLst>
          </a:prstGeom>
          <a:solidFill>
            <a:srgbClr val="161B22"/>
          </a:solidFill>
          <a:ln w="12700">
            <a:solidFill>
              <a:srgbClr val="30363D"/>
            </a:solidFill>
            <a:prstDash val="solid"/>
          </a:ln>
        </p:spPr>
      </p:sp>
      <p:sp>
        <p:nvSpPr>
          <p:cNvPr id="11" name="Text 9"/>
          <p:cNvSpPr txBox="1"/>
          <p:nvPr/>
        </p:nvSpPr>
        <p:spPr>
          <a:xfrm>
            <a:off x="6382512" y="1819656"/>
            <a:ext cx="2322576" cy="320040"/>
          </a:xfrm>
          <a:prstGeom prst="rect">
            <a:avLst/>
          </a:prstGeom>
          <a:noFill/>
          <a:ln/>
        </p:spPr>
        <p:txBody>
          <a:bodyPr wrap="square" lIns="0" tIns="0" rIns="0" bIns="0" rtlCol="0" anchor="ctr"/>
          <a:lstStyle/>
          <a:p>
            <a:pPr indent="0" marL="0">
              <a:buNone/>
            </a:pPr>
            <a:r>
              <a:rPr lang="en-US" sz="1400" b="1" dirty="0">
                <a:solidFill>
                  <a:srgbClr val="58A6FF"/>
                </a:solidFill>
                <a:latin typeface="Courier New" pitchFamily="34" charset="0"/>
                <a:ea typeface="Courier New" pitchFamily="34" charset="-122"/>
                <a:cs typeface="Courier New" pitchFamily="34" charset="-120"/>
              </a:rPr>
              <a:t>ATTRIBUTES</a:t>
            </a:r>
            <a:endParaRPr lang="en-US" sz="1400" dirty="0"/>
          </a:p>
        </p:txBody>
      </p:sp>
      <p:sp>
        <p:nvSpPr>
          <p:cNvPr id="12" name="Text 10"/>
          <p:cNvSpPr txBox="1"/>
          <p:nvPr/>
        </p:nvSpPr>
        <p:spPr>
          <a:xfrm>
            <a:off x="6382512" y="2194560"/>
            <a:ext cx="2322576"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represent state</a:t>
            </a:r>
            <a:endParaRPr lang="en-US" sz="1100" dirty="0"/>
          </a:p>
        </p:txBody>
      </p:sp>
      <p:sp>
        <p:nvSpPr>
          <p:cNvPr id="13" name="Shape 11"/>
          <p:cNvSpPr/>
          <p:nvPr/>
        </p:nvSpPr>
        <p:spPr>
          <a:xfrm>
            <a:off x="9052560" y="1691640"/>
            <a:ext cx="2651760" cy="1051560"/>
          </a:xfrm>
          <a:prstGeom prst="roundRect">
            <a:avLst>
              <a:gd name="adj" fmla="val 6957"/>
            </a:avLst>
          </a:prstGeom>
          <a:solidFill>
            <a:srgbClr val="161B22"/>
          </a:solidFill>
          <a:ln w="12700">
            <a:solidFill>
              <a:srgbClr val="30363D"/>
            </a:solidFill>
            <a:prstDash val="solid"/>
          </a:ln>
        </p:spPr>
      </p:sp>
      <p:sp>
        <p:nvSpPr>
          <p:cNvPr id="14" name="Text 12"/>
          <p:cNvSpPr txBox="1"/>
          <p:nvPr/>
        </p:nvSpPr>
        <p:spPr>
          <a:xfrm>
            <a:off x="9217152" y="1819656"/>
            <a:ext cx="2322576" cy="320040"/>
          </a:xfrm>
          <a:prstGeom prst="rect">
            <a:avLst/>
          </a:prstGeom>
          <a:noFill/>
          <a:ln/>
        </p:spPr>
        <p:txBody>
          <a:bodyPr wrap="square" lIns="0" tIns="0" rIns="0" bIns="0" rtlCol="0" anchor="ctr"/>
          <a:lstStyle/>
          <a:p>
            <a:pPr indent="0" marL="0">
              <a:buNone/>
            </a:pPr>
            <a:r>
              <a:rPr lang="en-US" sz="1400" b="1" dirty="0">
                <a:solidFill>
                  <a:srgbClr val="3FB950"/>
                </a:solidFill>
                <a:latin typeface="Courier New" pitchFamily="34" charset="0"/>
                <a:ea typeface="Courier New" pitchFamily="34" charset="-122"/>
                <a:cs typeface="Courier New" pitchFamily="34" charset="-120"/>
              </a:rPr>
              <a:t>METHODS</a:t>
            </a:r>
            <a:endParaRPr lang="en-US" sz="1400" dirty="0"/>
          </a:p>
        </p:txBody>
      </p:sp>
      <p:sp>
        <p:nvSpPr>
          <p:cNvPr id="15" name="Text 13"/>
          <p:cNvSpPr txBox="1"/>
          <p:nvPr/>
        </p:nvSpPr>
        <p:spPr>
          <a:xfrm>
            <a:off x="9217152" y="2194560"/>
            <a:ext cx="2322576"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represent behavior</a:t>
            </a:r>
            <a:endParaRPr lang="en-US" sz="1100" dirty="0"/>
          </a:p>
        </p:txBody>
      </p:sp>
      <p:sp>
        <p:nvSpPr>
          <p:cNvPr id="16" name="Shape 14"/>
          <p:cNvSpPr/>
          <p:nvPr/>
        </p:nvSpPr>
        <p:spPr>
          <a:xfrm>
            <a:off x="548640" y="2926080"/>
            <a:ext cx="2651760" cy="1051560"/>
          </a:xfrm>
          <a:prstGeom prst="roundRect">
            <a:avLst>
              <a:gd name="adj" fmla="val 6957"/>
            </a:avLst>
          </a:prstGeom>
          <a:solidFill>
            <a:srgbClr val="161B22"/>
          </a:solidFill>
          <a:ln w="12700">
            <a:solidFill>
              <a:srgbClr val="30363D"/>
            </a:solidFill>
            <a:prstDash val="solid"/>
          </a:ln>
        </p:spPr>
      </p:sp>
      <p:sp>
        <p:nvSpPr>
          <p:cNvPr id="17" name="Text 15"/>
          <p:cNvSpPr txBox="1"/>
          <p:nvPr/>
        </p:nvSpPr>
        <p:spPr>
          <a:xfrm>
            <a:off x="713232" y="3054096"/>
            <a:ext cx="2322576" cy="320040"/>
          </a:xfrm>
          <a:prstGeom prst="rect">
            <a:avLst/>
          </a:prstGeom>
          <a:noFill/>
          <a:ln/>
        </p:spPr>
        <p:txBody>
          <a:bodyPr wrap="square" lIns="0" tIns="0" rIns="0" bIns="0" rtlCol="0" anchor="ctr"/>
          <a:lstStyle/>
          <a:p>
            <a:pPr indent="0" marL="0">
              <a:buNone/>
            </a:pPr>
            <a:r>
              <a:rPr lang="en-US" sz="1400" b="1" dirty="0">
                <a:solidFill>
                  <a:srgbClr val="4B8BBE"/>
                </a:solidFill>
                <a:latin typeface="Courier New" pitchFamily="34" charset="0"/>
                <a:ea typeface="Courier New" pitchFamily="34" charset="-122"/>
                <a:cs typeface="Courier New" pitchFamily="34" charset="-120"/>
              </a:rPr>
              <a:t>__init__()</a:t>
            </a:r>
            <a:endParaRPr lang="en-US" sz="1400" dirty="0"/>
          </a:p>
        </p:txBody>
      </p:sp>
      <p:sp>
        <p:nvSpPr>
          <p:cNvPr id="18" name="Text 16"/>
          <p:cNvSpPr txBox="1"/>
          <p:nvPr/>
        </p:nvSpPr>
        <p:spPr>
          <a:xfrm>
            <a:off x="713232" y="3429000"/>
            <a:ext cx="2322576"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initializes object state</a:t>
            </a:r>
            <a:endParaRPr lang="en-US" sz="1100" dirty="0"/>
          </a:p>
        </p:txBody>
      </p:sp>
      <p:sp>
        <p:nvSpPr>
          <p:cNvPr id="19" name="Shape 17"/>
          <p:cNvSpPr/>
          <p:nvPr/>
        </p:nvSpPr>
        <p:spPr>
          <a:xfrm>
            <a:off x="3383280" y="2926080"/>
            <a:ext cx="2651760" cy="1051560"/>
          </a:xfrm>
          <a:prstGeom prst="roundRect">
            <a:avLst>
              <a:gd name="adj" fmla="val 6957"/>
            </a:avLst>
          </a:prstGeom>
          <a:solidFill>
            <a:srgbClr val="161B22"/>
          </a:solidFill>
          <a:ln w="12700">
            <a:solidFill>
              <a:srgbClr val="30363D"/>
            </a:solidFill>
            <a:prstDash val="solid"/>
          </a:ln>
        </p:spPr>
      </p:sp>
      <p:sp>
        <p:nvSpPr>
          <p:cNvPr id="20" name="Text 18"/>
          <p:cNvSpPr txBox="1"/>
          <p:nvPr/>
        </p:nvSpPr>
        <p:spPr>
          <a:xfrm>
            <a:off x="3547872" y="3054096"/>
            <a:ext cx="2322576" cy="320040"/>
          </a:xfrm>
          <a:prstGeom prst="rect">
            <a:avLst/>
          </a:prstGeom>
          <a:noFill/>
          <a:ln/>
        </p:spPr>
        <p:txBody>
          <a:bodyPr wrap="square" lIns="0" tIns="0" rIns="0" bIns="0" rtlCol="0" anchor="ctr"/>
          <a:lstStyle/>
          <a:p>
            <a:pPr indent="0" marL="0">
              <a:buNone/>
            </a:pPr>
            <a:r>
              <a:rPr lang="en-US" sz="1400" b="1" dirty="0">
                <a:solidFill>
                  <a:srgbClr val="FFD43B"/>
                </a:solidFill>
                <a:latin typeface="Courier New" pitchFamily="34" charset="0"/>
                <a:ea typeface="Courier New" pitchFamily="34" charset="-122"/>
                <a:cs typeface="Courier New" pitchFamily="34" charset="-120"/>
              </a:rPr>
              <a:t>self</a:t>
            </a:r>
            <a:endParaRPr lang="en-US" sz="1400" dirty="0"/>
          </a:p>
        </p:txBody>
      </p:sp>
      <p:sp>
        <p:nvSpPr>
          <p:cNvPr id="21" name="Text 19"/>
          <p:cNvSpPr txBox="1"/>
          <p:nvPr/>
        </p:nvSpPr>
        <p:spPr>
          <a:xfrm>
            <a:off x="3547872" y="3429000"/>
            <a:ext cx="2322576"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the current instance</a:t>
            </a:r>
            <a:endParaRPr lang="en-US" sz="1100" dirty="0"/>
          </a:p>
        </p:txBody>
      </p:sp>
      <p:sp>
        <p:nvSpPr>
          <p:cNvPr id="22" name="Shape 20"/>
          <p:cNvSpPr/>
          <p:nvPr/>
        </p:nvSpPr>
        <p:spPr>
          <a:xfrm>
            <a:off x="6217920" y="2926080"/>
            <a:ext cx="2651760" cy="1051560"/>
          </a:xfrm>
          <a:prstGeom prst="roundRect">
            <a:avLst>
              <a:gd name="adj" fmla="val 6957"/>
            </a:avLst>
          </a:prstGeom>
          <a:solidFill>
            <a:srgbClr val="161B22"/>
          </a:solidFill>
          <a:ln w="12700">
            <a:solidFill>
              <a:srgbClr val="30363D"/>
            </a:solidFill>
            <a:prstDash val="solid"/>
          </a:ln>
        </p:spPr>
      </p:sp>
      <p:sp>
        <p:nvSpPr>
          <p:cNvPr id="23" name="Text 21"/>
          <p:cNvSpPr txBox="1"/>
          <p:nvPr/>
        </p:nvSpPr>
        <p:spPr>
          <a:xfrm>
            <a:off x="6382512" y="3054096"/>
            <a:ext cx="2322576" cy="320040"/>
          </a:xfrm>
          <a:prstGeom prst="rect">
            <a:avLst/>
          </a:prstGeom>
          <a:noFill/>
          <a:ln/>
        </p:spPr>
        <p:txBody>
          <a:bodyPr wrap="square" lIns="0" tIns="0" rIns="0" bIns="0" rtlCol="0" anchor="ctr"/>
          <a:lstStyle/>
          <a:p>
            <a:pPr indent="0" marL="0">
              <a:buNone/>
            </a:pPr>
            <a:r>
              <a:rPr lang="en-US" sz="1400" b="1" dirty="0">
                <a:solidFill>
                  <a:srgbClr val="58A6FF"/>
                </a:solidFill>
                <a:latin typeface="Courier New" pitchFamily="34" charset="0"/>
                <a:ea typeface="Courier New" pitchFamily="34" charset="-122"/>
                <a:cs typeface="Courier New" pitchFamily="34" charset="-120"/>
              </a:rPr>
              <a:t>cls</a:t>
            </a:r>
            <a:endParaRPr lang="en-US" sz="1400" dirty="0"/>
          </a:p>
        </p:txBody>
      </p:sp>
      <p:sp>
        <p:nvSpPr>
          <p:cNvPr id="24" name="Text 22"/>
          <p:cNvSpPr txBox="1"/>
          <p:nvPr/>
        </p:nvSpPr>
        <p:spPr>
          <a:xfrm>
            <a:off x="6382512" y="3429000"/>
            <a:ext cx="2322576"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the current class</a:t>
            </a:r>
            <a:endParaRPr lang="en-US" sz="1100" dirty="0"/>
          </a:p>
        </p:txBody>
      </p:sp>
      <p:sp>
        <p:nvSpPr>
          <p:cNvPr id="25" name="Shape 23"/>
          <p:cNvSpPr/>
          <p:nvPr/>
        </p:nvSpPr>
        <p:spPr>
          <a:xfrm>
            <a:off x="9052560" y="2926080"/>
            <a:ext cx="2651760" cy="1051560"/>
          </a:xfrm>
          <a:prstGeom prst="roundRect">
            <a:avLst>
              <a:gd name="adj" fmla="val 6957"/>
            </a:avLst>
          </a:prstGeom>
          <a:solidFill>
            <a:srgbClr val="161B22"/>
          </a:solidFill>
          <a:ln w="12700">
            <a:solidFill>
              <a:srgbClr val="30363D"/>
            </a:solidFill>
            <a:prstDash val="solid"/>
          </a:ln>
        </p:spPr>
      </p:sp>
      <p:sp>
        <p:nvSpPr>
          <p:cNvPr id="26" name="Text 24"/>
          <p:cNvSpPr txBox="1"/>
          <p:nvPr/>
        </p:nvSpPr>
        <p:spPr>
          <a:xfrm>
            <a:off x="9217152" y="3054096"/>
            <a:ext cx="2322576" cy="320040"/>
          </a:xfrm>
          <a:prstGeom prst="rect">
            <a:avLst/>
          </a:prstGeom>
          <a:noFill/>
          <a:ln/>
        </p:spPr>
        <p:txBody>
          <a:bodyPr wrap="square" lIns="0" tIns="0" rIns="0" bIns="0" rtlCol="0" anchor="ctr"/>
          <a:lstStyle/>
          <a:p>
            <a:pPr indent="0" marL="0">
              <a:buNone/>
            </a:pPr>
            <a:r>
              <a:rPr lang="en-US" sz="1400" b="1" dirty="0">
                <a:solidFill>
                  <a:srgbClr val="BC8CFF"/>
                </a:solidFill>
                <a:latin typeface="Courier New" pitchFamily="34" charset="0"/>
                <a:ea typeface="Courier New" pitchFamily="34" charset="-122"/>
                <a:cs typeface="Courier New" pitchFamily="34" charset="-120"/>
              </a:rPr>
              <a:t>__new__()</a:t>
            </a:r>
            <a:endParaRPr lang="en-US" sz="1400" dirty="0"/>
          </a:p>
        </p:txBody>
      </p:sp>
      <p:sp>
        <p:nvSpPr>
          <p:cNvPr id="27" name="Text 25"/>
          <p:cNvSpPr txBox="1"/>
          <p:nvPr/>
        </p:nvSpPr>
        <p:spPr>
          <a:xfrm>
            <a:off x="9217152" y="3429000"/>
            <a:ext cx="2322576"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creates the instance</a:t>
            </a:r>
            <a:endParaRPr lang="en-US" sz="1100" dirty="0"/>
          </a:p>
        </p:txBody>
      </p:sp>
      <p:sp>
        <p:nvSpPr>
          <p:cNvPr id="28" name="Text 26"/>
          <p:cNvSpPr txBox="1"/>
          <p:nvPr/>
        </p:nvSpPr>
        <p:spPr>
          <a:xfrm>
            <a:off x="548640" y="4251960"/>
            <a:ext cx="7315200" cy="822960"/>
          </a:xfrm>
          <a:prstGeom prst="rect">
            <a:avLst/>
          </a:prstGeom>
          <a:noFill/>
          <a:ln/>
        </p:spPr>
        <p:txBody>
          <a:bodyPr wrap="square" lIns="0" tIns="0" rIns="0" bIns="0" rtlCol="0" anchor="ctr"/>
          <a:lstStyle/>
          <a:p>
            <a:pPr indent="0" marL="0">
              <a:buNone/>
            </a:pPr>
            <a:r>
              <a:rPr lang="en-US" sz="3400" b="1" dirty="0">
                <a:solidFill>
                  <a:srgbClr val="FFD43B"/>
                </a:solidFill>
                <a:latin typeface="Consolas" pitchFamily="34" charset="0"/>
                <a:ea typeface="Consolas" pitchFamily="34" charset="-122"/>
                <a:cs typeface="Consolas" pitchFamily="34" charset="-120"/>
              </a:rPr>
              <a:t>Questions?</a:t>
            </a:r>
            <a:endParaRPr lang="en-US" sz="3400" dirty="0"/>
          </a:p>
        </p:txBody>
      </p:sp>
      <p:sp>
        <p:nvSpPr>
          <p:cNvPr id="29" name="Text 27"/>
          <p:cNvSpPr txBox="1"/>
          <p:nvPr/>
        </p:nvSpPr>
        <p:spPr>
          <a:xfrm>
            <a:off x="548640" y="5074920"/>
            <a:ext cx="8229600" cy="457200"/>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Happy to dive back into any concept, or run through the demo files live.</a:t>
            </a:r>
            <a:endParaRPr lang="en-US" sz="1400" dirty="0"/>
          </a:p>
        </p:txBody>
      </p:sp>
      <p:sp>
        <p:nvSpPr>
          <p:cNvPr id="30" name="Text 28"/>
          <p:cNvSpPr txBox="1"/>
          <p:nvPr/>
        </p:nvSpPr>
        <p:spPr>
          <a:xfrm>
            <a:off x="10728655" y="502920"/>
            <a:ext cx="914400" cy="274320"/>
          </a:xfrm>
          <a:prstGeom prst="rect">
            <a:avLst/>
          </a:prstGeom>
          <a:noFill/>
          <a:ln/>
        </p:spPr>
        <p:txBody>
          <a:bodyPr wrap="square" lIns="0" tIns="0" rIns="0" bIns="0" rtlCol="0" anchor="ctr"/>
          <a:lstStyle/>
          <a:p>
            <a:pPr algn="r" indent="0" marL="0">
              <a:buNone/>
            </a:pPr>
            <a:r>
              <a:rPr lang="en-US" sz="900" dirty="0">
                <a:solidFill>
                  <a:srgbClr val="6E7681"/>
                </a:solidFill>
                <a:latin typeface="Courier New" pitchFamily="34" charset="0"/>
                <a:ea typeface="Courier New" pitchFamily="34" charset="-122"/>
                <a:cs typeface="Courier New" pitchFamily="34" charset="-120"/>
              </a:rPr>
              <a:t>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2026-09-27T10:24:48Z</dcterms:created>
  <dcterms:modified xsi:type="dcterms:W3CDTF">2026-09-27T10:24:48Z</dcterms:modified>
</cp:coreProperties>
</file>